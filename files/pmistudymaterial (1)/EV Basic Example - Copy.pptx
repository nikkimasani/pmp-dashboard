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2A9B-D279-4684-AF3F-A5BAC42B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9CC49-3F52-48CD-B86E-3AF7D5146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9C231-FE7D-43B9-87C7-480BAD05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B3AFC-9EDF-467C-8E99-EA7A7F38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169A9-6EE7-43BC-A97D-CC72D828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F04E-2BE3-455C-927B-EAFE4553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724DC-6EEB-40B9-BAA9-A6A21865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986C-98CB-40AF-9233-7851D78E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F60B4-7D0A-4B26-BE2A-53507D88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610C8-92DE-4AEC-A598-B5CE646F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62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6EE8-298C-402D-985A-AC8589451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CBA64-89AB-4DCA-8FEE-3A9A65DC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1DCA-FA51-4583-8772-CCE0559DC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1B8F-4A8A-4077-B7F2-D4CD59EF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79E7-755D-4A5F-8859-74160F1EA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0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434F-FCF8-472D-93ED-E5CA941DC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DEAF-1249-4386-859A-84F9DA884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317ED-A3B6-4139-8A21-064AAD200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FEE4A-376C-498E-9266-03C4C232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BA4E-8378-4EED-A656-CB5E9266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B14FA-8C11-4F4C-9D5E-B63E1ACA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1EF0-3126-4C1B-9EA5-A43E2B1A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FAD7D-6664-4E97-8B95-D680931DE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595D4-3103-49E4-B2A1-C4BB4B039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BB4BD-8466-4323-8A55-4B4A6B66D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DF6E5-B3D6-4232-862E-94886F096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537E-36C3-4D71-875F-F1298831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58A9D-F176-488E-B697-980D8BCF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9CB0F-245E-4183-882B-88511A72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0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F863-64ED-4B04-9EBE-CE279705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AF212F-6598-4D7F-ADAC-0A8A60D4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D01B4-B41D-4386-AF31-40CA111D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FDF0C-0CC0-474D-9F98-1774CCCE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6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B35B2-E844-4766-8773-0381D32D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785CB-D44C-43C2-8E61-7826BF5A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C0330-8486-443F-B3F0-BED40DBE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94A9-71D2-4F4B-AE1B-C14B10041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0AB8-EADB-4490-9843-42A3886D6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9FE9C-49A9-45C3-A949-1D27A4CDA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0D8F0-22A0-4C5E-A1AE-4AC0B62D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BDF00-27F9-4E7F-852C-1D40236F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E117B-3F2A-4659-9F7E-3FCF8552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5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0FF5-DDCE-466F-8C8F-8E07910F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1273B2-13C4-4241-B7B0-4D695F64F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A3205-202F-4687-879B-F8C2C756D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EAE5C-FD54-4431-982B-3BBC9480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FC04-BD05-4C42-A484-883DB42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EFE62-C0E2-4DA2-B374-00EBBE5D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2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F8CC-42CE-4F38-9722-8C5F0900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635FD-F935-4EA8-A511-307BEF40A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12E0F-1496-4555-B0FF-437ABA258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40CA7-CC46-4648-AA9E-2E2A79C0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9B59A-F2C6-41B4-B2E5-C476A3A9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9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02233-FE97-44DC-B5C6-E7EAF33042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8B10A-746F-4C7D-91B3-4982DB21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2640D-DBEE-4532-A2F7-1E5558F5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9BC7-EE9C-4A28-8576-22461BEB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8DABE-4698-4796-B353-D0F3706F8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214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3FFD1-7B8B-41A9-BD1B-09626E63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7C1D6-E24A-4AEE-AAF3-481D3B5A2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8D05E-2921-4ED6-989C-5FB3E56C6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28324-4C3A-4D96-B399-6B11E5194B19}" type="datetimeFigureOut">
              <a:rPr lang="en-US" smtClean="0"/>
              <a:t>5/4/2021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8FF6C-B8ED-4A21-B550-AB2390ACD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C8114-9633-46CE-A743-7B1BD202F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3F101-B2A5-426B-B80C-60B205205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8CF7193-515A-41A3-8F7B-A48BBB54B21F}"/>
              </a:ext>
            </a:extLst>
          </p:cNvPr>
          <p:cNvSpPr/>
          <p:nvPr/>
        </p:nvSpPr>
        <p:spPr>
          <a:xfrm>
            <a:off x="2255316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Win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881858-CFEF-40FA-BBD7-14CEC7D1A796}"/>
              </a:ext>
            </a:extLst>
          </p:cNvPr>
          <p:cNvSpPr/>
          <p:nvPr/>
        </p:nvSpPr>
        <p:spPr>
          <a:xfrm>
            <a:off x="3856383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 Win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33E68-1F58-4F80-B654-B6573E49A541}"/>
              </a:ext>
            </a:extLst>
          </p:cNvPr>
          <p:cNvSpPr/>
          <p:nvPr/>
        </p:nvSpPr>
        <p:spPr>
          <a:xfrm>
            <a:off x="10281753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Win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2C9AF-0AEA-45AA-960B-14C8E57F443E}"/>
              </a:ext>
            </a:extLst>
          </p:cNvPr>
          <p:cNvSpPr/>
          <p:nvPr/>
        </p:nvSpPr>
        <p:spPr>
          <a:xfrm>
            <a:off x="8659584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Win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79AB7-FAEA-4F51-A073-7E6CD182E67F}"/>
              </a:ext>
            </a:extLst>
          </p:cNvPr>
          <p:cNvSpPr/>
          <p:nvPr/>
        </p:nvSpPr>
        <p:spPr>
          <a:xfrm>
            <a:off x="7114739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Win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E5AB62-0A6A-4071-A10C-AF79F1BEF75C}"/>
              </a:ext>
            </a:extLst>
          </p:cNvPr>
          <p:cNvSpPr/>
          <p:nvPr/>
        </p:nvSpPr>
        <p:spPr>
          <a:xfrm>
            <a:off x="5457450" y="66968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 Win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39495F-05A6-4EC9-ADC1-5E5A3245FBE6}"/>
              </a:ext>
            </a:extLst>
          </p:cNvPr>
          <p:cNvSpPr/>
          <p:nvPr/>
        </p:nvSpPr>
        <p:spPr>
          <a:xfrm>
            <a:off x="2255316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37FF8C-C1A6-45C1-AAE9-6BE633FDF274}"/>
              </a:ext>
            </a:extLst>
          </p:cNvPr>
          <p:cNvSpPr/>
          <p:nvPr/>
        </p:nvSpPr>
        <p:spPr>
          <a:xfrm>
            <a:off x="3856383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E8A44-0ED2-4EA4-A6EA-82E2391F6F74}"/>
              </a:ext>
            </a:extLst>
          </p:cNvPr>
          <p:cNvSpPr/>
          <p:nvPr/>
        </p:nvSpPr>
        <p:spPr>
          <a:xfrm>
            <a:off x="10281752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C8042C-5912-4E29-AD85-244D952F78D1}"/>
              </a:ext>
            </a:extLst>
          </p:cNvPr>
          <p:cNvSpPr/>
          <p:nvPr/>
        </p:nvSpPr>
        <p:spPr>
          <a:xfrm>
            <a:off x="8659584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BD44E7-CF6C-417E-9E26-82DE2555316A}"/>
              </a:ext>
            </a:extLst>
          </p:cNvPr>
          <p:cNvSpPr/>
          <p:nvPr/>
        </p:nvSpPr>
        <p:spPr>
          <a:xfrm>
            <a:off x="7114738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75E0E-D6CA-45AA-A1FD-B62C6696497C}"/>
              </a:ext>
            </a:extLst>
          </p:cNvPr>
          <p:cNvSpPr/>
          <p:nvPr/>
        </p:nvSpPr>
        <p:spPr>
          <a:xfrm>
            <a:off x="5457450" y="1699814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993BF-BEC4-489D-B97C-DD323A8A5962}"/>
              </a:ext>
            </a:extLst>
          </p:cNvPr>
          <p:cNvSpPr txBox="1"/>
          <p:nvPr/>
        </p:nvSpPr>
        <p:spPr>
          <a:xfrm>
            <a:off x="2658285" y="150528"/>
            <a:ext cx="744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219BB-08BA-4211-BF08-B59DA00FCC52}"/>
              </a:ext>
            </a:extLst>
          </p:cNvPr>
          <p:cNvSpPr txBox="1"/>
          <p:nvPr/>
        </p:nvSpPr>
        <p:spPr>
          <a:xfrm>
            <a:off x="4251629" y="150528"/>
            <a:ext cx="744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D2525-CA69-4E0E-8953-242002B9ECEA}"/>
              </a:ext>
            </a:extLst>
          </p:cNvPr>
          <p:cNvSpPr txBox="1"/>
          <p:nvPr/>
        </p:nvSpPr>
        <p:spPr>
          <a:xfrm>
            <a:off x="5844973" y="150528"/>
            <a:ext cx="744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DDFD0-AD5F-4E70-B78D-1CD3DD3541CF}"/>
              </a:ext>
            </a:extLst>
          </p:cNvPr>
          <p:cNvSpPr txBox="1"/>
          <p:nvPr/>
        </p:nvSpPr>
        <p:spPr>
          <a:xfrm>
            <a:off x="7449508" y="144284"/>
            <a:ext cx="744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807E2-013F-4ADB-AAD6-D7F16ACDA80D}"/>
              </a:ext>
            </a:extLst>
          </p:cNvPr>
          <p:cNvSpPr txBox="1"/>
          <p:nvPr/>
        </p:nvSpPr>
        <p:spPr>
          <a:xfrm>
            <a:off x="8948813" y="144284"/>
            <a:ext cx="744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74D281-4F02-47C4-BF52-AAC5C64A6221}"/>
              </a:ext>
            </a:extLst>
          </p:cNvPr>
          <p:cNvSpPr txBox="1"/>
          <p:nvPr/>
        </p:nvSpPr>
        <p:spPr>
          <a:xfrm>
            <a:off x="769851" y="727989"/>
            <a:ext cx="1150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Schedule Baseline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DC8BED-9121-4D75-BB02-84A1A681E3A0}"/>
              </a:ext>
            </a:extLst>
          </p:cNvPr>
          <p:cNvSpPr txBox="1"/>
          <p:nvPr/>
        </p:nvSpPr>
        <p:spPr>
          <a:xfrm>
            <a:off x="331305" y="1833848"/>
            <a:ext cx="168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 Baseline (budgeted rate)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A47CFB-5EFA-403B-94D1-B8ABA669A901}"/>
              </a:ext>
            </a:extLst>
          </p:cNvPr>
          <p:cNvSpPr/>
          <p:nvPr/>
        </p:nvSpPr>
        <p:spPr>
          <a:xfrm rot="16200000">
            <a:off x="5848903" y="1638518"/>
            <a:ext cx="2196504" cy="20497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of Wed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C9CCD5-7819-444C-956E-766ABC199714}"/>
              </a:ext>
            </a:extLst>
          </p:cNvPr>
          <p:cNvSpPr txBox="1"/>
          <p:nvPr/>
        </p:nvSpPr>
        <p:spPr>
          <a:xfrm>
            <a:off x="787702" y="2777304"/>
            <a:ext cx="1322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Completed  2 windows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B2E195-1693-4F64-B6CA-192C3DBAF39B}"/>
              </a:ext>
            </a:extLst>
          </p:cNvPr>
          <p:cNvSpPr txBox="1"/>
          <p:nvPr/>
        </p:nvSpPr>
        <p:spPr>
          <a:xfrm>
            <a:off x="763323" y="4018744"/>
            <a:ext cx="7423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PV</a:t>
            </a:r>
            <a:r>
              <a:rPr lang="en-US" dirty="0"/>
              <a:t> – how much $ should I have completed according to baselines =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9ABC5A-E3B7-4651-9855-75520DB0B4F2}"/>
              </a:ext>
            </a:extLst>
          </p:cNvPr>
          <p:cNvSpPr txBox="1"/>
          <p:nvPr/>
        </p:nvSpPr>
        <p:spPr>
          <a:xfrm>
            <a:off x="759908" y="4318570"/>
            <a:ext cx="610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</a:t>
            </a:r>
            <a:r>
              <a:rPr lang="en-US" dirty="0"/>
              <a:t> – how much $ was actually completed at budgeted rate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975CDE-A1A9-469F-ABB3-8840A36B4144}"/>
              </a:ext>
            </a:extLst>
          </p:cNvPr>
          <p:cNvSpPr txBox="1"/>
          <p:nvPr/>
        </p:nvSpPr>
        <p:spPr>
          <a:xfrm>
            <a:off x="759908" y="4628665"/>
            <a:ext cx="5577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</a:t>
            </a:r>
            <a:r>
              <a:rPr lang="en-US" dirty="0"/>
              <a:t> – how much did I actually pay for completed work =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6DE6A5-6509-41FE-AEF7-CB0819391D58}"/>
              </a:ext>
            </a:extLst>
          </p:cNvPr>
          <p:cNvSpPr/>
          <p:nvPr/>
        </p:nvSpPr>
        <p:spPr>
          <a:xfrm>
            <a:off x="2212855" y="2718499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E8BD25-5CE1-4A16-B784-0B30FADE08B1}"/>
              </a:ext>
            </a:extLst>
          </p:cNvPr>
          <p:cNvSpPr/>
          <p:nvPr/>
        </p:nvSpPr>
        <p:spPr>
          <a:xfrm>
            <a:off x="3813922" y="2718499"/>
            <a:ext cx="132277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0628FE-3074-465E-B1F2-C9E71E954F01}"/>
              </a:ext>
            </a:extLst>
          </p:cNvPr>
          <p:cNvSpPr txBox="1"/>
          <p:nvPr/>
        </p:nvSpPr>
        <p:spPr>
          <a:xfrm>
            <a:off x="769850" y="3726909"/>
            <a:ext cx="3313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</a:t>
            </a:r>
            <a:r>
              <a:rPr lang="en-US" dirty="0"/>
              <a:t> – Budget at Completion 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4E04B3-8740-4A3C-B502-C9D47C73F6E2}"/>
              </a:ext>
            </a:extLst>
          </p:cNvPr>
          <p:cNvSpPr txBox="1"/>
          <p:nvPr/>
        </p:nvSpPr>
        <p:spPr>
          <a:xfrm>
            <a:off x="759908" y="6132525"/>
            <a:ext cx="11294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EAC</a:t>
            </a:r>
            <a:r>
              <a:rPr lang="en-US" dirty="0"/>
              <a:t> – Total cost forecast =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61F0FB-383B-4867-AC0D-5A129ACEB64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78087" y="1126884"/>
            <a:ext cx="278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24D70E-4471-42C6-A53E-B9C3CC821FC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179154" y="1126884"/>
            <a:ext cx="2782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B0A6CD2-971A-49D9-9A3D-E2921D56FCB0}"/>
              </a:ext>
            </a:extLst>
          </p:cNvPr>
          <p:cNvCxnSpPr>
            <a:stCxn id="9" idx="3"/>
            <a:endCxn id="8" idx="1"/>
          </p:cNvCxnSpPr>
          <p:nvPr/>
        </p:nvCxnSpPr>
        <p:spPr>
          <a:xfrm>
            <a:off x="6780221" y="1126884"/>
            <a:ext cx="334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4C0235-786A-4959-913B-842ADF595D47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8437510" y="1126884"/>
            <a:ext cx="222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E47F06-CFAF-44BA-BEAA-DEAC72763E35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9982355" y="1126884"/>
            <a:ext cx="299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8468EFC-9A80-4FF1-8FD0-73E0B88935FC}"/>
              </a:ext>
            </a:extLst>
          </p:cNvPr>
          <p:cNvSpPr txBox="1"/>
          <p:nvPr/>
        </p:nvSpPr>
        <p:spPr>
          <a:xfrm>
            <a:off x="3642729" y="3726909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8E7754-357E-46B1-98CC-250624BA9932}"/>
              </a:ext>
            </a:extLst>
          </p:cNvPr>
          <p:cNvSpPr txBox="1"/>
          <p:nvPr/>
        </p:nvSpPr>
        <p:spPr>
          <a:xfrm>
            <a:off x="7080370" y="403845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362679-F2E1-4B9B-9FEF-D19D76A5972E}"/>
              </a:ext>
            </a:extLst>
          </p:cNvPr>
          <p:cNvSpPr txBox="1"/>
          <p:nvPr/>
        </p:nvSpPr>
        <p:spPr>
          <a:xfrm>
            <a:off x="2707349" y="29971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AFBF99-5CC0-4239-AEA4-18AAFDA3B425}"/>
              </a:ext>
            </a:extLst>
          </p:cNvPr>
          <p:cNvSpPr txBox="1"/>
          <p:nvPr/>
        </p:nvSpPr>
        <p:spPr>
          <a:xfrm>
            <a:off x="4265955" y="29592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C6127E-65F5-4AA0-8E93-8A1A2EE98874}"/>
              </a:ext>
            </a:extLst>
          </p:cNvPr>
          <p:cNvSpPr txBox="1"/>
          <p:nvPr/>
        </p:nvSpPr>
        <p:spPr>
          <a:xfrm>
            <a:off x="6452177" y="4333477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B59B2A-015F-445E-BA05-1EA4D1CA6C33}"/>
              </a:ext>
            </a:extLst>
          </p:cNvPr>
          <p:cNvSpPr txBox="1"/>
          <p:nvPr/>
        </p:nvSpPr>
        <p:spPr>
          <a:xfrm>
            <a:off x="5918771" y="462866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7240B5-DEE3-4FAE-8F34-20E380B57B25}"/>
              </a:ext>
            </a:extLst>
          </p:cNvPr>
          <p:cNvSpPr txBox="1"/>
          <p:nvPr/>
        </p:nvSpPr>
        <p:spPr>
          <a:xfrm>
            <a:off x="3245336" y="6140724"/>
            <a:ext cx="8809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$60 or $75 (4 Formulas)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6EA34-0885-458B-AEE2-AE09147000D5}"/>
              </a:ext>
            </a:extLst>
          </p:cNvPr>
          <p:cNvSpPr txBox="1"/>
          <p:nvPr/>
        </p:nvSpPr>
        <p:spPr>
          <a:xfrm>
            <a:off x="759908" y="6394446"/>
            <a:ext cx="971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ETC</a:t>
            </a:r>
            <a:r>
              <a:rPr lang="en-US" dirty="0"/>
              <a:t> –how much will I spend for the remaining work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0363EC-C9F9-4BE3-B947-1240D386A142}"/>
              </a:ext>
            </a:extLst>
          </p:cNvPr>
          <p:cNvSpPr txBox="1"/>
          <p:nvPr/>
        </p:nvSpPr>
        <p:spPr>
          <a:xfrm>
            <a:off x="5752922" y="639444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$30 or $45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B297DF-D91F-42BC-B227-2338F23BBDC7}"/>
              </a:ext>
            </a:extLst>
          </p:cNvPr>
          <p:cNvSpPr txBox="1"/>
          <p:nvPr/>
        </p:nvSpPr>
        <p:spPr>
          <a:xfrm>
            <a:off x="759908" y="4938760"/>
            <a:ext cx="685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SV</a:t>
            </a:r>
            <a:r>
              <a:rPr lang="en-US" dirty="0"/>
              <a:t> – how far am I ahead or behind schedule? (SV = EV - PV)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B31EF6-25AA-48BE-83CB-404457DA7B6A}"/>
              </a:ext>
            </a:extLst>
          </p:cNvPr>
          <p:cNvSpPr txBox="1"/>
          <p:nvPr/>
        </p:nvSpPr>
        <p:spPr>
          <a:xfrm>
            <a:off x="761456" y="5240352"/>
            <a:ext cx="902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SPI</a:t>
            </a:r>
            <a:r>
              <a:rPr lang="en-US" dirty="0"/>
              <a:t> – how efficient have I been from a schedule perspective? (SPI = EV / PV)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A065FA-2BB1-45B1-8136-11C5ECBB9234}"/>
              </a:ext>
            </a:extLst>
          </p:cNvPr>
          <p:cNvSpPr txBox="1"/>
          <p:nvPr/>
        </p:nvSpPr>
        <p:spPr>
          <a:xfrm>
            <a:off x="777760" y="5544323"/>
            <a:ext cx="685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CV</a:t>
            </a:r>
            <a:r>
              <a:rPr lang="en-US" dirty="0"/>
              <a:t> – how far am I over or under budget? (CV = EV - AC)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17880A-FB62-4AA6-9999-CDA11FC90211}"/>
              </a:ext>
            </a:extLst>
          </p:cNvPr>
          <p:cNvSpPr txBox="1"/>
          <p:nvPr/>
        </p:nvSpPr>
        <p:spPr>
          <a:xfrm>
            <a:off x="759908" y="5845915"/>
            <a:ext cx="902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CPI</a:t>
            </a:r>
            <a:r>
              <a:rPr lang="en-US" dirty="0"/>
              <a:t> – how efficient have I been from a cost perspective? (CPI = EV / AC)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BBCDB3-C3F7-4F5C-8BA5-E5AC4C23F8C1}"/>
              </a:ext>
            </a:extLst>
          </p:cNvPr>
          <p:cNvSpPr txBox="1"/>
          <p:nvPr/>
        </p:nvSpPr>
        <p:spPr>
          <a:xfrm>
            <a:off x="6407360" y="4933519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-$10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3BD4F1-093A-4ED7-BB8E-92067F2DB48E}"/>
              </a:ext>
            </a:extLst>
          </p:cNvPr>
          <p:cNvSpPr txBox="1"/>
          <p:nvPr/>
        </p:nvSpPr>
        <p:spPr>
          <a:xfrm>
            <a:off x="7884163" y="524805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0.66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49D25B-757E-4DAA-A63E-925BB23B9262}"/>
              </a:ext>
            </a:extLst>
          </p:cNvPr>
          <p:cNvSpPr txBox="1"/>
          <p:nvPr/>
        </p:nvSpPr>
        <p:spPr>
          <a:xfrm>
            <a:off x="5969113" y="554313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-$10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6B88DC-ACEC-45C4-946D-A96A4B6C7ED7}"/>
              </a:ext>
            </a:extLst>
          </p:cNvPr>
          <p:cNvSpPr txBox="1"/>
          <p:nvPr/>
        </p:nvSpPr>
        <p:spPr>
          <a:xfrm>
            <a:off x="7479407" y="584591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0.66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C142E0-72F6-4B3D-8D3B-76E504E08D84}"/>
              </a:ext>
            </a:extLst>
          </p:cNvPr>
          <p:cNvSpPr txBox="1"/>
          <p:nvPr/>
        </p:nvSpPr>
        <p:spPr>
          <a:xfrm>
            <a:off x="8586257" y="2614214"/>
            <a:ext cx="363391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EAC Formulas: </a:t>
            </a:r>
          </a:p>
          <a:p>
            <a:r>
              <a:rPr lang="en-US" sz="1200" dirty="0"/>
              <a:t>1. Typical variances: EAC = BAC/CPI </a:t>
            </a:r>
          </a:p>
          <a:p>
            <a:r>
              <a:rPr lang="en-US" sz="1200" dirty="0"/>
              <a:t>2. Atypical variances: EAC = AC+ (BAC - EV)</a:t>
            </a:r>
          </a:p>
          <a:p>
            <a:r>
              <a:rPr lang="en-US" sz="1200" dirty="0"/>
              <a:t>3. Typical variances for cost and schedule: EAC = AC + ((BAC – EV)/ (CPI * SPI))</a:t>
            </a:r>
          </a:p>
          <a:p>
            <a:r>
              <a:rPr lang="en-US" sz="1200" dirty="0"/>
              <a:t>4. Most accurate but not used to calculate on exam:</a:t>
            </a:r>
          </a:p>
          <a:p>
            <a:r>
              <a:rPr lang="en-US" sz="1200" dirty="0"/>
              <a:t>EAC = AC + Bottom-up ETC (rollup WBS)</a:t>
            </a:r>
          </a:p>
          <a:p>
            <a:r>
              <a:rPr lang="en-US" sz="1200" b="1" dirty="0"/>
              <a:t>ETC Formula: </a:t>
            </a:r>
          </a:p>
          <a:p>
            <a:r>
              <a:rPr lang="en-US" sz="1200" dirty="0"/>
              <a:t>ETC = EAC – AC</a:t>
            </a:r>
          </a:p>
          <a:p>
            <a:r>
              <a:rPr lang="en-US" sz="1200" b="1" dirty="0"/>
              <a:t>Variances:</a:t>
            </a:r>
          </a:p>
          <a:p>
            <a:r>
              <a:rPr lang="en-US" sz="1200" dirty="0"/>
              <a:t>Schedule Variance: SV = EV – PV</a:t>
            </a:r>
          </a:p>
          <a:p>
            <a:r>
              <a:rPr lang="en-US" sz="1200" dirty="0"/>
              <a:t>Cost Variance: CV = EV – AC</a:t>
            </a:r>
          </a:p>
          <a:p>
            <a:r>
              <a:rPr lang="en-US" sz="1200" b="1" dirty="0"/>
              <a:t>Indexes:</a:t>
            </a:r>
          </a:p>
          <a:p>
            <a:r>
              <a:rPr lang="en-US" sz="1200" dirty="0"/>
              <a:t>Schedule Performance Index: SPI = EV / PV</a:t>
            </a:r>
          </a:p>
          <a:p>
            <a:r>
              <a:rPr lang="en-US" sz="1200" dirty="0"/>
              <a:t>Cost Performance Index: CPI = EV / AC</a:t>
            </a:r>
          </a:p>
          <a:p>
            <a:r>
              <a:rPr lang="en-US" sz="1200" b="1" dirty="0"/>
              <a:t>Definitions:</a:t>
            </a:r>
          </a:p>
          <a:p>
            <a:r>
              <a:rPr lang="en-US" sz="1200" u="sng" dirty="0"/>
              <a:t>Planned Value (PV)</a:t>
            </a:r>
            <a:r>
              <a:rPr lang="en-US" sz="1200" dirty="0"/>
              <a:t>: How much $ should have been earned according to the plan</a:t>
            </a:r>
          </a:p>
          <a:p>
            <a:r>
              <a:rPr lang="en-US" sz="1200" u="sng" dirty="0"/>
              <a:t>Earned Value (EV): </a:t>
            </a:r>
            <a:r>
              <a:rPr lang="en-US" sz="1200" dirty="0"/>
              <a:t>How much $ has been completed at the budgeted rate (actual units x budgeted unit rate)</a:t>
            </a:r>
          </a:p>
          <a:p>
            <a:r>
              <a:rPr lang="en-US" sz="1200" u="sng" dirty="0"/>
              <a:t>Actual Cost (AC):</a:t>
            </a:r>
            <a:r>
              <a:rPr lang="en-US" sz="1200" dirty="0"/>
              <a:t> How much money did the work performed actually cost</a:t>
            </a:r>
          </a:p>
          <a:p>
            <a:r>
              <a:rPr lang="en-US" sz="1200" u="sng" dirty="0"/>
              <a:t>Budget at Completion (BAC):</a:t>
            </a:r>
            <a:r>
              <a:rPr lang="en-US" sz="1200" dirty="0"/>
              <a:t> Cost Baseline</a:t>
            </a:r>
          </a:p>
        </p:txBody>
      </p:sp>
    </p:spTree>
    <p:extLst>
      <p:ext uri="{BB962C8B-B14F-4D97-AF65-F5344CB8AC3E}">
        <p14:creationId xmlns:p14="http://schemas.microsoft.com/office/powerpoint/2010/main" val="9611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8" grpId="0" animBg="1"/>
      <p:bldP spid="29" grpId="0" animBg="1"/>
      <p:bldP spid="2" grpId="0"/>
      <p:bldP spid="36" grpId="0"/>
      <p:bldP spid="37" grpId="0"/>
      <p:bldP spid="38" grpId="0"/>
      <p:bldP spid="39" grpId="0"/>
      <p:bldP spid="40" grpId="0"/>
      <p:bldP spid="44" grpId="0"/>
      <p:bldP spid="46" grpId="0"/>
      <p:bldP spid="51" grpId="0"/>
      <p:bldP spid="52" grpId="0"/>
      <p:bldP spid="53" grpId="0"/>
      <p:bldP spid="54" grpId="0"/>
      <p:bldP spid="5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388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28</cp:revision>
  <dcterms:created xsi:type="dcterms:W3CDTF">2020-04-21T11:39:31Z</dcterms:created>
  <dcterms:modified xsi:type="dcterms:W3CDTF">2021-05-04T13:38:17Z</dcterms:modified>
</cp:coreProperties>
</file>
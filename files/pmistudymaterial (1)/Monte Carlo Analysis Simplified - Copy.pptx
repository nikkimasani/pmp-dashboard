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A1EFC-EE2E-4A5D-BFDA-C475F40C7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29140-EF76-4AB9-89C3-039E3CAB8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7529E-3069-4EA4-BB9D-0C86AA51D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542-F0A1-490C-A509-3E8E32FF42CD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FF125-276B-4958-BC2D-71822272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F325E-4F5B-4C80-8A9D-72C485D89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A613-DD95-4749-B189-925F6921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31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CEF1-F4D9-43AE-9E10-41F1136E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9124D-48EA-4442-9CB5-CD5A2E25F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17753-EF74-4433-9D30-78FD2D93D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542-F0A1-490C-A509-3E8E32FF42CD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F8266-E288-4E38-B299-06C10955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F8A84-34C9-4211-A46C-ED417152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A613-DD95-4749-B189-925F6921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68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132C-32C8-468B-BF1D-BEBCD2957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B53FA-23BA-4E59-A581-ED41E5F9D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041A6-D0D8-4B37-876F-F4CAE1DB0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542-F0A1-490C-A509-3E8E32FF42CD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C0111-D69C-4E47-BCBF-375C3F2A2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9F49F-962B-4BD9-8DEC-02EADAFAA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A613-DD95-4749-B189-925F6921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23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E149-AE5F-4D51-9ABB-C5903DC16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1F295-D381-42A7-A71C-75D79E4B79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B5189-CAA5-4617-87E9-AFB20ABA1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29C95-8040-4329-8CA2-2D18A0703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542-F0A1-490C-A509-3E8E32FF42CD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35939-16FF-482D-B7F5-F3ECECA6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6A4BE-6A01-410D-95F7-A4741DDA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A613-DD95-4749-B189-925F6921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77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A695-ACA9-4229-A15F-BA5DD01D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116EF-D548-4D14-92BA-45B137191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85FE4-DB50-4F48-B143-BE98C2271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228580-6C80-4634-A6E1-F5FEB221A6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EC676-E278-415A-8B13-666A4C714E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3A91E7-8EC3-470A-906F-2591BE54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542-F0A1-490C-A509-3E8E32FF42CD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D086B9-62B2-424C-9358-BEA438CF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BA0DAD-11F8-43DB-A54B-75775DA4A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A613-DD95-4749-B189-925F6921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54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0FE3-1953-43E2-8CAB-DAD4A0EF5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9F461C-BFDC-4101-80B4-82D9C632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542-F0A1-490C-A509-3E8E32FF42CD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EBC469-2ABA-40C5-B5C3-0021993C7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FAD4E-F958-4E19-ACF4-1C3CE2FC8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A613-DD95-4749-B189-925F6921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06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E6D4FC-1C81-4024-846F-726284419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542-F0A1-490C-A509-3E8E32FF42CD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05616-2998-4D68-AAC3-01155339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4FCA8-5678-4FCA-ADE1-0FA21891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A613-DD95-4749-B189-925F6921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6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DD22-E345-4382-9955-A63ED78B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70409-7B8D-4F18-A139-EC9966EC7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7B0F0-CC4D-47AC-8A58-73AEBB581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77D9C-CD57-40F9-88CE-4B05F731F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542-F0A1-490C-A509-3E8E32FF42CD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C02DA-533A-4E28-B566-AF79AB26D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65181-C82B-4354-9D48-90BC69FD9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A613-DD95-4749-B189-925F6921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3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14F0-4FBE-4573-976B-1DFE93316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812AE2-4754-48C1-975C-A526822D8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0C254-998F-44A3-9D1F-47A3C9329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8D4A8-9924-43A9-91E0-0ACF30EDA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542-F0A1-490C-A509-3E8E32FF42CD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692EF-3545-4E7A-859C-692A238B2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350F2-B98F-485D-A574-836D6E2C2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A613-DD95-4749-B189-925F6921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35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CE396-E0F1-46D3-B19F-A8AF70F8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79C0EA-6CBC-4FB7-84D3-85E4E7FAE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68C44-954F-4BB4-A278-57C908A76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542-F0A1-490C-A509-3E8E32FF42CD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8E899-F767-4AD7-B254-8FE98658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C5D08-EE83-4E3B-B83E-F3E605AB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A613-DD95-4749-B189-925F6921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918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DEB019-3872-4C0F-92A0-705AC2FA6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5B686-4B0B-4F71-8E5B-30BACC3FF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47552-11A7-43AC-A8EE-1B010F6AC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6542-F0A1-490C-A509-3E8E32FF42CD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0E5B9-EE21-4596-B684-47AA411EF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F3CE9-E86C-4288-B4A3-E65AB031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A613-DD95-4749-B189-925F6921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64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5D5067-7D75-4A7F-AC59-2ACBC08EB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6FBA9-22EF-4EDD-B6A2-A96876B54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85519-E2C9-49D7-8DA7-55E6236D0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06542-F0A1-490C-A509-3E8E32FF42CD}" type="datetimeFigureOut">
              <a:rPr lang="en-US" smtClean="0"/>
              <a:t>5/19/2021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C2FE7-C57E-4C8D-A4C8-E052F6C63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3D3C8-003C-4E03-A75A-179424516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0A613-DD95-4749-B189-925F6921F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66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1D23DC-86F1-4068-829B-2F95F041B217}"/>
              </a:ext>
            </a:extLst>
          </p:cNvPr>
          <p:cNvSpPr/>
          <p:nvPr/>
        </p:nvSpPr>
        <p:spPr>
          <a:xfrm>
            <a:off x="1166070" y="1359017"/>
            <a:ext cx="1283516" cy="444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AB476A-B3E9-47A3-BF80-2A66880FE0F7}"/>
              </a:ext>
            </a:extLst>
          </p:cNvPr>
          <p:cNvSpPr/>
          <p:nvPr/>
        </p:nvSpPr>
        <p:spPr>
          <a:xfrm>
            <a:off x="2845266" y="1360416"/>
            <a:ext cx="1283516" cy="444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44084D-84B1-4737-AAEC-430EEB732E54}"/>
              </a:ext>
            </a:extLst>
          </p:cNvPr>
          <p:cNvSpPr/>
          <p:nvPr/>
        </p:nvSpPr>
        <p:spPr>
          <a:xfrm>
            <a:off x="4549629" y="1359017"/>
            <a:ext cx="1283516" cy="444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9B1E89-11E1-4ECF-81CA-5EAE2727E2D8}"/>
              </a:ext>
            </a:extLst>
          </p:cNvPr>
          <p:cNvSpPr/>
          <p:nvPr/>
        </p:nvSpPr>
        <p:spPr>
          <a:xfrm>
            <a:off x="6253992" y="1359017"/>
            <a:ext cx="1283516" cy="444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3DDE6A-7311-4061-9243-F76998A59CB1}"/>
              </a:ext>
            </a:extLst>
          </p:cNvPr>
          <p:cNvSpPr/>
          <p:nvPr/>
        </p:nvSpPr>
        <p:spPr>
          <a:xfrm>
            <a:off x="7958355" y="1359017"/>
            <a:ext cx="1283516" cy="444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FC034F4-FB83-4F18-8A73-6EC37BEF85D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449586" y="1581325"/>
            <a:ext cx="395680" cy="1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9D86FF-6AD9-41E6-9A9B-6F408341A04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4128782" y="1581325"/>
            <a:ext cx="420847" cy="1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08B07B-10C3-4851-BF7E-9D5A712F5AA3}"/>
              </a:ext>
            </a:extLst>
          </p:cNvPr>
          <p:cNvCxnSpPr>
            <a:cxnSpLocks/>
          </p:cNvCxnSpPr>
          <p:nvPr/>
        </p:nvCxnSpPr>
        <p:spPr>
          <a:xfrm flipV="1">
            <a:off x="5833145" y="1581325"/>
            <a:ext cx="420847" cy="1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424F6B5-3618-4190-A492-BCF5A15AF37F}"/>
              </a:ext>
            </a:extLst>
          </p:cNvPr>
          <p:cNvCxnSpPr>
            <a:cxnSpLocks/>
          </p:cNvCxnSpPr>
          <p:nvPr/>
        </p:nvCxnSpPr>
        <p:spPr>
          <a:xfrm flipV="1">
            <a:off x="7537508" y="1581325"/>
            <a:ext cx="420847" cy="1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67C73D5-556A-4F55-A032-8E51EF868A21}"/>
              </a:ext>
            </a:extLst>
          </p:cNvPr>
          <p:cNvSpPr txBox="1"/>
          <p:nvPr/>
        </p:nvSpPr>
        <p:spPr>
          <a:xfrm>
            <a:off x="1285729" y="435687"/>
            <a:ext cx="9637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30% risk</a:t>
            </a:r>
          </a:p>
          <a:p>
            <a:pPr algn="ctr"/>
            <a:r>
              <a:rPr lang="en-US" dirty="0"/>
              <a:t>of 3 day</a:t>
            </a:r>
          </a:p>
          <a:p>
            <a:pPr algn="ctr"/>
            <a:r>
              <a:rPr lang="en-US" dirty="0"/>
              <a:t>delay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32D7DC-6F4B-4A70-9A11-E8056885974A}"/>
              </a:ext>
            </a:extLst>
          </p:cNvPr>
          <p:cNvSpPr txBox="1"/>
          <p:nvPr/>
        </p:nvSpPr>
        <p:spPr>
          <a:xfrm>
            <a:off x="2918281" y="435687"/>
            <a:ext cx="9637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70% risk</a:t>
            </a:r>
          </a:p>
          <a:p>
            <a:pPr algn="ctr"/>
            <a:r>
              <a:rPr lang="en-US" dirty="0"/>
              <a:t>of 5 day</a:t>
            </a:r>
          </a:p>
          <a:p>
            <a:pPr algn="ctr"/>
            <a:r>
              <a:rPr lang="en-US" dirty="0"/>
              <a:t>delay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ADE618-AF7E-4C95-AA13-DC6A462CDA3F}"/>
              </a:ext>
            </a:extLst>
          </p:cNvPr>
          <p:cNvSpPr txBox="1"/>
          <p:nvPr/>
        </p:nvSpPr>
        <p:spPr>
          <a:xfrm>
            <a:off x="4721564" y="435687"/>
            <a:ext cx="9637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20% risk</a:t>
            </a:r>
          </a:p>
          <a:p>
            <a:pPr algn="ctr"/>
            <a:r>
              <a:rPr lang="en-US" dirty="0"/>
              <a:t>of 1 day</a:t>
            </a:r>
          </a:p>
          <a:p>
            <a:pPr algn="ctr"/>
            <a:r>
              <a:rPr lang="en-US" dirty="0"/>
              <a:t>delay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47212E-FA51-41C2-83E2-55C00FB51DDE}"/>
              </a:ext>
            </a:extLst>
          </p:cNvPr>
          <p:cNvSpPr txBox="1"/>
          <p:nvPr/>
        </p:nvSpPr>
        <p:spPr>
          <a:xfrm>
            <a:off x="6413887" y="435687"/>
            <a:ext cx="9637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40% risk</a:t>
            </a:r>
          </a:p>
          <a:p>
            <a:pPr algn="ctr"/>
            <a:r>
              <a:rPr lang="en-US" dirty="0"/>
              <a:t>of 2 day</a:t>
            </a:r>
          </a:p>
          <a:p>
            <a:pPr algn="ctr"/>
            <a:r>
              <a:rPr lang="en-US" dirty="0"/>
              <a:t>delay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262D4D-F3DC-414A-9411-369359E8F0F1}"/>
              </a:ext>
            </a:extLst>
          </p:cNvPr>
          <p:cNvSpPr txBox="1"/>
          <p:nvPr/>
        </p:nvSpPr>
        <p:spPr>
          <a:xfrm>
            <a:off x="8100968" y="443535"/>
            <a:ext cx="9637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50% risk</a:t>
            </a:r>
          </a:p>
          <a:p>
            <a:pPr algn="ctr"/>
            <a:r>
              <a:rPr lang="en-US" dirty="0"/>
              <a:t>of 5 day</a:t>
            </a:r>
          </a:p>
          <a:p>
            <a:pPr algn="ctr"/>
            <a:r>
              <a:rPr lang="en-US" dirty="0"/>
              <a:t>delay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4E7A2B-4435-428B-81FC-F1A5EB262ED7}"/>
              </a:ext>
            </a:extLst>
          </p:cNvPr>
          <p:cNvSpPr txBox="1"/>
          <p:nvPr/>
        </p:nvSpPr>
        <p:spPr>
          <a:xfrm>
            <a:off x="9535026" y="1258159"/>
            <a:ext cx="1874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Schedule Baseline</a:t>
            </a:r>
          </a:p>
          <a:p>
            <a:pPr algn="ctr"/>
            <a:r>
              <a:rPr lang="en-US" dirty="0"/>
              <a:t>40 Days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A41387-3E40-43B0-AF7C-96208E77C632}"/>
              </a:ext>
            </a:extLst>
          </p:cNvPr>
          <p:cNvSpPr txBox="1"/>
          <p:nvPr/>
        </p:nvSpPr>
        <p:spPr>
          <a:xfrm>
            <a:off x="91328" y="2165218"/>
            <a:ext cx="989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Iteration</a:t>
            </a:r>
          </a:p>
          <a:p>
            <a:pPr algn="ctr"/>
            <a:r>
              <a:rPr lang="en-US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88D052-E348-4CF8-B17D-C423626A15AA}"/>
              </a:ext>
            </a:extLst>
          </p:cNvPr>
          <p:cNvSpPr txBox="1"/>
          <p:nvPr/>
        </p:nvSpPr>
        <p:spPr>
          <a:xfrm>
            <a:off x="1096738" y="2026718"/>
            <a:ext cx="142218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65%</a:t>
            </a:r>
          </a:p>
          <a:p>
            <a:pPr algn="ctr"/>
            <a:r>
              <a:rPr lang="en-US" dirty="0"/>
              <a:t>No delay</a:t>
            </a:r>
          </a:p>
          <a:p>
            <a:pPr algn="ctr"/>
            <a:r>
              <a:rPr lang="en-US" sz="1400" dirty="0"/>
              <a:t>5 DAY ACTIVITY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4B8A42-6E3E-4B1D-848D-2D0B59146A2D}"/>
              </a:ext>
            </a:extLst>
          </p:cNvPr>
          <p:cNvSpPr txBox="1"/>
          <p:nvPr/>
        </p:nvSpPr>
        <p:spPr>
          <a:xfrm>
            <a:off x="2872657" y="2027576"/>
            <a:ext cx="142218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42%</a:t>
            </a:r>
          </a:p>
          <a:p>
            <a:pPr algn="ctr"/>
            <a:r>
              <a:rPr lang="en-US" dirty="0"/>
              <a:t>5 day delay</a:t>
            </a:r>
          </a:p>
          <a:p>
            <a:pPr algn="ctr"/>
            <a:r>
              <a:rPr lang="en-US" sz="1400" dirty="0"/>
              <a:t>20 DAY ACTIVITY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584F4A-61DA-413C-B50B-EB23EBCA21A5}"/>
              </a:ext>
            </a:extLst>
          </p:cNvPr>
          <p:cNvSpPr txBox="1"/>
          <p:nvPr/>
        </p:nvSpPr>
        <p:spPr>
          <a:xfrm>
            <a:off x="4549307" y="2026718"/>
            <a:ext cx="142218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94%</a:t>
            </a:r>
          </a:p>
          <a:p>
            <a:pPr algn="ctr"/>
            <a:r>
              <a:rPr lang="en-US" dirty="0"/>
              <a:t>No delay</a:t>
            </a:r>
          </a:p>
          <a:p>
            <a:pPr algn="ctr"/>
            <a:r>
              <a:rPr lang="en-US" sz="1400" dirty="0"/>
              <a:t>7 DAY ACTIVITY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2B3883-1B25-403B-9CD6-761BA88D7261}"/>
              </a:ext>
            </a:extLst>
          </p:cNvPr>
          <p:cNvSpPr txBox="1"/>
          <p:nvPr/>
        </p:nvSpPr>
        <p:spPr>
          <a:xfrm>
            <a:off x="6184656" y="2025941"/>
            <a:ext cx="14221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71%</a:t>
            </a:r>
          </a:p>
          <a:p>
            <a:pPr algn="ctr"/>
            <a:r>
              <a:rPr lang="en-US" dirty="0"/>
              <a:t>No delay</a:t>
            </a:r>
          </a:p>
          <a:p>
            <a:pPr algn="ctr"/>
            <a:r>
              <a:rPr lang="en-US" sz="1400" dirty="0"/>
              <a:t>10 DAY ACTIVITY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F78CD9-0D3C-4309-A914-A6787E1E0174}"/>
              </a:ext>
            </a:extLst>
          </p:cNvPr>
          <p:cNvSpPr txBox="1"/>
          <p:nvPr/>
        </p:nvSpPr>
        <p:spPr>
          <a:xfrm>
            <a:off x="7897161" y="2026799"/>
            <a:ext cx="142218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25%</a:t>
            </a:r>
          </a:p>
          <a:p>
            <a:pPr algn="ctr"/>
            <a:r>
              <a:rPr lang="en-US" dirty="0"/>
              <a:t>5 day delay</a:t>
            </a:r>
          </a:p>
          <a:p>
            <a:pPr algn="ctr"/>
            <a:r>
              <a:rPr lang="en-US" sz="1400" dirty="0"/>
              <a:t>8 DAY ACTIVITY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991DE8-5636-46E6-B075-4C286E74991A}"/>
              </a:ext>
            </a:extLst>
          </p:cNvPr>
          <p:cNvSpPr txBox="1"/>
          <p:nvPr/>
        </p:nvSpPr>
        <p:spPr>
          <a:xfrm>
            <a:off x="9498865" y="2122733"/>
            <a:ext cx="1946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Monte Carlo Run 1</a:t>
            </a:r>
          </a:p>
          <a:p>
            <a:pPr algn="ctr"/>
            <a:r>
              <a:rPr lang="en-US" dirty="0"/>
              <a:t>50 Days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F671AB-EC02-4661-BB8C-639208B85329}"/>
              </a:ext>
            </a:extLst>
          </p:cNvPr>
          <p:cNvSpPr txBox="1"/>
          <p:nvPr/>
        </p:nvSpPr>
        <p:spPr>
          <a:xfrm>
            <a:off x="127182" y="3125807"/>
            <a:ext cx="989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Iteration</a:t>
            </a:r>
          </a:p>
          <a:p>
            <a:pPr algn="ctr"/>
            <a:r>
              <a:rPr lang="en-US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C8EC1D-39D5-46C1-AD2B-9ECFEA6EB59C}"/>
              </a:ext>
            </a:extLst>
          </p:cNvPr>
          <p:cNvSpPr txBox="1"/>
          <p:nvPr/>
        </p:nvSpPr>
        <p:spPr>
          <a:xfrm>
            <a:off x="1132592" y="2987307"/>
            <a:ext cx="142218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15%</a:t>
            </a:r>
          </a:p>
          <a:p>
            <a:pPr algn="ctr"/>
            <a:r>
              <a:rPr lang="en-US" dirty="0"/>
              <a:t>No delay</a:t>
            </a:r>
          </a:p>
          <a:p>
            <a:pPr algn="ctr"/>
            <a:r>
              <a:rPr lang="en-US" sz="1400" dirty="0"/>
              <a:t>8 DAY ACTIVITY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85B1B8-E9EA-4FC6-8726-18B0D24433ED}"/>
              </a:ext>
            </a:extLst>
          </p:cNvPr>
          <p:cNvSpPr txBox="1"/>
          <p:nvPr/>
        </p:nvSpPr>
        <p:spPr>
          <a:xfrm>
            <a:off x="2908511" y="2988165"/>
            <a:ext cx="142218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55%</a:t>
            </a:r>
          </a:p>
          <a:p>
            <a:pPr algn="ctr"/>
            <a:r>
              <a:rPr lang="en-US" dirty="0"/>
              <a:t>5 day delay</a:t>
            </a:r>
          </a:p>
          <a:p>
            <a:pPr algn="ctr"/>
            <a:r>
              <a:rPr lang="en-US" sz="1400" dirty="0"/>
              <a:t>20 DAY ACTIVITY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0EC96C-A56C-4243-B3A1-CED030DDB0FA}"/>
              </a:ext>
            </a:extLst>
          </p:cNvPr>
          <p:cNvSpPr txBox="1"/>
          <p:nvPr/>
        </p:nvSpPr>
        <p:spPr>
          <a:xfrm>
            <a:off x="4643670" y="2987307"/>
            <a:ext cx="130516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6%</a:t>
            </a:r>
          </a:p>
          <a:p>
            <a:pPr algn="ctr"/>
            <a:r>
              <a:rPr lang="en-US" dirty="0"/>
              <a:t>1 day delay</a:t>
            </a:r>
          </a:p>
          <a:p>
            <a:pPr algn="ctr"/>
            <a:r>
              <a:rPr lang="en-US" sz="1400" dirty="0"/>
              <a:t>8 DAY ACTIVITY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77BAE9-C6D9-4819-BE5E-8B0E640012B0}"/>
              </a:ext>
            </a:extLst>
          </p:cNvPr>
          <p:cNvSpPr txBox="1"/>
          <p:nvPr/>
        </p:nvSpPr>
        <p:spPr>
          <a:xfrm>
            <a:off x="6220510" y="2986530"/>
            <a:ext cx="14221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85%</a:t>
            </a:r>
          </a:p>
          <a:p>
            <a:pPr algn="ctr"/>
            <a:r>
              <a:rPr lang="en-US" dirty="0"/>
              <a:t>No delay</a:t>
            </a:r>
          </a:p>
          <a:p>
            <a:pPr algn="ctr"/>
            <a:r>
              <a:rPr lang="en-US" sz="1400" dirty="0"/>
              <a:t>10 DAY ACTIVITY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8181E7-2594-4782-AE9E-80CDA5EFDDEC}"/>
              </a:ext>
            </a:extLst>
          </p:cNvPr>
          <p:cNvSpPr txBox="1"/>
          <p:nvPr/>
        </p:nvSpPr>
        <p:spPr>
          <a:xfrm>
            <a:off x="7933014" y="2987388"/>
            <a:ext cx="14221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52%</a:t>
            </a:r>
          </a:p>
          <a:p>
            <a:pPr algn="ctr"/>
            <a:r>
              <a:rPr lang="en-US" dirty="0"/>
              <a:t>No delay</a:t>
            </a:r>
          </a:p>
          <a:p>
            <a:pPr algn="ctr"/>
            <a:r>
              <a:rPr lang="en-US" sz="1400" dirty="0"/>
              <a:t>3 DAY ACTIVITY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8381CE-0B20-4A73-BA1C-6199318E696C}"/>
              </a:ext>
            </a:extLst>
          </p:cNvPr>
          <p:cNvSpPr txBox="1"/>
          <p:nvPr/>
        </p:nvSpPr>
        <p:spPr>
          <a:xfrm>
            <a:off x="9534719" y="3083322"/>
            <a:ext cx="1946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Monte Carlo Run 2</a:t>
            </a:r>
          </a:p>
          <a:p>
            <a:pPr algn="ctr"/>
            <a:r>
              <a:rPr lang="en-US" dirty="0"/>
              <a:t>49 Days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58FAFA-B3C0-44DA-9BA5-856EEED67621}"/>
              </a:ext>
            </a:extLst>
          </p:cNvPr>
          <p:cNvSpPr txBox="1"/>
          <p:nvPr/>
        </p:nvSpPr>
        <p:spPr>
          <a:xfrm>
            <a:off x="127182" y="4224119"/>
            <a:ext cx="989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Iteration</a:t>
            </a:r>
          </a:p>
          <a:p>
            <a:pPr algn="ctr"/>
            <a:r>
              <a:rPr lang="en-US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61A9AE-77F4-411E-9B7F-42AF67449B78}"/>
              </a:ext>
            </a:extLst>
          </p:cNvPr>
          <p:cNvSpPr txBox="1"/>
          <p:nvPr/>
        </p:nvSpPr>
        <p:spPr>
          <a:xfrm>
            <a:off x="1132591" y="4085619"/>
            <a:ext cx="14221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92%</a:t>
            </a:r>
          </a:p>
          <a:p>
            <a:pPr algn="ctr"/>
            <a:r>
              <a:rPr lang="en-US" dirty="0"/>
              <a:t>No delay</a:t>
            </a:r>
          </a:p>
          <a:p>
            <a:pPr algn="ctr"/>
            <a:r>
              <a:rPr lang="en-US" sz="1400" dirty="0"/>
              <a:t>8 DAY ACTIVITY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AD6446-ACDF-466D-8BA1-3782330F12F3}"/>
              </a:ext>
            </a:extLst>
          </p:cNvPr>
          <p:cNvSpPr txBox="1"/>
          <p:nvPr/>
        </p:nvSpPr>
        <p:spPr>
          <a:xfrm>
            <a:off x="2908511" y="4086477"/>
            <a:ext cx="142218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25%</a:t>
            </a:r>
          </a:p>
          <a:p>
            <a:pPr algn="ctr"/>
            <a:r>
              <a:rPr lang="en-US" dirty="0"/>
              <a:t>5 day delay</a:t>
            </a:r>
          </a:p>
          <a:p>
            <a:pPr algn="ctr"/>
            <a:r>
              <a:rPr lang="en-US" sz="1400" dirty="0"/>
              <a:t>20 DAY ACTIVITY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962D5F-8586-40DB-87F6-0ACA56FD9C79}"/>
              </a:ext>
            </a:extLst>
          </p:cNvPr>
          <p:cNvSpPr txBox="1"/>
          <p:nvPr/>
        </p:nvSpPr>
        <p:spPr>
          <a:xfrm>
            <a:off x="4585160" y="4085619"/>
            <a:ext cx="14221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17%</a:t>
            </a:r>
          </a:p>
          <a:p>
            <a:pPr algn="ctr"/>
            <a:r>
              <a:rPr lang="en-US" dirty="0"/>
              <a:t>1 day delay</a:t>
            </a:r>
          </a:p>
          <a:p>
            <a:pPr algn="ctr"/>
            <a:r>
              <a:rPr lang="en-US" sz="1400" dirty="0"/>
              <a:t>8 DAY ACTIVITY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C9FC91-13BB-4051-9DAE-D19EEA7E560F}"/>
              </a:ext>
            </a:extLst>
          </p:cNvPr>
          <p:cNvSpPr txBox="1"/>
          <p:nvPr/>
        </p:nvSpPr>
        <p:spPr>
          <a:xfrm>
            <a:off x="6220510" y="4084842"/>
            <a:ext cx="14221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35%</a:t>
            </a:r>
          </a:p>
          <a:p>
            <a:pPr algn="ctr"/>
            <a:r>
              <a:rPr lang="en-US" dirty="0"/>
              <a:t>2 day delay</a:t>
            </a:r>
          </a:p>
          <a:p>
            <a:pPr algn="ctr"/>
            <a:r>
              <a:rPr lang="en-US" sz="1400" dirty="0"/>
              <a:t>12 DAY ACTIVITY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F60138-D450-4EA2-ABFE-28F69F5880B4}"/>
              </a:ext>
            </a:extLst>
          </p:cNvPr>
          <p:cNvSpPr txBox="1"/>
          <p:nvPr/>
        </p:nvSpPr>
        <p:spPr>
          <a:xfrm>
            <a:off x="7933014" y="4085700"/>
            <a:ext cx="14221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48%</a:t>
            </a:r>
          </a:p>
          <a:p>
            <a:pPr algn="ctr"/>
            <a:r>
              <a:rPr lang="en-US" dirty="0"/>
              <a:t>5 day delay</a:t>
            </a:r>
          </a:p>
          <a:p>
            <a:pPr algn="ctr"/>
            <a:r>
              <a:rPr lang="en-US" sz="1400" dirty="0"/>
              <a:t>8 DAY ACTIVITY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920000-6B32-4D52-89A2-A98FEE053B3B}"/>
              </a:ext>
            </a:extLst>
          </p:cNvPr>
          <p:cNvSpPr txBox="1"/>
          <p:nvPr/>
        </p:nvSpPr>
        <p:spPr>
          <a:xfrm>
            <a:off x="9534719" y="4181634"/>
            <a:ext cx="1946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Monte Carlo Run 3</a:t>
            </a:r>
          </a:p>
          <a:p>
            <a:pPr algn="ctr"/>
            <a:r>
              <a:rPr lang="en-US" dirty="0"/>
              <a:t>56 Days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8CED95-BD4E-4057-AD41-5AEF19A2ABE3}"/>
              </a:ext>
            </a:extLst>
          </p:cNvPr>
          <p:cNvSpPr txBox="1"/>
          <p:nvPr/>
        </p:nvSpPr>
        <p:spPr>
          <a:xfrm>
            <a:off x="127182" y="5205197"/>
            <a:ext cx="989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Iteration</a:t>
            </a:r>
          </a:p>
          <a:p>
            <a:pPr algn="ctr"/>
            <a:r>
              <a:rPr lang="en-US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C6ED707-1D18-473E-967B-7FEF40708A31}"/>
              </a:ext>
            </a:extLst>
          </p:cNvPr>
          <p:cNvSpPr txBox="1"/>
          <p:nvPr/>
        </p:nvSpPr>
        <p:spPr>
          <a:xfrm>
            <a:off x="1132591" y="5066697"/>
            <a:ext cx="14221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42%</a:t>
            </a:r>
          </a:p>
          <a:p>
            <a:pPr algn="ctr"/>
            <a:r>
              <a:rPr lang="en-US" dirty="0"/>
              <a:t>No delay</a:t>
            </a:r>
          </a:p>
          <a:p>
            <a:pPr algn="ctr"/>
            <a:r>
              <a:rPr lang="en-US" sz="1400" dirty="0"/>
              <a:t>8 DAY ACTIVITY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D75FE8-C1B2-4E86-823B-253A797A90EB}"/>
              </a:ext>
            </a:extLst>
          </p:cNvPr>
          <p:cNvSpPr txBox="1"/>
          <p:nvPr/>
        </p:nvSpPr>
        <p:spPr>
          <a:xfrm>
            <a:off x="2908511" y="5067555"/>
            <a:ext cx="142218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80%</a:t>
            </a:r>
          </a:p>
          <a:p>
            <a:pPr algn="ctr"/>
            <a:r>
              <a:rPr lang="en-US" dirty="0"/>
              <a:t>No delay</a:t>
            </a:r>
          </a:p>
          <a:p>
            <a:pPr algn="ctr"/>
            <a:r>
              <a:rPr lang="en-US" sz="1400" dirty="0"/>
              <a:t>15 DAY ACTIVITY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90D629-C562-4020-BCF9-F2316CF6BFC0}"/>
              </a:ext>
            </a:extLst>
          </p:cNvPr>
          <p:cNvSpPr txBox="1"/>
          <p:nvPr/>
        </p:nvSpPr>
        <p:spPr>
          <a:xfrm>
            <a:off x="4585160" y="5066697"/>
            <a:ext cx="14221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29%</a:t>
            </a:r>
          </a:p>
          <a:p>
            <a:pPr algn="ctr"/>
            <a:r>
              <a:rPr lang="en-US" dirty="0"/>
              <a:t>No delay</a:t>
            </a:r>
          </a:p>
          <a:p>
            <a:pPr algn="ctr"/>
            <a:r>
              <a:rPr lang="en-US" sz="1400" dirty="0"/>
              <a:t>7 DAY ACTIVITY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7FDC1F-C21E-406E-99B8-345EF3C4AAB4}"/>
              </a:ext>
            </a:extLst>
          </p:cNvPr>
          <p:cNvSpPr txBox="1"/>
          <p:nvPr/>
        </p:nvSpPr>
        <p:spPr>
          <a:xfrm>
            <a:off x="6220510" y="5065920"/>
            <a:ext cx="14221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45%</a:t>
            </a:r>
          </a:p>
          <a:p>
            <a:pPr algn="ctr"/>
            <a:r>
              <a:rPr lang="en-US" dirty="0"/>
              <a:t>No delay</a:t>
            </a:r>
          </a:p>
          <a:p>
            <a:pPr algn="ctr"/>
            <a:r>
              <a:rPr lang="en-US" sz="1400" dirty="0"/>
              <a:t>10 DAY ACTIVITY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F22EF9-B272-4695-A983-8F359F3D205A}"/>
              </a:ext>
            </a:extLst>
          </p:cNvPr>
          <p:cNvSpPr txBox="1"/>
          <p:nvPr/>
        </p:nvSpPr>
        <p:spPr>
          <a:xfrm>
            <a:off x="7933014" y="5066778"/>
            <a:ext cx="14221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Random 63%</a:t>
            </a:r>
          </a:p>
          <a:p>
            <a:pPr algn="ctr"/>
            <a:r>
              <a:rPr lang="en-US" dirty="0"/>
              <a:t>No delay</a:t>
            </a:r>
          </a:p>
          <a:p>
            <a:pPr algn="ctr"/>
            <a:r>
              <a:rPr lang="en-US" sz="1400" dirty="0"/>
              <a:t>3 DAY ACTIVITY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06E6C6-66DD-4151-B55F-F01F824AAEFB}"/>
              </a:ext>
            </a:extLst>
          </p:cNvPr>
          <p:cNvSpPr txBox="1"/>
          <p:nvPr/>
        </p:nvSpPr>
        <p:spPr>
          <a:xfrm>
            <a:off x="9534719" y="5162712"/>
            <a:ext cx="1946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Monte Carlo Run 3</a:t>
            </a:r>
          </a:p>
          <a:p>
            <a:pPr algn="ctr"/>
            <a:r>
              <a:rPr lang="en-US" dirty="0"/>
              <a:t>40 Days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672C29-1D0B-49EE-82D0-40CE73E1321C}"/>
              </a:ext>
            </a:extLst>
          </p:cNvPr>
          <p:cNvSpPr txBox="1"/>
          <p:nvPr/>
        </p:nvSpPr>
        <p:spPr>
          <a:xfrm>
            <a:off x="1341539" y="6153882"/>
            <a:ext cx="9404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Monte Carlo Average 48.75 Days: 21.9% Project Go Live Delay Predicted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9A8780-1A73-47EF-B82F-6871295125F0}"/>
              </a:ext>
            </a:extLst>
          </p:cNvPr>
          <p:cNvSpPr txBox="1"/>
          <p:nvPr/>
        </p:nvSpPr>
        <p:spPr>
          <a:xfrm>
            <a:off x="1341539" y="-4718"/>
            <a:ext cx="9404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Monte Carlo Simulation: Simplified for Understanding</a:t>
            </a:r>
          </a:p>
        </p:txBody>
      </p:sp>
    </p:spTree>
    <p:extLst>
      <p:ext uri="{BB962C8B-B14F-4D97-AF65-F5344CB8AC3E}">
        <p14:creationId xmlns:p14="http://schemas.microsoft.com/office/powerpoint/2010/main" val="153825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264</Words>
  <Application>Microsoft Office PowerPoint</Application>
  <PresentationFormat>Widescreen</PresentationFormat>
  <Paragraphs>100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Ikona</dc:creator>
  <cp:lastModifiedBy>Michael Ikona</cp:lastModifiedBy>
  <cp:revision>5</cp:revision>
  <dcterms:created xsi:type="dcterms:W3CDTF">2021-04-05T22:31:33Z</dcterms:created>
  <dcterms:modified xsi:type="dcterms:W3CDTF">2021-05-19T22:18:38Z</dcterms:modified>
</cp:coreProperties>
</file>
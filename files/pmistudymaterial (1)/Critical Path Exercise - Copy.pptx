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3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02F-40E6-46CE-8FB3-325A2F379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4BE91-99D2-488D-A066-72873101B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6988C-6A4C-4048-8762-229EA6F0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00E67-B5D2-4EE6-92C5-D16BF2315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6447B-AD38-4226-B9DF-CBDD7C3E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12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5824-6777-42D0-8E01-9E996A07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072C-16D3-4342-90EC-4BC55B99F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AF5B9-01DB-478A-95C1-BA3C93DA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71A9C-FE7F-4644-835A-EBB8B64C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5C89C-E8D9-4FDA-80C6-06DAFC8C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52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25E1-543F-4E0E-B662-208F82C41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81F17-7E71-4DC5-9F03-B26E06635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BE93C-BDF2-4CDB-9712-B69B0500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C0833-93D9-4317-80EF-3BDC90849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5BF6B-0B01-455C-9B87-826FA331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9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00AE-91EF-45E8-BDDF-C13AA068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45085-8B9D-4B92-AD26-8983C24F7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6BB6B-93B6-4DD9-A1F1-9D7F9C948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CACA8-D1D3-4BFD-BE72-F14B31D7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F716A-E5C1-45E5-AF69-CF7E990D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E5855-079D-4501-B93F-76942678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8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F3E2-53F3-45C1-9467-E522A67D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E212A-2197-4603-8D5A-8040CE22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06DD2-A99A-4A71-A6B1-E7DA4777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AB163-E965-4828-AF50-2DBD58BE6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FE89E-837A-46D6-AA97-266F4B00A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EE45F-95CF-42BA-9F3F-062BDFE6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02D03-C2F1-438A-AC1B-35FED690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B5773-B72F-4A55-87AF-853B5C15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50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C1704-F01D-4390-A8DA-CC2F7ADB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B79E1-F34B-4A31-B61D-97541E7DC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8008B-E0B4-44D8-9430-AD9735981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5E6D1-375A-4AF7-A77D-C6A14E97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3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BEECA-9F40-4A77-86FD-BF7E35B9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BFECE6-0232-47AA-A8AB-572DA6A6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55D28-DCE5-481C-B1CB-12A2C170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0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D16B-F78D-4218-BCB0-2F11EB4D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034E-D405-48CD-A30D-0F257419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CC7DE-EADD-458A-976C-2909AEEC7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AD42E-C035-465C-A355-CF174FF2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69829-D106-4A26-B7EB-B4787F9F0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8967B-36B2-4DE2-8B58-525EE986D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7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301F-979C-46D0-9A4A-BD6ED94E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32A224-97EC-44D2-ABCD-BA232DB93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C2E9B-40F6-48F2-8255-5A824E1A1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70EA4-7C38-4A12-BCDF-1D6D6566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602D0-C60C-4ED5-8F08-D3BB0734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FAF28-3B82-4108-B57A-AC459361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81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13A5F-2DC6-4EE2-85D5-B254182C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176A3-2FD6-4AB8-92D8-41336595B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36B0-18B2-4663-8F95-7FCE3CA3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B2C12-165E-4CF7-9667-122E1AE2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A021D-7753-48DC-B1F2-F4539105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62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DEAC76-3F27-4936-80F9-D9A4608E7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8231F-0A27-487C-AC12-65AE8E814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A8E90-5A88-4F6D-9396-EE8B3993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2AB96-DC12-4EDB-8BBE-5984DDF9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C41F3-723A-4E1D-A0AD-235B03D0B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7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6CB64-AB39-4E17-9333-670E3824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3809A-BE01-46F2-BBFF-0CEAE8E68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28730-83E4-428A-B4AA-4D9CDBF8A8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0A497-1EE6-483B-9D2D-91F484FDA857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C55AF-B5A1-4FB2-B1B8-117D8C784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62980-604D-469A-82CD-0887748B4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A00EC-453C-4500-B50F-AA29C75F6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7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E7CCE4-C97F-40E9-B19A-95288C181AD4}"/>
              </a:ext>
            </a:extLst>
          </p:cNvPr>
          <p:cNvSpPr/>
          <p:nvPr/>
        </p:nvSpPr>
        <p:spPr>
          <a:xfrm>
            <a:off x="1251921" y="426158"/>
            <a:ext cx="7273513" cy="34127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62E6F-B8FC-4E58-93AA-6853FC4BA9C8}"/>
              </a:ext>
            </a:extLst>
          </p:cNvPr>
          <p:cNvSpPr/>
          <p:nvPr/>
        </p:nvSpPr>
        <p:spPr>
          <a:xfrm>
            <a:off x="1673297" y="2681820"/>
            <a:ext cx="12030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/>
              <a:t>Duration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66A338-09D6-4659-BF18-60BC3BDF77A2}"/>
              </a:ext>
            </a:extLst>
          </p:cNvPr>
          <p:cNvSpPr/>
          <p:nvPr/>
        </p:nvSpPr>
        <p:spPr>
          <a:xfrm>
            <a:off x="3370412" y="1475937"/>
            <a:ext cx="12030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  <a:p>
            <a:pPr algn="ctr"/>
            <a:r>
              <a:rPr lang="en-US" dirty="0"/>
              <a:t>Duration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0BD097-D7D3-477A-9A80-E41F2044929D}"/>
              </a:ext>
            </a:extLst>
          </p:cNvPr>
          <p:cNvSpPr/>
          <p:nvPr/>
        </p:nvSpPr>
        <p:spPr>
          <a:xfrm>
            <a:off x="3370412" y="3909898"/>
            <a:ext cx="12030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  <a:p>
            <a:pPr algn="ctr"/>
            <a:r>
              <a:rPr lang="en-US" dirty="0"/>
              <a:t>Duration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7EF05D-2501-4536-B58E-AF5B23520ECB}"/>
              </a:ext>
            </a:extLst>
          </p:cNvPr>
          <p:cNvSpPr/>
          <p:nvPr/>
        </p:nvSpPr>
        <p:spPr>
          <a:xfrm>
            <a:off x="5431511" y="1475937"/>
            <a:ext cx="12030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  <a:p>
            <a:pPr algn="ctr"/>
            <a:r>
              <a:rPr lang="en-US" dirty="0"/>
              <a:t>Duration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48EC2-1807-4BED-A3C3-8F8783633076}"/>
              </a:ext>
            </a:extLst>
          </p:cNvPr>
          <p:cNvSpPr/>
          <p:nvPr/>
        </p:nvSpPr>
        <p:spPr>
          <a:xfrm>
            <a:off x="7082757" y="2681820"/>
            <a:ext cx="120306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  <a:p>
            <a:pPr algn="ctr"/>
            <a:r>
              <a:rPr lang="en-US" dirty="0"/>
              <a:t>Duration 8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EC8659-6573-49C2-8738-6DBF2338F78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876365" y="1933137"/>
            <a:ext cx="494047" cy="1205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9FA7B0-BD10-4794-AF66-0AAD2B1B46A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876365" y="3139020"/>
            <a:ext cx="494047" cy="1228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849705-C5EE-4F4D-82D1-A1B01967605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4573480" y="1933137"/>
            <a:ext cx="858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C738C7-9569-4B46-9910-D583C31A719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573480" y="1933137"/>
            <a:ext cx="858031" cy="2433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9F7A4-3C5A-4109-ACEE-4F0E27496EBE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634579" y="1933137"/>
            <a:ext cx="448178" cy="1205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D80ABF1-6594-4FBF-800F-BFEC669CBB53}"/>
              </a:ext>
            </a:extLst>
          </p:cNvPr>
          <p:cNvSpPr txBox="1"/>
          <p:nvPr/>
        </p:nvSpPr>
        <p:spPr>
          <a:xfrm>
            <a:off x="1719167" y="2343266"/>
            <a:ext cx="538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ES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4CE160-675F-4088-8534-44E991D30A70}"/>
              </a:ext>
            </a:extLst>
          </p:cNvPr>
          <p:cNvSpPr txBox="1"/>
          <p:nvPr/>
        </p:nvSpPr>
        <p:spPr>
          <a:xfrm>
            <a:off x="3370412" y="1147111"/>
            <a:ext cx="608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ES 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2AFAC3-8365-46E3-B831-863A7B5D7D58}"/>
              </a:ext>
            </a:extLst>
          </p:cNvPr>
          <p:cNvSpPr txBox="1"/>
          <p:nvPr/>
        </p:nvSpPr>
        <p:spPr>
          <a:xfrm>
            <a:off x="3370413" y="3571344"/>
            <a:ext cx="621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ES 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70FDB1-3131-4834-A2A6-13A171A31D07}"/>
              </a:ext>
            </a:extLst>
          </p:cNvPr>
          <p:cNvSpPr txBox="1"/>
          <p:nvPr/>
        </p:nvSpPr>
        <p:spPr>
          <a:xfrm>
            <a:off x="5417941" y="1137383"/>
            <a:ext cx="678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ES 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C002A9-6447-4981-867B-8149DEFCCDCB}"/>
              </a:ext>
            </a:extLst>
          </p:cNvPr>
          <p:cNvSpPr txBox="1"/>
          <p:nvPr/>
        </p:nvSpPr>
        <p:spPr>
          <a:xfrm>
            <a:off x="7103998" y="2329233"/>
            <a:ext cx="710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ES 16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011431-C367-41AB-80F9-5CF721E7CEB2}"/>
              </a:ext>
            </a:extLst>
          </p:cNvPr>
          <p:cNvSpPr txBox="1"/>
          <p:nvPr/>
        </p:nvSpPr>
        <p:spPr>
          <a:xfrm>
            <a:off x="7715331" y="3591292"/>
            <a:ext cx="654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LF 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BCA6DB-7841-4805-81A0-7026AA8371DE}"/>
              </a:ext>
            </a:extLst>
          </p:cNvPr>
          <p:cNvSpPr txBox="1"/>
          <p:nvPr/>
        </p:nvSpPr>
        <p:spPr>
          <a:xfrm>
            <a:off x="6088368" y="2380667"/>
            <a:ext cx="650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LF 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BA3A80-B219-49A6-803C-9167CD989EAE}"/>
              </a:ext>
            </a:extLst>
          </p:cNvPr>
          <p:cNvSpPr txBox="1"/>
          <p:nvPr/>
        </p:nvSpPr>
        <p:spPr>
          <a:xfrm>
            <a:off x="3991583" y="4794789"/>
            <a:ext cx="7152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LF 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2E0825-7460-43B8-BD90-DA5C3107DB1A}"/>
              </a:ext>
            </a:extLst>
          </p:cNvPr>
          <p:cNvSpPr txBox="1"/>
          <p:nvPr/>
        </p:nvSpPr>
        <p:spPr>
          <a:xfrm>
            <a:off x="3965290" y="2366204"/>
            <a:ext cx="670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LF 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247545-0691-431A-9F96-638284C6ECF9}"/>
              </a:ext>
            </a:extLst>
          </p:cNvPr>
          <p:cNvSpPr txBox="1"/>
          <p:nvPr/>
        </p:nvSpPr>
        <p:spPr>
          <a:xfrm>
            <a:off x="2309668" y="3566908"/>
            <a:ext cx="537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LF 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B194AA-FAC9-4CDF-B2E8-BFEDDBEF4675}"/>
              </a:ext>
            </a:extLst>
          </p:cNvPr>
          <p:cNvSpPr txBox="1"/>
          <p:nvPr/>
        </p:nvSpPr>
        <p:spPr>
          <a:xfrm>
            <a:off x="1941271" y="1805562"/>
            <a:ext cx="785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TF = 0</a:t>
            </a:r>
          </a:p>
          <a:p>
            <a:r>
              <a:rPr lang="en-US" sz="1600" dirty="0"/>
              <a:t>FF = 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93EFE2-13C1-4FDD-B4B4-8E7603C9B55D}"/>
              </a:ext>
            </a:extLst>
          </p:cNvPr>
          <p:cNvSpPr txBox="1"/>
          <p:nvPr/>
        </p:nvSpPr>
        <p:spPr>
          <a:xfrm>
            <a:off x="3638184" y="505723"/>
            <a:ext cx="785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TF = 0</a:t>
            </a:r>
          </a:p>
          <a:p>
            <a:r>
              <a:rPr lang="en-US" sz="1600" dirty="0"/>
              <a:t>FF = 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ADCAF-0172-4703-B976-FFDF7A41265C}"/>
              </a:ext>
            </a:extLst>
          </p:cNvPr>
          <p:cNvSpPr txBox="1"/>
          <p:nvPr/>
        </p:nvSpPr>
        <p:spPr>
          <a:xfrm>
            <a:off x="3616981" y="5156050"/>
            <a:ext cx="785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TF = 4</a:t>
            </a:r>
          </a:p>
          <a:p>
            <a:r>
              <a:rPr lang="en-US" sz="1600" dirty="0"/>
              <a:t>FF =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C3B832-ADBE-4871-99FC-D55A5793DE1B}"/>
              </a:ext>
            </a:extLst>
          </p:cNvPr>
          <p:cNvSpPr txBox="1"/>
          <p:nvPr/>
        </p:nvSpPr>
        <p:spPr>
          <a:xfrm>
            <a:off x="5710906" y="505723"/>
            <a:ext cx="785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TF = 0</a:t>
            </a:r>
          </a:p>
          <a:p>
            <a:r>
              <a:rPr lang="en-US" sz="1600" dirty="0"/>
              <a:t>FF = 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B1A184-23AE-4727-809A-1508828D058F}"/>
              </a:ext>
            </a:extLst>
          </p:cNvPr>
          <p:cNvSpPr txBox="1"/>
          <p:nvPr/>
        </p:nvSpPr>
        <p:spPr>
          <a:xfrm>
            <a:off x="7347230" y="2026032"/>
            <a:ext cx="785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TF = 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D422BB-8AA8-4D04-8B79-3650AD9DDBE5}"/>
              </a:ext>
            </a:extLst>
          </p:cNvPr>
          <p:cNvSpPr txBox="1"/>
          <p:nvPr/>
        </p:nvSpPr>
        <p:spPr>
          <a:xfrm>
            <a:off x="8637973" y="471711"/>
            <a:ext cx="3266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Forwards Pass – Start first activity on day 0 (Early Start = ES)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30B407-69AD-4D9F-A0D6-03FF63956D98}"/>
              </a:ext>
            </a:extLst>
          </p:cNvPr>
          <p:cNvSpPr txBox="1"/>
          <p:nvPr/>
        </p:nvSpPr>
        <p:spPr>
          <a:xfrm>
            <a:off x="8637973" y="717932"/>
            <a:ext cx="3266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Early Finish (EF) = Early Start + Duration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3256A1-913B-42D7-BDDD-690AF35F97DF}"/>
              </a:ext>
            </a:extLst>
          </p:cNvPr>
          <p:cNvSpPr txBox="1"/>
          <p:nvPr/>
        </p:nvSpPr>
        <p:spPr>
          <a:xfrm>
            <a:off x="8637973" y="1981938"/>
            <a:ext cx="3266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Backwards Pass – Last activity EF = Late Finish (LF)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75F01C-1BA9-410A-9066-823489F5928E}"/>
              </a:ext>
            </a:extLst>
          </p:cNvPr>
          <p:cNvSpPr txBox="1"/>
          <p:nvPr/>
        </p:nvSpPr>
        <p:spPr>
          <a:xfrm>
            <a:off x="8637972" y="2228159"/>
            <a:ext cx="32669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Late Start (LS) = LF – Duration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03CCE7-B0B3-4608-92DC-339B43332707}"/>
              </a:ext>
            </a:extLst>
          </p:cNvPr>
          <p:cNvSpPr txBox="1"/>
          <p:nvPr/>
        </p:nvSpPr>
        <p:spPr>
          <a:xfrm>
            <a:off x="8637972" y="973811"/>
            <a:ext cx="32669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Successor activity ES date = EF of predecessor (if multiple predecessors, use the higher number)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0120A2-4C29-4D77-9329-831FE2D7075E}"/>
              </a:ext>
            </a:extLst>
          </p:cNvPr>
          <p:cNvSpPr txBox="1"/>
          <p:nvPr/>
        </p:nvSpPr>
        <p:spPr>
          <a:xfrm>
            <a:off x="8678850" y="3205325"/>
            <a:ext cx="32669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Total Float (TF) calculated by LF – EF (Definition: how long can the activity be delayed without affecting the project completion date</a:t>
            </a:r>
          </a:p>
          <a:p>
            <a:endParaRPr lang="en-US" sz="1000" dirty="0"/>
          </a:p>
          <a:p>
            <a:r>
              <a:rPr lang="en-US" sz="1000" dirty="0"/>
              <a:t>Free Float (FF) calculated by taking EF and subtracting it from its successor activities ES (Definition: how long can I delay this activity without affecting the early start date of an immediate successor activity</a:t>
            </a:r>
          </a:p>
          <a:p>
            <a:endParaRPr lang="en-US" sz="1000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C4633537-0518-4062-80E7-2870052A7F55}"/>
              </a:ext>
            </a:extLst>
          </p:cNvPr>
          <p:cNvSpPr/>
          <p:nvPr/>
        </p:nvSpPr>
        <p:spPr>
          <a:xfrm>
            <a:off x="8622791" y="440789"/>
            <a:ext cx="3282164" cy="1035121"/>
          </a:xfrm>
          <a:prstGeom prst="frame">
            <a:avLst>
              <a:gd name="adj1" fmla="val 3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ame 45">
            <a:extLst>
              <a:ext uri="{FF2B5EF4-FFF2-40B4-BE49-F238E27FC236}">
                <a16:creationId xmlns:a16="http://schemas.microsoft.com/office/drawing/2014/main" id="{D92C727B-FA36-4DAD-AAE1-76F9826E4A0C}"/>
              </a:ext>
            </a:extLst>
          </p:cNvPr>
          <p:cNvSpPr/>
          <p:nvPr/>
        </p:nvSpPr>
        <p:spPr>
          <a:xfrm>
            <a:off x="8622791" y="1906943"/>
            <a:ext cx="3282164" cy="1035121"/>
          </a:xfrm>
          <a:prstGeom prst="frame">
            <a:avLst>
              <a:gd name="adj1" fmla="val 3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Frame 46">
            <a:extLst>
              <a:ext uri="{FF2B5EF4-FFF2-40B4-BE49-F238E27FC236}">
                <a16:creationId xmlns:a16="http://schemas.microsoft.com/office/drawing/2014/main" id="{A427F13F-4B1B-44EA-A1D7-29003E234EC7}"/>
              </a:ext>
            </a:extLst>
          </p:cNvPr>
          <p:cNvSpPr/>
          <p:nvPr/>
        </p:nvSpPr>
        <p:spPr>
          <a:xfrm>
            <a:off x="8637972" y="3150117"/>
            <a:ext cx="3282164" cy="1477328"/>
          </a:xfrm>
          <a:prstGeom prst="frame">
            <a:avLst>
              <a:gd name="adj1" fmla="val 3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F59FE3-FD49-4ED9-9D1A-391F58EEE817}"/>
              </a:ext>
            </a:extLst>
          </p:cNvPr>
          <p:cNvSpPr txBox="1"/>
          <p:nvPr/>
        </p:nvSpPr>
        <p:spPr>
          <a:xfrm>
            <a:off x="8678850" y="4835498"/>
            <a:ext cx="32669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Critical Path – longest chain of activities with the least amount of float.  Most often, critical path has ZERO float.  Any delays to activities on critical path usually correlates to a change to the go live date unless other action is taken to get the schedule back on track</a:t>
            </a:r>
          </a:p>
        </p:txBody>
      </p:sp>
      <p:sp>
        <p:nvSpPr>
          <p:cNvPr id="49" name="Frame 48">
            <a:extLst>
              <a:ext uri="{FF2B5EF4-FFF2-40B4-BE49-F238E27FC236}">
                <a16:creationId xmlns:a16="http://schemas.microsoft.com/office/drawing/2014/main" id="{8D627045-0983-48C0-B5CE-A533CBEB13B6}"/>
              </a:ext>
            </a:extLst>
          </p:cNvPr>
          <p:cNvSpPr/>
          <p:nvPr/>
        </p:nvSpPr>
        <p:spPr>
          <a:xfrm>
            <a:off x="8637972" y="4787597"/>
            <a:ext cx="3282164" cy="909675"/>
          </a:xfrm>
          <a:prstGeom prst="frame">
            <a:avLst>
              <a:gd name="adj1" fmla="val 3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428902-A64F-4446-8C22-C03464C829F9}"/>
              </a:ext>
            </a:extLst>
          </p:cNvPr>
          <p:cNvSpPr txBox="1"/>
          <p:nvPr/>
        </p:nvSpPr>
        <p:spPr>
          <a:xfrm>
            <a:off x="2257354" y="2343266"/>
            <a:ext cx="544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EF 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EE49F3-C175-4D15-9A34-3664A700FE62}"/>
              </a:ext>
            </a:extLst>
          </p:cNvPr>
          <p:cNvSpPr txBox="1"/>
          <p:nvPr/>
        </p:nvSpPr>
        <p:spPr>
          <a:xfrm>
            <a:off x="3978613" y="1148762"/>
            <a:ext cx="7962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EF 13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4F6EA-2313-48B7-9D51-D067112E60AD}"/>
              </a:ext>
            </a:extLst>
          </p:cNvPr>
          <p:cNvSpPr txBox="1"/>
          <p:nvPr/>
        </p:nvSpPr>
        <p:spPr>
          <a:xfrm>
            <a:off x="3979735" y="3571343"/>
            <a:ext cx="621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EF 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C731B9-A026-4F2D-991E-1BA9015B0CD7}"/>
              </a:ext>
            </a:extLst>
          </p:cNvPr>
          <p:cNvSpPr txBox="1"/>
          <p:nvPr/>
        </p:nvSpPr>
        <p:spPr>
          <a:xfrm>
            <a:off x="6033045" y="1142507"/>
            <a:ext cx="742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EF 16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A49015-8F8C-473D-9690-9EB5BD0A38A7}"/>
              </a:ext>
            </a:extLst>
          </p:cNvPr>
          <p:cNvSpPr txBox="1"/>
          <p:nvPr/>
        </p:nvSpPr>
        <p:spPr>
          <a:xfrm>
            <a:off x="7670556" y="2329233"/>
            <a:ext cx="710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EF 24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DE9C2A-869A-46E5-8350-8A73C7B73587}"/>
              </a:ext>
            </a:extLst>
          </p:cNvPr>
          <p:cNvSpPr txBox="1"/>
          <p:nvPr/>
        </p:nvSpPr>
        <p:spPr>
          <a:xfrm>
            <a:off x="7085163" y="3591292"/>
            <a:ext cx="654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LS 16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BC7115-A19B-4D16-BA95-E4C67979DE6E}"/>
              </a:ext>
            </a:extLst>
          </p:cNvPr>
          <p:cNvSpPr txBox="1"/>
          <p:nvPr/>
        </p:nvSpPr>
        <p:spPr>
          <a:xfrm>
            <a:off x="5452752" y="2375774"/>
            <a:ext cx="631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LS 13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25053C-06F9-491A-B384-6F62862E904B}"/>
              </a:ext>
            </a:extLst>
          </p:cNvPr>
          <p:cNvSpPr txBox="1"/>
          <p:nvPr/>
        </p:nvSpPr>
        <p:spPr>
          <a:xfrm>
            <a:off x="3415807" y="4794789"/>
            <a:ext cx="562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LS 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4188F7-19CF-4A30-9AFB-4142FDB96898}"/>
              </a:ext>
            </a:extLst>
          </p:cNvPr>
          <p:cNvSpPr txBox="1"/>
          <p:nvPr/>
        </p:nvSpPr>
        <p:spPr>
          <a:xfrm>
            <a:off x="3360282" y="2364586"/>
            <a:ext cx="611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LS 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EF5FB0-6DC7-4BD7-9521-07BBF5CC2961}"/>
              </a:ext>
            </a:extLst>
          </p:cNvPr>
          <p:cNvSpPr txBox="1"/>
          <p:nvPr/>
        </p:nvSpPr>
        <p:spPr>
          <a:xfrm>
            <a:off x="1701327" y="3566908"/>
            <a:ext cx="537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LS 0</a:t>
            </a:r>
          </a:p>
        </p:txBody>
      </p:sp>
    </p:spTree>
    <p:extLst>
      <p:ext uri="{BB962C8B-B14F-4D97-AF65-F5344CB8AC3E}">
        <p14:creationId xmlns:p14="http://schemas.microsoft.com/office/powerpoint/2010/main" val="220558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1961</TotalTime>
  <Words>262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Ikona</dc:creator>
  <cp:lastModifiedBy>Michael Ikona</cp:lastModifiedBy>
  <cp:revision>11</cp:revision>
  <dcterms:created xsi:type="dcterms:W3CDTF">2021-01-31T23:12:39Z</dcterms:created>
  <dcterms:modified xsi:type="dcterms:W3CDTF">2021-03-25T21:02:10Z</dcterms:modified>
</cp:coreProperties>
</file>
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AAF6-ECC5-419B-9A8A-E1D6EBBB1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B8894-D3D3-4087-896A-2BB39BDD7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7170-A656-4D16-B1DF-7CB36A51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C9301-85EA-4D78-A540-FB162367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773C-A25E-4FC7-8BAA-84354A48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0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106C-2E18-4CC9-B354-61E7B1523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97047-7E01-4B2E-98BE-ACAE3CDC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5176-C829-4A36-B4A4-DB298372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676B1-7879-43E5-83CF-C3FC3C9D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E188-D85B-4651-8605-73D9BA23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B77F-E80D-441F-8492-705A5726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2F38D-A5CC-4F15-B51A-D96D1668C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2790-54D1-455F-BB62-0C7639E8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7362-E180-4780-B4F6-75F5B8C0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BB364-1CA9-4D05-91B0-937A6AFD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2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29E8-CF9A-4BD5-A1A0-1B70E26D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3E0D-B657-421E-952F-DAE5D5D0C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C8CC1-DCB9-447A-8C61-85EE4E5AE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F1149-5771-400E-B3E3-014F9E93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83367-2C0D-41C8-A66A-D361B169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FAE28-5ECE-4D69-9A20-F3DC2A39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56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09F5-29A5-44AD-AE1B-4DA34E12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A2C1C-ABFF-4C1E-B86C-D80442CF2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C78B9-7800-45EC-80DE-B917AC946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E2774-B017-461C-8DCE-2DBDB2959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636E8-ADA4-4411-869E-1096DD696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684DEB-8B83-4ADC-AC33-043C443B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B6A1F-9ABE-4D60-90B9-81343C19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2826B-0C73-4C60-93CF-4109FCC3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2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2364-EE97-4F6C-AD8E-C2952624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F2B86-3A1C-47D4-ABA2-F0F98E53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8139B-B1A1-4702-B925-3B57E32B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CBDC0-B1D7-474F-8880-B753B87E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0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A50F-EC84-4BF4-91C9-F1A66092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68D70-02F4-48C4-9FBD-658FEBBE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FB8A-0DE0-4E9E-B5BD-8C0AF684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73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47AB-1997-43AA-ACE9-5EC81EE3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F7E13-B9C3-41D3-A722-A68AAA3B9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93AD2-AF31-4088-B467-DD4DF1EEF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0C357-070B-4457-A77D-134F9B85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276E3-BA0C-4047-A954-D760B6E1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078E3-AFB6-4B78-8B74-92229DE2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0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69FC-C047-4773-8979-BBAA258F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225B4-BFC3-46C4-9813-DCA43485A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911CE-62D1-4E63-AF3F-D1C69F6F0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90F6C-F9ED-46AF-927D-077688A9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72E73-65DD-463B-B57E-2926E901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15299-93F6-46B1-81E2-D86822C7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7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C812-F8C2-45AC-BED6-0665ECDD0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12F25-07F1-484E-B700-B703CE23C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D98AE-6236-4F43-820E-B0261720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280F-200D-45D5-87E8-C8B8DBA0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0D2D0-5A9F-493F-B2C4-B0D818D7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C6F1F0-9DB8-475B-890F-980519B13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30869-71D2-4D61-B059-FBF0E7840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D2A17-7E56-483B-8E0B-B46990B8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DEEE-5DD6-4607-BE62-A66E046E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C14C-4041-49CD-9C02-30120BE8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9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76156-C09C-4242-AB1E-BBC7CBE0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20E29-28C2-4AF9-9A9A-ECA604C3D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CBE77-4699-418E-B23F-7B73BC9D3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E28D3-8DDE-4234-AB4B-10AAE80118D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F718A-3C7E-40AD-9227-7C8297986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9BA46-DF9E-4C37-A1EF-F462BE9DB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EDB51-8DD7-49EC-877D-E3074DC5F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2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15530A-D5BF-4278-9DAA-631C67973116}"/>
              </a:ext>
            </a:extLst>
          </p:cNvPr>
          <p:cNvSpPr/>
          <p:nvPr/>
        </p:nvSpPr>
        <p:spPr>
          <a:xfrm>
            <a:off x="475956" y="2814423"/>
            <a:ext cx="2817657" cy="3826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Work Package</a:t>
            </a:r>
          </a:p>
          <a:p>
            <a:pPr algn="ctr"/>
            <a:r>
              <a:rPr lang="en-US" sz="2800" dirty="0"/>
              <a:t>Drywall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Cut drywall                $10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Activity Risk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Bad Cuts     $5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Hang drywall             $40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Spray Texture            </a:t>
            </a:r>
            <a:r>
              <a:rPr lang="en-US" u="sng" dirty="0"/>
              <a:t>$30</a:t>
            </a:r>
          </a:p>
          <a:p>
            <a:r>
              <a:rPr lang="en-US" dirty="0"/>
              <a:t>SUBTOTAL                       $85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Package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Late Crew          </a:t>
            </a:r>
            <a:r>
              <a:rPr lang="en-US" u="sng" dirty="0"/>
              <a:t>$10</a:t>
            </a:r>
          </a:p>
          <a:p>
            <a:pPr marL="0" lvl="1"/>
            <a:r>
              <a:rPr lang="en-US" b="1" dirty="0"/>
              <a:t>GRAND TOTAL                $95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C7458-52E0-4D98-83B7-0D9EEFD07E5C}"/>
              </a:ext>
            </a:extLst>
          </p:cNvPr>
          <p:cNvSpPr txBox="1"/>
          <p:nvPr/>
        </p:nvSpPr>
        <p:spPr>
          <a:xfrm>
            <a:off x="475956" y="1570629"/>
            <a:ext cx="2817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Rollup Work Package Total:</a:t>
            </a:r>
            <a:r>
              <a:rPr lang="en-US" dirty="0"/>
              <a:t> Include activity and work package level contingences.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72A1D6-D7DD-4A67-A9F9-EFFD4CACCA7A}"/>
              </a:ext>
            </a:extLst>
          </p:cNvPr>
          <p:cNvSpPr/>
          <p:nvPr/>
        </p:nvSpPr>
        <p:spPr>
          <a:xfrm>
            <a:off x="5554460" y="4032143"/>
            <a:ext cx="114817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Frame - $200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BC776-AD41-431D-8CBA-930D5B0F11F6}"/>
              </a:ext>
            </a:extLst>
          </p:cNvPr>
          <p:cNvSpPr/>
          <p:nvPr/>
        </p:nvSpPr>
        <p:spPr>
          <a:xfrm>
            <a:off x="5554460" y="5252821"/>
            <a:ext cx="114818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Drywall - $95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755914-7B18-446F-9FB7-4E8773D3C3A1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5020321" y="3955204"/>
            <a:ext cx="760520" cy="30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6BF5F66-7A61-4F19-B8B7-92C9D686A99B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4409982" y="4565543"/>
            <a:ext cx="1981198" cy="30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EC97D7-D2CC-446E-9585-77A659E16C9B}"/>
              </a:ext>
            </a:extLst>
          </p:cNvPr>
          <p:cNvSpPr txBox="1"/>
          <p:nvPr/>
        </p:nvSpPr>
        <p:spPr>
          <a:xfrm>
            <a:off x="3735899" y="1548434"/>
            <a:ext cx="3021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Rollup / Aggregate Work Packages to Control Account:</a:t>
            </a:r>
            <a:r>
              <a:rPr lang="en-US" dirty="0"/>
              <a:t> Include activity and work package level contingences.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9D0E9-293D-4CDE-AAFB-688D1F03A187}"/>
              </a:ext>
            </a:extLst>
          </p:cNvPr>
          <p:cNvSpPr txBox="1"/>
          <p:nvPr/>
        </p:nvSpPr>
        <p:spPr>
          <a:xfrm>
            <a:off x="6989566" y="1807692"/>
            <a:ext cx="3021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 Control Accounts totals to calculate your Cost Baseline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2F495-5E85-4740-AD6A-30DCACA3B9D8}"/>
              </a:ext>
            </a:extLst>
          </p:cNvPr>
          <p:cNvSpPr/>
          <p:nvPr/>
        </p:nvSpPr>
        <p:spPr>
          <a:xfrm>
            <a:off x="7075505" y="2814423"/>
            <a:ext cx="114817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Walls $295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E9D71C-DEA9-403D-89B1-546FF206110E}"/>
              </a:ext>
            </a:extLst>
          </p:cNvPr>
          <p:cNvSpPr/>
          <p:nvPr/>
        </p:nvSpPr>
        <p:spPr>
          <a:xfrm>
            <a:off x="8577311" y="2814422"/>
            <a:ext cx="114817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Electrical $50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1C2C-40FB-4912-B1BC-4EA4C9DBE209}"/>
              </a:ext>
            </a:extLst>
          </p:cNvPr>
          <p:cNvSpPr/>
          <p:nvPr/>
        </p:nvSpPr>
        <p:spPr>
          <a:xfrm>
            <a:off x="7548880" y="4032143"/>
            <a:ext cx="176665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$345 Cost Baseline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16E866-0AF2-4FB5-B023-8711B995860A}"/>
              </a:ext>
            </a:extLst>
          </p:cNvPr>
          <p:cNvSpPr txBox="1"/>
          <p:nvPr/>
        </p:nvSpPr>
        <p:spPr>
          <a:xfrm>
            <a:off x="10021532" y="1253694"/>
            <a:ext cx="1955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 Management Reserves to your Cost Baseline to calculate your Budget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102C00-FBC8-4A61-8588-14E44412AD53}"/>
              </a:ext>
            </a:extLst>
          </p:cNvPr>
          <p:cNvSpPr/>
          <p:nvPr/>
        </p:nvSpPr>
        <p:spPr>
          <a:xfrm>
            <a:off x="10120549" y="2814422"/>
            <a:ext cx="71760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$345 Cost Baseline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B11F83-DCAD-4C0C-828F-57D860585BF1}"/>
              </a:ext>
            </a:extLst>
          </p:cNvPr>
          <p:cNvSpPr txBox="1"/>
          <p:nvPr/>
        </p:nvSpPr>
        <p:spPr>
          <a:xfrm>
            <a:off x="10838158" y="2946432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BA843B-9F44-4A8D-8A32-E38454269662}"/>
              </a:ext>
            </a:extLst>
          </p:cNvPr>
          <p:cNvSpPr txBox="1"/>
          <p:nvPr/>
        </p:nvSpPr>
        <p:spPr>
          <a:xfrm>
            <a:off x="8204847" y="2946433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543183-BE23-410B-9191-BB1D4D8F90BC}"/>
              </a:ext>
            </a:extLst>
          </p:cNvPr>
          <p:cNvSpPr/>
          <p:nvPr/>
        </p:nvSpPr>
        <p:spPr>
          <a:xfrm>
            <a:off x="11252054" y="2814422"/>
            <a:ext cx="78862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$35 Management Reserves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98EF80-82B1-4B87-A7CE-0B72A087040E}"/>
              </a:ext>
            </a:extLst>
          </p:cNvPr>
          <p:cNvSpPr/>
          <p:nvPr/>
        </p:nvSpPr>
        <p:spPr>
          <a:xfrm>
            <a:off x="10161778" y="4032143"/>
            <a:ext cx="176665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$380 Budget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3B5962-2702-418D-BC16-C2351256BDB4}"/>
              </a:ext>
            </a:extLst>
          </p:cNvPr>
          <p:cNvSpPr/>
          <p:nvPr/>
        </p:nvSpPr>
        <p:spPr>
          <a:xfrm>
            <a:off x="3768570" y="2811465"/>
            <a:ext cx="291187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Control Account</a:t>
            </a:r>
          </a:p>
          <a:p>
            <a:pPr algn="ctr"/>
            <a:r>
              <a:rPr lang="en-US" sz="2800" dirty="0"/>
              <a:t>Walls – $295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7AE7B-23FE-450D-AF7D-584AFAAA4B2B}"/>
              </a:ext>
            </a:extLst>
          </p:cNvPr>
          <p:cNvSpPr txBox="1"/>
          <p:nvPr/>
        </p:nvSpPr>
        <p:spPr>
          <a:xfrm>
            <a:off x="685800" y="318826"/>
            <a:ext cx="108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Calculate Cost Baseline &amp; Budget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9721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 animBg="1"/>
      <p:bldP spid="19" grpId="0"/>
      <p:bldP spid="20" grpId="0"/>
      <p:bldP spid="21" grpId="0" animBg="1"/>
      <p:bldP spid="22" grpId="0" animBg="1"/>
      <p:bldP spid="24" grpId="0" animBg="1"/>
      <p:bldP spid="25" grpId="0"/>
      <p:bldP spid="26" grpId="0" animBg="1"/>
      <p:bldP spid="28" grpId="0"/>
      <p:bldP spid="29" grpId="0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127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8</cp:revision>
  <dcterms:created xsi:type="dcterms:W3CDTF">2021-02-23T13:24:07Z</dcterms:created>
  <dcterms:modified xsi:type="dcterms:W3CDTF">2021-03-25T21:02:21Z</dcterms:modified>
</cp:coreProperties>
</file>
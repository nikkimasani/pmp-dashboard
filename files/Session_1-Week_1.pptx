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31"/>
  </p:notesMasterIdLst>
  <p:sldIdLst>
    <p:sldId id="278" r:id="rId2"/>
    <p:sldId id="288" r:id="rId3"/>
    <p:sldId id="292" r:id="rId4"/>
    <p:sldId id="279" r:id="rId5"/>
    <p:sldId id="281" r:id="rId6"/>
    <p:sldId id="283"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 id="310" r:id="rId24"/>
    <p:sldId id="311" r:id="rId25"/>
    <p:sldId id="312" r:id="rId26"/>
    <p:sldId id="314" r:id="rId27"/>
    <p:sldId id="315" r:id="rId28"/>
    <p:sldId id="313" r:id="rId29"/>
    <p:sldId id="293" r:id="rId30"/>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09" autoAdjust="0"/>
  </p:normalViewPr>
  <p:slideViewPr>
    <p:cSldViewPr snapToGrid="0" snapToObjects="1">
      <p:cViewPr>
        <p:scale>
          <a:sx n="125" d="100"/>
          <a:sy n="125" d="100"/>
        </p:scale>
        <p:origin x="-144" y="90"/>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a:extLst>
              <a:ext uri="{FF2B5EF4-FFF2-40B4-BE49-F238E27FC236}">
                <a16:creationId xmlns:a16="http://schemas.microsoft.com/office/drawing/2014/main" id="{BA5D5A72-CB6F-F8DE-E2C9-90459C8C3DC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Lst>
          </p:cNvPr>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799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descr="preencoded.png">
            <a:extLst>
              <a:ext uri="{FF2B5EF4-FFF2-40B4-BE49-F238E27FC236}">
                <a16:creationId xmlns:a16="http://schemas.microsoft.com/office/drawing/2014/main" id="{EFFAEAD9-58A9-096B-C6D0-58F7AD08EB20}"/>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C35EFB42-020B-1DF4-3D42-26092CE45F08}"/>
              </a:ext>
            </a:extLst>
          </p:cNvPr>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id="{AB4DD322-D1E0-74CB-BBFF-057426E58EBC}"/>
              </a:ext>
            </a:extLst>
          </p:cNvPr>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id="{C11D3FCE-EC92-8558-A3E5-04DB12477A3B}"/>
              </a:ext>
            </a:extLst>
          </p:cNvPr>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r>
              <a:rPr lang="en-US"/>
              <a:t>Presentation title</a:t>
            </a:r>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t>‹#›</a:t>
            </a:fld>
            <a:endParaRPr lang="en-US" dirty="0"/>
          </a:p>
        </p:txBody>
      </p:sp>
      <p:sp>
        <p:nvSpPr>
          <p:cNvPr id="17" name="Freeform: Shape 16">
            <a:extLst>
              <a:ext uri="{FF2B5EF4-FFF2-40B4-BE49-F238E27FC236}">
                <a16:creationId xmlns:a16="http://schemas.microsoft.com/office/drawing/2014/main" id="{217CBC9E-B934-828F-2AE5-211CEF5B1D25}"/>
              </a:ext>
            </a:extLst>
          </p:cNvPr>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77218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3D352B04-96E6-839B-9D92-EE98385C4D49}"/>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6" name="Freeform: Shape 45">
            <a:extLst>
              <a:ext uri="{FF2B5EF4-FFF2-40B4-BE49-F238E27FC236}">
                <a16:creationId xmlns:a16="http://schemas.microsoft.com/office/drawing/2014/main" id="{723D98FB-5EB7-A8DF-8470-B23A80D669E4}"/>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3" name="Freeform: Shape 42">
            <a:extLst>
              <a:ext uri="{FF2B5EF4-FFF2-40B4-BE49-F238E27FC236}">
                <a16:creationId xmlns:a16="http://schemas.microsoft.com/office/drawing/2014/main" id="{4550F3CE-BAE9-3916-42CA-F4D906FA5173}"/>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9" name="Freeform: Shape 48">
            <a:extLst>
              <a:ext uri="{FF2B5EF4-FFF2-40B4-BE49-F238E27FC236}">
                <a16:creationId xmlns:a16="http://schemas.microsoft.com/office/drawing/2014/main" id="{D83F65A0-0C52-48AD-DC5D-B5D3BF3CC188}"/>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0" name="Freeform: Shape 39">
            <a:extLst>
              <a:ext uri="{FF2B5EF4-FFF2-40B4-BE49-F238E27FC236}">
                <a16:creationId xmlns:a16="http://schemas.microsoft.com/office/drawing/2014/main" id="{F8FA7F58-C470-6376-9DB1-DE7034C491E8}"/>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7" name="Freeform: Shape 36">
            <a:extLst>
              <a:ext uri="{FF2B5EF4-FFF2-40B4-BE49-F238E27FC236}">
                <a16:creationId xmlns:a16="http://schemas.microsoft.com/office/drawing/2014/main" id="{B27C9E57-563E-7980-7B3C-45FAD9C386F4}"/>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0804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457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a:extLst>
              <a:ext uri="{FF2B5EF4-FFF2-40B4-BE49-F238E27FC236}">
                <a16:creationId xmlns:a16="http://schemas.microsoft.com/office/drawing/2014/main" id="{A493C80D-2813-9E70-8901-D4B9EA4DD7EA}"/>
              </a:ext>
            </a:extLst>
          </p:cNvPr>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id="{A2733C45-7C53-2BC5-3F62-D069650A79C9}"/>
              </a:ext>
            </a:extLst>
          </p:cNvPr>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p>
        </p:txBody>
      </p:sp>
      <p:sp>
        <p:nvSpPr>
          <p:cNvPr id="56" name="Text Placeholder 54">
            <a:extLst>
              <a:ext uri="{FF2B5EF4-FFF2-40B4-BE49-F238E27FC236}">
                <a16:creationId xmlns:a16="http://schemas.microsoft.com/office/drawing/2014/main"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
        <p:nvSpPr>
          <p:cNvPr id="32" name="Image 1" descr="preencoded.png">
            <a:extLst>
              <a:ext uri="{FF2B5EF4-FFF2-40B4-BE49-F238E27FC236}">
                <a16:creationId xmlns:a16="http://schemas.microsoft.com/office/drawing/2014/main" id="{2A3EC91E-4089-D366-06D3-3E66F93DFAF3}"/>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a:extLst>
              <a:ext uri="{FF2B5EF4-FFF2-40B4-BE49-F238E27FC236}">
                <a16:creationId xmlns:a16="http://schemas.microsoft.com/office/drawing/2014/main" id="{EC46DC71-C12A-96C8-3FE2-AA95AB58B349}"/>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p>
        </p:txBody>
      </p:sp>
    </p:spTree>
    <p:extLst>
      <p:ext uri="{BB962C8B-B14F-4D97-AF65-F5344CB8AC3E}">
        <p14:creationId xmlns:p14="http://schemas.microsoft.com/office/powerpoint/2010/main" val="258665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p>
        </p:txBody>
      </p:sp>
    </p:spTree>
    <p:extLst>
      <p:ext uri="{BB962C8B-B14F-4D97-AF65-F5344CB8AC3E}">
        <p14:creationId xmlns:p14="http://schemas.microsoft.com/office/powerpoint/2010/main" val="190070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950ED98-B5D1-206C-403F-FA954F9D2CFF}"/>
              </a:ext>
            </a:extLst>
          </p:cNvPr>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8643CE-01D9-3E5E-15F6-20689F775F15}"/>
              </a:ext>
            </a:extLst>
          </p:cNvPr>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AF82DDD-EDEC-7D87-F43A-113C5E4A4FE7}"/>
              </a:ext>
            </a:extLst>
          </p:cNvPr>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7E492E-967F-54B7-55B1-08A5E1C3615B}"/>
              </a:ext>
            </a:extLst>
          </p:cNvPr>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0053FE-E44A-CA97-F782-67FC633E722E}"/>
              </a:ext>
            </a:extLst>
          </p:cNvPr>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Tree>
    <p:extLst>
      <p:ext uri="{BB962C8B-B14F-4D97-AF65-F5344CB8AC3E}">
        <p14:creationId xmlns:p14="http://schemas.microsoft.com/office/powerpoint/2010/main" val="872516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E2DECB02-D9CE-E57A-0604-BFF41EC38AFA}"/>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id="{68E760EA-7D83-1DF2-A8EE-4F218084E74F}"/>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FF3F3353-78A1-F584-81A6-9513382DF18F}"/>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471A846E-CBB1-9805-456D-0C0B890912B7}"/>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30" name="Image 2" descr="preencoded.png">
            <a:extLst>
              <a:ext uri="{FF2B5EF4-FFF2-40B4-BE49-F238E27FC236}">
                <a16:creationId xmlns:a16="http://schemas.microsoft.com/office/drawing/2014/main" id="{790E862E-398F-571C-EC2C-3D17164DE059}"/>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6" name="Text Placeholder 51">
            <a:extLst>
              <a:ext uri="{FF2B5EF4-FFF2-40B4-BE49-F238E27FC236}">
                <a16:creationId xmlns:a16="http://schemas.microsoft.com/office/drawing/2014/main" id="{9FBDF935-4925-03EC-CBC9-1EBA90DF849B}"/>
              </a:ext>
            </a:extLst>
          </p:cNvPr>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7" name="Text Placeholder 51">
            <a:extLst>
              <a:ext uri="{FF2B5EF4-FFF2-40B4-BE49-F238E27FC236}">
                <a16:creationId xmlns:a16="http://schemas.microsoft.com/office/drawing/2014/main" id="{9BB76AA7-442D-54A7-D075-C67F47438963}"/>
              </a:ext>
            </a:extLst>
          </p:cNvPr>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8" name="Text Placeholder 51">
            <a:extLst>
              <a:ext uri="{FF2B5EF4-FFF2-40B4-BE49-F238E27FC236}">
                <a16:creationId xmlns:a16="http://schemas.microsoft.com/office/drawing/2014/main" id="{9E419856-1586-F2D8-A1B4-F67FEE9839DF}"/>
              </a:ext>
            </a:extLst>
          </p:cNvPr>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9" name="Text Placeholder 51">
            <a:extLst>
              <a:ext uri="{FF2B5EF4-FFF2-40B4-BE49-F238E27FC236}">
                <a16:creationId xmlns:a16="http://schemas.microsoft.com/office/drawing/2014/main" id="{AED74DD2-EAE3-76BF-56B9-C04FCED1F2DB}"/>
              </a:ext>
            </a:extLst>
          </p:cNvPr>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40" name="Text Placeholder 51">
            <a:extLst>
              <a:ext uri="{FF2B5EF4-FFF2-40B4-BE49-F238E27FC236}">
                <a16:creationId xmlns:a16="http://schemas.microsoft.com/office/drawing/2014/main" id="{0A39AD48-2F98-C0C9-DE08-CED7EBF816B2}"/>
              </a:ext>
            </a:extLst>
          </p:cNvPr>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cxnSp>
        <p:nvCxnSpPr>
          <p:cNvPr id="42" name="Straight Connector 41">
            <a:extLst>
              <a:ext uri="{FF2B5EF4-FFF2-40B4-BE49-F238E27FC236}">
                <a16:creationId xmlns:a16="http://schemas.microsoft.com/office/drawing/2014/main" id="{E6BE61D7-B0A3-902B-4F58-727982880EF5}"/>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3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a:extLst>
              <a:ext uri="{FF2B5EF4-FFF2-40B4-BE49-F238E27FC236}">
                <a16:creationId xmlns:a16="http://schemas.microsoft.com/office/drawing/2014/main"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a:extLst>
              <a:ext uri="{FF2B5EF4-FFF2-40B4-BE49-F238E27FC236}">
                <a16:creationId xmlns:a16="http://schemas.microsoft.com/office/drawing/2014/main" id="{951C5737-DF7E-D671-AC74-9E488335BCA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a:extLst>
              <a:ext uri="{FF2B5EF4-FFF2-40B4-BE49-F238E27FC236}">
                <a16:creationId xmlns:a16="http://schemas.microsoft.com/office/drawing/2014/main"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a:extLst>
              <a:ext uri="{FF2B5EF4-FFF2-40B4-BE49-F238E27FC236}">
                <a16:creationId xmlns:a16="http://schemas.microsoft.com/office/drawing/2014/main" id="{86E0540C-3355-A50D-AC61-047B54B70C6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71031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992124"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4722876"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8371332"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Tree>
    <p:extLst>
      <p:ext uri="{BB962C8B-B14F-4D97-AF65-F5344CB8AC3E}">
        <p14:creationId xmlns:p14="http://schemas.microsoft.com/office/powerpoint/2010/main" val="1268954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a:extLst>
              <a:ext uri="{FF2B5EF4-FFF2-40B4-BE49-F238E27FC236}">
                <a16:creationId xmlns:a16="http://schemas.microsoft.com/office/drawing/2014/main" id="{ABC388A2-FFC7-1A87-02FB-C97B50161FD3}"/>
              </a:ext>
            </a:extLst>
          </p:cNvPr>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a:extLst>
              <a:ext uri="{FF2B5EF4-FFF2-40B4-BE49-F238E27FC236}">
                <a16:creationId xmlns:a16="http://schemas.microsoft.com/office/drawing/2014/main" id="{D64C4994-B525-F4C0-B74F-D5E8296DFC43}"/>
              </a:ext>
            </a:extLst>
          </p:cNvPr>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a:extLst>
              <a:ext uri="{FF2B5EF4-FFF2-40B4-BE49-F238E27FC236}">
                <a16:creationId xmlns:a16="http://schemas.microsoft.com/office/drawing/2014/main" id="{9019DA73-2516-F3D2-ECDB-620C90483DB3}"/>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a:extLst>
              <a:ext uri="{FF2B5EF4-FFF2-40B4-BE49-F238E27FC236}">
                <a16:creationId xmlns:a16="http://schemas.microsoft.com/office/drawing/2014/main" id="{FEA70E9F-C506-413C-11EF-5915A2296643}"/>
              </a:ext>
            </a:extLst>
          </p:cNvPr>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a:extLst>
              <a:ext uri="{FF2B5EF4-FFF2-40B4-BE49-F238E27FC236}">
                <a16:creationId xmlns:a16="http://schemas.microsoft.com/office/drawing/2014/main" id="{A8B7F1F1-806C-8D65-7340-220A0C4653C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991886" y="3441269"/>
            <a:ext cx="2200114" cy="2200114"/>
          </a:xfrm>
          <a:prstGeom prst="rect">
            <a:avLst/>
          </a:prstGeom>
        </p:spPr>
      </p:pic>
      <p:sp>
        <p:nvSpPr>
          <p:cNvPr id="54" name="Image 2" descr="preencoded.png">
            <a:extLst>
              <a:ext uri="{FF2B5EF4-FFF2-40B4-BE49-F238E27FC236}">
                <a16:creationId xmlns:a16="http://schemas.microsoft.com/office/drawing/2014/main" id="{F19C81EC-0322-58A2-C455-6E2C84D1E6E8}"/>
              </a:ext>
            </a:extLst>
          </p:cNvPr>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
        <p:nvSpPr>
          <p:cNvPr id="4" name="Footer Placeholder 3">
            <a:extLst>
              <a:ext uri="{FF2B5EF4-FFF2-40B4-BE49-F238E27FC236}">
                <a16:creationId xmlns:a16="http://schemas.microsoft.com/office/drawing/2014/main" id="{E1F9FD95-086F-282B-820C-8CDAD4A6EEB6}"/>
              </a:ext>
            </a:extLst>
          </p:cNvPr>
          <p:cNvSpPr>
            <a:spLocks noGrp="1"/>
          </p:cNvSpPr>
          <p:nvPr>
            <p:ph type="ftr" sz="quarter" idx="13"/>
          </p:nvPr>
        </p:nvSpPr>
        <p:spPr/>
        <p:txBody>
          <a:bodyPr/>
          <a:lstStyle/>
          <a:p>
            <a:r>
              <a:rPr lang="en-US"/>
              <a:t>Presentation title</a:t>
            </a:r>
            <a:endParaRPr lang="en-US" dirty="0"/>
          </a:p>
        </p:txBody>
      </p:sp>
    </p:spTree>
    <p:extLst>
      <p:ext uri="{BB962C8B-B14F-4D97-AF65-F5344CB8AC3E}">
        <p14:creationId xmlns:p14="http://schemas.microsoft.com/office/powerpoint/2010/main" val="4248485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descr="preencoded.png">
            <a:extLst>
              <a:ext uri="{FF2B5EF4-FFF2-40B4-BE49-F238E27FC236}">
                <a16:creationId xmlns:a16="http://schemas.microsoft.com/office/drawing/2014/main" id="{FEB515B5-2D9F-58E1-6E3C-CCBF105D891E}"/>
              </a:ext>
            </a:extLst>
          </p:cNvPr>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a:extLst>
              <a:ext uri="{FF2B5EF4-FFF2-40B4-BE49-F238E27FC236}">
                <a16:creationId xmlns:a16="http://schemas.microsoft.com/office/drawing/2014/main" id="{5CCFEDF9-5B69-87BA-8A33-35033DA4013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72898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a:extLst>
              <a:ext uri="{FF2B5EF4-FFF2-40B4-BE49-F238E27FC236}">
                <a16:creationId xmlns:a16="http://schemas.microsoft.com/office/drawing/2014/main" id="{8D5D10FF-3DE5-39CA-FA9A-29A09DC47BF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a:extLst>
              <a:ext uri="{FF2B5EF4-FFF2-40B4-BE49-F238E27FC236}">
                <a16:creationId xmlns:a16="http://schemas.microsoft.com/office/drawing/2014/main" id="{BFA89E6A-8342-AE30-45E0-BC1DFE3276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id="{A08309FA-889A-E2F2-1EDA-F872245F5FDF}"/>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a:extLst>
              <a:ext uri="{FF2B5EF4-FFF2-40B4-BE49-F238E27FC236}">
                <a16:creationId xmlns:a16="http://schemas.microsoft.com/office/drawing/2014/main" id="{D9D7EB49-4BC9-040F-C4CC-5771C5FB312B}"/>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a:extLst>
              <a:ext uri="{FF2B5EF4-FFF2-40B4-BE49-F238E27FC236}">
                <a16:creationId xmlns:a16="http://schemas.microsoft.com/office/drawing/2014/main" id="{3CE04498-C285-EFB8-340C-1A064078152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
        <p:nvSpPr>
          <p:cNvPr id="18" name="Title 19">
            <a:extLst>
              <a:ext uri="{FF2B5EF4-FFF2-40B4-BE49-F238E27FC236}">
                <a16:creationId xmlns:a16="http://schemas.microsoft.com/office/drawing/2014/main" id="{9CBE0ADC-7FA0-F7E3-96EF-BBACB6A9076E}"/>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0F9C0517-D83A-CC55-35B8-B2F990C96D30}"/>
              </a:ext>
            </a:extLst>
          </p:cNvPr>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5">
            <a:extLst>
              <a:ext uri="{FF2B5EF4-FFF2-40B4-BE49-F238E27FC236}">
                <a16:creationId xmlns:a16="http://schemas.microsoft.com/office/drawing/2014/main" id="{CF8BFBBE-0EAE-B647-2648-A5FB0094BF6B}"/>
              </a:ext>
            </a:extLst>
          </p:cNvPr>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50832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4500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53" r:id="rId4"/>
    <p:sldLayoutId id="2147483664" r:id="rId5"/>
    <p:sldLayoutId id="2147483667" r:id="rId6"/>
    <p:sldLayoutId id="2147483668" r:id="rId7"/>
    <p:sldLayoutId id="2147483669" r:id="rId8"/>
    <p:sldLayoutId id="2147483673" r:id="rId9"/>
    <p:sldLayoutId id="2147483670" r:id="rId10"/>
    <p:sldLayoutId id="2147483671" r:id="rId11"/>
    <p:sldLayoutId id="2147483655" r:id="rId12"/>
    <p:sldLayoutId id="2147483674" r:id="rId13"/>
    <p:sldLayoutId id="2147483675" r:id="rId14"/>
    <p:sldLayoutId id="2147483676" r:id="rId15"/>
    <p:sldLayoutId id="2147483654" r:id="rId16"/>
    <p:sldLayoutId id="2147483656" r:id="rId17"/>
    <p:sldLayoutId id="2147483657" r:id="rId18"/>
    <p:sldLayoutId id="2147483658" r:id="rId19"/>
    <p:sldLayoutId id="2147483659" r:id="rId20"/>
  </p:sldLayoutIdLst>
  <p:hf hd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hyperlink" Target="https://miro.com/welcomeonboard/TXgza1g0azBvSkF3V3g5QUZQZlYyb3BEUlU4RHdpeHBIYUZlV1FZeUxjdGd1V1dsNGxvdk9sbGU4SGVxOG8zRnwzMDc0NDU3MzQ4ODYyMzk0MTk1fDI=?share_link_id=425593114922" TargetMode="Externa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5.xml"/><Relationship Id="rId1" Type="http://schemas.openxmlformats.org/officeDocument/2006/relationships/themeOverride" Target="../theme/themeOverride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5.xml"/><Relationship Id="rId1" Type="http://schemas.openxmlformats.org/officeDocument/2006/relationships/themeOverride" Target="../theme/themeOverride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5.xml"/><Relationship Id="rId1" Type="http://schemas.openxmlformats.org/officeDocument/2006/relationships/themeOverride" Target="../theme/themeOverride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5.xml"/><Relationship Id="rId1" Type="http://schemas.openxmlformats.org/officeDocument/2006/relationships/themeOverride" Target="../theme/themeOverride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5.xml"/><Relationship Id="rId1" Type="http://schemas.openxmlformats.org/officeDocument/2006/relationships/themeOverride" Target="../theme/themeOverride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9.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5.xml"/><Relationship Id="rId1" Type="http://schemas.openxmlformats.org/officeDocument/2006/relationships/themeOverride" Target="../theme/themeOverride1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1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1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1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14.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5.xml"/><Relationship Id="rId1" Type="http://schemas.openxmlformats.org/officeDocument/2006/relationships/themeOverride" Target="../theme/themeOverride15.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5.xml"/><Relationship Id="rId1" Type="http://schemas.openxmlformats.org/officeDocument/2006/relationships/themeOverride" Target="../theme/themeOverride1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17.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5.xml"/><Relationship Id="rId1" Type="http://schemas.openxmlformats.org/officeDocument/2006/relationships/themeOverride" Target="../theme/themeOverr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0D9-9D47-C0BB-B2B4-4B6F2B36CFCC}"/>
              </a:ext>
            </a:extLst>
          </p:cNvPr>
          <p:cNvSpPr>
            <a:spLocks noGrp="1"/>
          </p:cNvSpPr>
          <p:nvPr>
            <p:ph type="ctrTitle"/>
          </p:nvPr>
        </p:nvSpPr>
        <p:spPr/>
        <p:txBody>
          <a:bodyPr/>
          <a:lstStyle/>
          <a:p>
            <a:r>
              <a:rPr lang="en-US" dirty="0" err="1"/>
              <a:t>Pmp</a:t>
            </a:r>
            <a:r>
              <a:rPr lang="en-US" dirty="0"/>
              <a:t> study group</a:t>
            </a:r>
          </a:p>
        </p:txBody>
      </p:sp>
      <p:sp>
        <p:nvSpPr>
          <p:cNvPr id="3" name="Subtitle 2">
            <a:extLst>
              <a:ext uri="{FF2B5EF4-FFF2-40B4-BE49-F238E27FC236}">
                <a16:creationId xmlns:a16="http://schemas.microsoft.com/office/drawing/2014/main" id="{86C1060B-300F-3CE3-E5AA-D8E29791C960}"/>
              </a:ext>
            </a:extLst>
          </p:cNvPr>
          <p:cNvSpPr>
            <a:spLocks noGrp="1"/>
          </p:cNvSpPr>
          <p:nvPr>
            <p:ph type="subTitle" idx="1"/>
          </p:nvPr>
        </p:nvSpPr>
        <p:spPr/>
        <p:txBody>
          <a:bodyPr/>
          <a:lstStyle/>
          <a:p>
            <a:r>
              <a:rPr lang="en-US" dirty="0"/>
              <a:t>Week 1</a:t>
            </a:r>
          </a:p>
          <a:p>
            <a:r>
              <a:rPr lang="en-US" dirty="0"/>
              <a:t>Concept Review​</a:t>
            </a:r>
          </a:p>
          <a:p>
            <a:endParaRPr lang="en-US" dirty="0"/>
          </a:p>
        </p:txBody>
      </p:sp>
      <p:sp>
        <p:nvSpPr>
          <p:cNvPr id="4" name="TextBox 3">
            <a:extLst>
              <a:ext uri="{FF2B5EF4-FFF2-40B4-BE49-F238E27FC236}">
                <a16:creationId xmlns:a16="http://schemas.microsoft.com/office/drawing/2014/main" id="{4B368763-A103-D834-692F-B42B592ECEBD}"/>
              </a:ext>
            </a:extLst>
          </p:cNvPr>
          <p:cNvSpPr txBox="1"/>
          <p:nvPr/>
        </p:nvSpPr>
        <p:spPr>
          <a:xfrm>
            <a:off x="4985632" y="6298250"/>
            <a:ext cx="2856872" cy="369332"/>
          </a:xfrm>
          <a:prstGeom prst="rect">
            <a:avLst/>
          </a:prstGeom>
          <a:noFill/>
        </p:spPr>
        <p:txBody>
          <a:bodyPr wrap="none" rtlCol="0">
            <a:spAutoFit/>
          </a:bodyPr>
          <a:lstStyle/>
          <a:p>
            <a:r>
              <a:rPr lang="en-US" dirty="0"/>
              <a:t>Presented by: Nikki Masani</a:t>
            </a:r>
          </a:p>
        </p:txBody>
      </p:sp>
    </p:spTree>
    <p:extLst>
      <p:ext uri="{BB962C8B-B14F-4D97-AF65-F5344CB8AC3E}">
        <p14:creationId xmlns:p14="http://schemas.microsoft.com/office/powerpoint/2010/main" val="2131568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0A5BFC-C134-C072-C14D-9E51A94C8E7E}"/>
              </a:ext>
            </a:extLst>
          </p:cNvPr>
          <p:cNvSpPr>
            <a:spLocks noGrp="1"/>
          </p:cNvSpPr>
          <p:nvPr>
            <p:ph type="title"/>
          </p:nvPr>
        </p:nvSpPr>
        <p:spPr/>
        <p:txBody>
          <a:bodyPr/>
          <a:lstStyle/>
          <a:p>
            <a:r>
              <a:rPr lang="en-US" dirty="0"/>
              <a:t>Study Group Session Plan</a:t>
            </a:r>
            <a:br>
              <a:rPr lang="en-US" dirty="0"/>
            </a:br>
            <a:r>
              <a:rPr lang="en-US" sz="1600" dirty="0"/>
              <a:t>Wednesdays @ 6:30 PM- Hosted on discord</a:t>
            </a:r>
          </a:p>
        </p:txBody>
      </p:sp>
      <p:sp>
        <p:nvSpPr>
          <p:cNvPr id="373" name="Footer Placeholder 372">
            <a:extLst>
              <a:ext uri="{FF2B5EF4-FFF2-40B4-BE49-F238E27FC236}">
                <a16:creationId xmlns:a16="http://schemas.microsoft.com/office/drawing/2014/main" id="{EC015AD8-FC03-181D-1A34-AD00F66C42C2}"/>
              </a:ext>
            </a:extLst>
          </p:cNvPr>
          <p:cNvSpPr>
            <a:spLocks noGrp="1"/>
          </p:cNvSpPr>
          <p:nvPr>
            <p:ph type="ftr" sz="quarter" idx="11"/>
          </p:nvPr>
        </p:nvSpPr>
        <p:spPr/>
        <p:txBody>
          <a:bodyPr/>
          <a:lstStyle/>
          <a:p>
            <a:endParaRPr lang="en-US" dirty="0"/>
          </a:p>
        </p:txBody>
      </p:sp>
      <p:sp>
        <p:nvSpPr>
          <p:cNvPr id="374" name="Slide Number Placeholder 373">
            <a:extLst>
              <a:ext uri="{FF2B5EF4-FFF2-40B4-BE49-F238E27FC236}">
                <a16:creationId xmlns:a16="http://schemas.microsoft.com/office/drawing/2014/main" id="{049B2870-98EC-2977-8CE4-A7AA3009991A}"/>
              </a:ext>
            </a:extLst>
          </p:cNvPr>
          <p:cNvSpPr>
            <a:spLocks noGrp="1"/>
          </p:cNvSpPr>
          <p:nvPr>
            <p:ph type="sldNum" sz="quarter" idx="12"/>
          </p:nvPr>
        </p:nvSpPr>
        <p:spPr/>
        <p:txBody>
          <a:bodyPr/>
          <a:lstStyle/>
          <a:p>
            <a:fld id="{48F63A3B-78C7-47BE-AE5E-E10140E04643}" type="slidenum">
              <a:rPr lang="en-US" smtClean="0"/>
              <a:pPr/>
              <a:t>2</a:t>
            </a:fld>
            <a:endParaRPr lang="en-US" dirty="0"/>
          </a:p>
        </p:txBody>
      </p:sp>
      <p:sp>
        <p:nvSpPr>
          <p:cNvPr id="19" name="Text Placeholder 18">
            <a:extLst>
              <a:ext uri="{FF2B5EF4-FFF2-40B4-BE49-F238E27FC236}">
                <a16:creationId xmlns:a16="http://schemas.microsoft.com/office/drawing/2014/main" id="{270C77AB-7E91-84A6-3E62-DAB80E1E4481}"/>
              </a:ext>
            </a:extLst>
          </p:cNvPr>
          <p:cNvSpPr>
            <a:spLocks noGrp="1"/>
          </p:cNvSpPr>
          <p:nvPr>
            <p:ph type="body" idx="1"/>
          </p:nvPr>
        </p:nvSpPr>
        <p:spPr/>
        <p:txBody>
          <a:bodyPr/>
          <a:lstStyle/>
          <a:p>
            <a:pPr lvl="0"/>
            <a:r>
              <a:rPr lang="en-US" dirty="0"/>
              <a:t>Week 1</a:t>
            </a:r>
          </a:p>
          <a:p>
            <a:pPr lvl="0"/>
            <a:r>
              <a:rPr lang="en-US" dirty="0"/>
              <a:t>Concept Review</a:t>
            </a:r>
          </a:p>
        </p:txBody>
      </p:sp>
      <p:pic>
        <p:nvPicPr>
          <p:cNvPr id="292" name="Picture Placeholder 291" descr="checklist icon">
            <a:extLst>
              <a:ext uri="{FF2B5EF4-FFF2-40B4-BE49-F238E27FC236}">
                <a16:creationId xmlns:a16="http://schemas.microsoft.com/office/drawing/2014/main" id="{8167DB44-EDED-0971-E35D-A5FA1E47C215}"/>
              </a:ext>
            </a:extLst>
          </p:cNvPr>
          <p:cNvPicPr>
            <a:picLocks noGrp="1" noChangeAspect="1"/>
          </p:cNvPicPr>
          <p:nvPr>
            <p:ph type="pic" sz="quarter" idx="23"/>
          </p:nvPr>
        </p:nvPicPr>
        <p:blipFill rotWithShape="1">
          <a:blip r:embed="rId2"/>
          <a:srcRect/>
          <a:stretch/>
        </p:blipFill>
        <p:spPr/>
      </p:pic>
      <p:sp>
        <p:nvSpPr>
          <p:cNvPr id="24" name="Text Placeholder 23">
            <a:extLst>
              <a:ext uri="{FF2B5EF4-FFF2-40B4-BE49-F238E27FC236}">
                <a16:creationId xmlns:a16="http://schemas.microsoft.com/office/drawing/2014/main" id="{A3BF8E55-B2B9-104D-F277-08902534735D}"/>
              </a:ext>
            </a:extLst>
          </p:cNvPr>
          <p:cNvSpPr>
            <a:spLocks noGrp="1"/>
          </p:cNvSpPr>
          <p:nvPr>
            <p:ph type="body" sz="quarter" idx="18"/>
          </p:nvPr>
        </p:nvSpPr>
        <p:spPr>
          <a:xfrm>
            <a:off x="731058" y="4030378"/>
            <a:ext cx="1920240" cy="1371600"/>
          </a:xfrm>
        </p:spPr>
        <p:txBody>
          <a:bodyPr/>
          <a:lstStyle/>
          <a:p>
            <a:pPr lvl="0"/>
            <a:r>
              <a:rPr lang="en-US" dirty="0"/>
              <a:t>Will use Andrew’s Udemy course to structure out what concepts will be covered. </a:t>
            </a:r>
          </a:p>
        </p:txBody>
      </p:sp>
      <p:sp>
        <p:nvSpPr>
          <p:cNvPr id="20" name="Text Placeholder 19">
            <a:extLst>
              <a:ext uri="{FF2B5EF4-FFF2-40B4-BE49-F238E27FC236}">
                <a16:creationId xmlns:a16="http://schemas.microsoft.com/office/drawing/2014/main" id="{15DD9AC8-4A5F-70DB-AA68-C461059D81A1}"/>
              </a:ext>
            </a:extLst>
          </p:cNvPr>
          <p:cNvSpPr>
            <a:spLocks noGrp="1"/>
          </p:cNvSpPr>
          <p:nvPr>
            <p:ph type="body" sz="quarter" idx="3"/>
          </p:nvPr>
        </p:nvSpPr>
        <p:spPr/>
        <p:txBody>
          <a:bodyPr/>
          <a:lstStyle/>
          <a:p>
            <a:r>
              <a:rPr lang="en-US" dirty="0"/>
              <a:t>Week 2</a:t>
            </a:r>
          </a:p>
          <a:p>
            <a:r>
              <a:rPr lang="en-US" dirty="0"/>
              <a:t>Open </a:t>
            </a:r>
          </a:p>
          <a:p>
            <a:r>
              <a:rPr lang="en-US" dirty="0"/>
              <a:t>Forum</a:t>
            </a:r>
          </a:p>
          <a:p>
            <a:endParaRPr lang="en-US" dirty="0"/>
          </a:p>
        </p:txBody>
      </p:sp>
      <p:pic>
        <p:nvPicPr>
          <p:cNvPr id="290" name="Picture Placeholder 289" descr="person with loud speaker icon">
            <a:extLst>
              <a:ext uri="{FF2B5EF4-FFF2-40B4-BE49-F238E27FC236}">
                <a16:creationId xmlns:a16="http://schemas.microsoft.com/office/drawing/2014/main" id="{E63515FB-9439-CCAE-C220-6F0E5ECB75E8}"/>
              </a:ext>
            </a:extLst>
          </p:cNvPr>
          <p:cNvPicPr>
            <a:picLocks noGrp="1" noChangeAspect="1"/>
          </p:cNvPicPr>
          <p:nvPr>
            <p:ph type="pic" sz="quarter" idx="27"/>
          </p:nvPr>
        </p:nvPicPr>
        <p:blipFill rotWithShape="1">
          <a:blip r:embed="rId3"/>
          <a:srcRect t="113" b="113"/>
          <a:stretch/>
        </p:blipFill>
        <p:spPr/>
      </p:pic>
      <p:sp>
        <p:nvSpPr>
          <p:cNvPr id="25" name="Text Placeholder 24">
            <a:extLst>
              <a:ext uri="{FF2B5EF4-FFF2-40B4-BE49-F238E27FC236}">
                <a16:creationId xmlns:a16="http://schemas.microsoft.com/office/drawing/2014/main" id="{BCE9DA14-62AB-A857-6387-1F5D330B3F36}"/>
              </a:ext>
            </a:extLst>
          </p:cNvPr>
          <p:cNvSpPr>
            <a:spLocks noGrp="1"/>
          </p:cNvSpPr>
          <p:nvPr>
            <p:ph type="body" sz="quarter" idx="19"/>
          </p:nvPr>
        </p:nvSpPr>
        <p:spPr/>
        <p:txBody>
          <a:bodyPr/>
          <a:lstStyle/>
          <a:p>
            <a:pPr lvl="0"/>
            <a:r>
              <a:rPr lang="en-US" dirty="0"/>
              <a:t>Open time for anything the group would like to cover.</a:t>
            </a:r>
          </a:p>
        </p:txBody>
      </p:sp>
      <p:sp>
        <p:nvSpPr>
          <p:cNvPr id="21" name="Text Placeholder 20">
            <a:extLst>
              <a:ext uri="{FF2B5EF4-FFF2-40B4-BE49-F238E27FC236}">
                <a16:creationId xmlns:a16="http://schemas.microsoft.com/office/drawing/2014/main" id="{A28A203B-0CF0-2AB0-5F54-07C8E3003918}"/>
              </a:ext>
            </a:extLst>
          </p:cNvPr>
          <p:cNvSpPr>
            <a:spLocks noGrp="1"/>
          </p:cNvSpPr>
          <p:nvPr>
            <p:ph type="body" sz="quarter" idx="13"/>
          </p:nvPr>
        </p:nvSpPr>
        <p:spPr/>
        <p:txBody>
          <a:bodyPr/>
          <a:lstStyle/>
          <a:p>
            <a:r>
              <a:rPr lang="en-US" dirty="0"/>
              <a:t>Week 3</a:t>
            </a:r>
          </a:p>
          <a:p>
            <a:r>
              <a:rPr lang="en-US" dirty="0"/>
              <a:t>Mock</a:t>
            </a:r>
          </a:p>
          <a:p>
            <a:r>
              <a:rPr lang="en-US" dirty="0"/>
              <a:t>Exam</a:t>
            </a:r>
          </a:p>
          <a:p>
            <a:endParaRPr lang="en-US" dirty="0"/>
          </a:p>
        </p:txBody>
      </p:sp>
      <p:pic>
        <p:nvPicPr>
          <p:cNvPr id="288" name="Picture Placeholder 287" descr="blueprint icon">
            <a:extLst>
              <a:ext uri="{FF2B5EF4-FFF2-40B4-BE49-F238E27FC236}">
                <a16:creationId xmlns:a16="http://schemas.microsoft.com/office/drawing/2014/main" id="{A5707D4A-497A-679A-3ACA-721E8D0E2699}"/>
              </a:ext>
            </a:extLst>
          </p:cNvPr>
          <p:cNvPicPr>
            <a:picLocks noGrp="1" noChangeAspect="1"/>
          </p:cNvPicPr>
          <p:nvPr>
            <p:ph type="pic" sz="quarter" idx="26"/>
          </p:nvPr>
        </p:nvPicPr>
        <p:blipFill rotWithShape="1">
          <a:blip r:embed="rId4"/>
          <a:srcRect t="431" b="431"/>
          <a:stretch/>
        </p:blipFill>
        <p:spPr/>
      </p:pic>
      <p:sp>
        <p:nvSpPr>
          <p:cNvPr id="26" name="Text Placeholder 25">
            <a:extLst>
              <a:ext uri="{FF2B5EF4-FFF2-40B4-BE49-F238E27FC236}">
                <a16:creationId xmlns:a16="http://schemas.microsoft.com/office/drawing/2014/main" id="{710CB940-D45B-59F1-06E5-9CC94100EF05}"/>
              </a:ext>
            </a:extLst>
          </p:cNvPr>
          <p:cNvSpPr>
            <a:spLocks noGrp="1"/>
          </p:cNvSpPr>
          <p:nvPr>
            <p:ph type="body" sz="quarter" idx="20"/>
          </p:nvPr>
        </p:nvSpPr>
        <p:spPr/>
        <p:txBody>
          <a:bodyPr/>
          <a:lstStyle/>
          <a:p>
            <a:pPr lvl="0"/>
            <a:r>
              <a:rPr lang="en-US" dirty="0"/>
              <a:t>I will choose a Mock Exam to purchase, and we will take it in real time together.</a:t>
            </a:r>
          </a:p>
        </p:txBody>
      </p:sp>
      <p:sp>
        <p:nvSpPr>
          <p:cNvPr id="22" name="Text Placeholder 21">
            <a:extLst>
              <a:ext uri="{FF2B5EF4-FFF2-40B4-BE49-F238E27FC236}">
                <a16:creationId xmlns:a16="http://schemas.microsoft.com/office/drawing/2014/main" id="{05BC0115-F702-2E0A-61A4-4A6CE33FD775}"/>
              </a:ext>
            </a:extLst>
          </p:cNvPr>
          <p:cNvSpPr>
            <a:spLocks noGrp="1"/>
          </p:cNvSpPr>
          <p:nvPr>
            <p:ph type="body" sz="quarter" idx="15"/>
          </p:nvPr>
        </p:nvSpPr>
        <p:spPr/>
        <p:txBody>
          <a:bodyPr/>
          <a:lstStyle/>
          <a:p>
            <a:r>
              <a:rPr lang="en-US" dirty="0"/>
              <a:t>Week 4</a:t>
            </a:r>
          </a:p>
          <a:p>
            <a:r>
              <a:rPr lang="en-US" dirty="0"/>
              <a:t>Quiz </a:t>
            </a:r>
          </a:p>
          <a:p>
            <a:r>
              <a:rPr lang="en-US" dirty="0"/>
              <a:t>Challenge</a:t>
            </a:r>
          </a:p>
          <a:p>
            <a:endParaRPr lang="en-US" dirty="0"/>
          </a:p>
        </p:txBody>
      </p:sp>
      <p:pic>
        <p:nvPicPr>
          <p:cNvPr id="270" name="Picture Placeholder 269" descr="target icon">
            <a:extLst>
              <a:ext uri="{FF2B5EF4-FFF2-40B4-BE49-F238E27FC236}">
                <a16:creationId xmlns:a16="http://schemas.microsoft.com/office/drawing/2014/main" id="{DE7A4D25-3CA5-F92A-988A-F913C367D593}"/>
              </a:ext>
            </a:extLst>
          </p:cNvPr>
          <p:cNvPicPr>
            <a:picLocks noGrp="1" noChangeAspect="1"/>
          </p:cNvPicPr>
          <p:nvPr>
            <p:ph type="pic" sz="quarter" idx="25"/>
          </p:nvPr>
        </p:nvPicPr>
        <p:blipFill rotWithShape="1">
          <a:blip r:embed="rId5"/>
          <a:srcRect t="113" b="113"/>
          <a:stretch/>
        </p:blipFill>
        <p:spPr/>
      </p:pic>
      <p:sp>
        <p:nvSpPr>
          <p:cNvPr id="27" name="Text Placeholder 26">
            <a:extLst>
              <a:ext uri="{FF2B5EF4-FFF2-40B4-BE49-F238E27FC236}">
                <a16:creationId xmlns:a16="http://schemas.microsoft.com/office/drawing/2014/main" id="{A0DA38E3-68A2-4FF9-022B-BA0DF832B1DB}"/>
              </a:ext>
            </a:extLst>
          </p:cNvPr>
          <p:cNvSpPr>
            <a:spLocks noGrp="1"/>
          </p:cNvSpPr>
          <p:nvPr>
            <p:ph type="body" sz="quarter" idx="21"/>
          </p:nvPr>
        </p:nvSpPr>
        <p:spPr/>
        <p:txBody>
          <a:bodyPr/>
          <a:lstStyle/>
          <a:p>
            <a:pPr lvl="0"/>
            <a:r>
              <a:rPr lang="en-US" dirty="0"/>
              <a:t>Will create a timed quiz challenge based on concepts covered in week 1. Winner will receive a gift car.</a:t>
            </a:r>
          </a:p>
        </p:txBody>
      </p:sp>
      <p:sp>
        <p:nvSpPr>
          <p:cNvPr id="9" name="TextBox 8">
            <a:extLst>
              <a:ext uri="{FF2B5EF4-FFF2-40B4-BE49-F238E27FC236}">
                <a16:creationId xmlns:a16="http://schemas.microsoft.com/office/drawing/2014/main" id="{8EE33709-9035-55A6-7647-754A3A988A80}"/>
              </a:ext>
            </a:extLst>
          </p:cNvPr>
          <p:cNvSpPr txBox="1"/>
          <p:nvPr/>
        </p:nvSpPr>
        <p:spPr>
          <a:xfrm>
            <a:off x="9630623" y="3812151"/>
            <a:ext cx="1953202" cy="1246495"/>
          </a:xfrm>
          <a:prstGeom prst="rect">
            <a:avLst/>
          </a:prstGeom>
          <a:noFill/>
        </p:spPr>
        <p:txBody>
          <a:bodyPr wrap="square" rtlCol="0">
            <a:spAutoFit/>
          </a:bodyPr>
          <a:lstStyle/>
          <a:p>
            <a:r>
              <a:rPr lang="en-US" sz="1500" b="1" dirty="0">
                <a:solidFill>
                  <a:schemeClr val="accent6"/>
                </a:solidFill>
              </a:rPr>
              <a:t>Looking For:</a:t>
            </a:r>
          </a:p>
          <a:p>
            <a:pPr marL="285750" indent="-285750">
              <a:buFont typeface="Arial" panose="020B0604020202020204" pitchFamily="34" charset="0"/>
              <a:buChar char="•"/>
            </a:pPr>
            <a:r>
              <a:rPr lang="en-US" sz="1500" dirty="0">
                <a:solidFill>
                  <a:schemeClr val="accent6"/>
                </a:solidFill>
              </a:rPr>
              <a:t>Suggestions</a:t>
            </a:r>
          </a:p>
          <a:p>
            <a:pPr marL="285750" indent="-285750">
              <a:buFont typeface="Arial" panose="020B0604020202020204" pitchFamily="34" charset="0"/>
              <a:buChar char="•"/>
            </a:pPr>
            <a:r>
              <a:rPr lang="en-US" sz="1500" dirty="0">
                <a:solidFill>
                  <a:schemeClr val="accent6"/>
                </a:solidFill>
              </a:rPr>
              <a:t>Volunteers to host</a:t>
            </a:r>
          </a:p>
          <a:p>
            <a:pPr marL="285750" indent="-285750">
              <a:buFont typeface="Arial" panose="020B0604020202020204" pitchFamily="34" charset="0"/>
              <a:buChar char="•"/>
            </a:pPr>
            <a:r>
              <a:rPr lang="en-US" sz="1500" dirty="0">
                <a:solidFill>
                  <a:schemeClr val="accent6"/>
                </a:solidFill>
              </a:rPr>
              <a:t>Champions for in-person sessions</a:t>
            </a:r>
          </a:p>
        </p:txBody>
      </p:sp>
    </p:spTree>
    <p:extLst>
      <p:ext uri="{BB962C8B-B14F-4D97-AF65-F5344CB8AC3E}">
        <p14:creationId xmlns:p14="http://schemas.microsoft.com/office/powerpoint/2010/main" val="1600494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F7D2E-080D-DBDD-73C4-3C38A2B77908}"/>
              </a:ext>
            </a:extLst>
          </p:cNvPr>
          <p:cNvSpPr>
            <a:spLocks noGrp="1"/>
          </p:cNvSpPr>
          <p:nvPr>
            <p:ph type="title"/>
          </p:nvPr>
        </p:nvSpPr>
        <p:spPr>
          <a:xfrm>
            <a:off x="787307" y="935736"/>
            <a:ext cx="10009324" cy="768096"/>
          </a:xfrm>
        </p:spPr>
        <p:txBody>
          <a:bodyPr/>
          <a:lstStyle/>
          <a:p>
            <a:r>
              <a:rPr lang="en-US" dirty="0"/>
              <a:t>Study Group White Board</a:t>
            </a:r>
          </a:p>
        </p:txBody>
      </p:sp>
      <p:sp>
        <p:nvSpPr>
          <p:cNvPr id="5" name="Slide Number Placeholder 4">
            <a:extLst>
              <a:ext uri="{FF2B5EF4-FFF2-40B4-BE49-F238E27FC236}">
                <a16:creationId xmlns:a16="http://schemas.microsoft.com/office/drawing/2014/main" id="{BF7F20BE-640F-EFAB-3A43-2AA146DB42BF}"/>
              </a:ext>
            </a:extLst>
          </p:cNvPr>
          <p:cNvSpPr>
            <a:spLocks noGrp="1"/>
          </p:cNvSpPr>
          <p:nvPr>
            <p:ph type="sldNum" sz="quarter" idx="12"/>
          </p:nvPr>
        </p:nvSpPr>
        <p:spPr/>
        <p:txBody>
          <a:bodyPr/>
          <a:lstStyle/>
          <a:p>
            <a:fld id="{48F63A3B-78C7-47BE-AE5E-E10140E04643}" type="slidenum">
              <a:rPr lang="en-US" smtClean="0"/>
              <a:pPr/>
              <a:t>3</a:t>
            </a:fld>
            <a:endParaRPr lang="en-US" dirty="0"/>
          </a:p>
        </p:txBody>
      </p:sp>
      <p:sp>
        <p:nvSpPr>
          <p:cNvPr id="7" name="Content Placeholder 6">
            <a:extLst>
              <a:ext uri="{FF2B5EF4-FFF2-40B4-BE49-F238E27FC236}">
                <a16:creationId xmlns:a16="http://schemas.microsoft.com/office/drawing/2014/main" id="{144518A1-A478-7073-9D7E-B9547B20E845}"/>
              </a:ext>
            </a:extLst>
          </p:cNvPr>
          <p:cNvSpPr>
            <a:spLocks noGrp="1"/>
          </p:cNvSpPr>
          <p:nvPr>
            <p:ph idx="1"/>
          </p:nvPr>
        </p:nvSpPr>
        <p:spPr>
          <a:xfrm>
            <a:off x="4201626" y="1832547"/>
            <a:ext cx="5879592" cy="2700528"/>
          </a:xfrm>
        </p:spPr>
        <p:txBody>
          <a:bodyPr/>
          <a:lstStyle/>
          <a:p>
            <a:r>
              <a:rPr lang="en-US" dirty="0">
                <a:hlinkClick r:id="rId2"/>
              </a:rPr>
              <a:t>Click Here to Access</a:t>
            </a:r>
            <a:endParaRPr lang="en-US" dirty="0"/>
          </a:p>
        </p:txBody>
      </p:sp>
    </p:spTree>
    <p:extLst>
      <p:ext uri="{BB962C8B-B14F-4D97-AF65-F5344CB8AC3E}">
        <p14:creationId xmlns:p14="http://schemas.microsoft.com/office/powerpoint/2010/main" val="94818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65E9-D88A-55D3-9D42-BD1C24B6DE9F}"/>
              </a:ext>
            </a:extLst>
          </p:cNvPr>
          <p:cNvSpPr>
            <a:spLocks noGrp="1"/>
          </p:cNvSpPr>
          <p:nvPr>
            <p:ph type="title"/>
          </p:nvPr>
        </p:nvSpPr>
        <p:spPr/>
        <p:txBody>
          <a:bodyPr/>
          <a:lstStyle/>
          <a:p>
            <a:pPr algn="ctr"/>
            <a:r>
              <a:rPr lang="en-US" dirty="0">
                <a:latin typeface="Arial Black" panose="020B0604020202020204" pitchFamily="34" charset="0"/>
                <a:ea typeface="Arial Regular" pitchFamily="34" charset="-122"/>
                <a:cs typeface="Arial Black" panose="020B0604020202020204" pitchFamily="34" charset="0"/>
              </a:rPr>
              <a:t>Concepts</a:t>
            </a:r>
            <a:endParaRPr lang="en-US" sz="4400" b="1" dirty="0">
              <a:solidFill>
                <a:schemeClr val="accent6"/>
              </a:solidFill>
              <a:latin typeface="Arial Black" panose="020B0604020202020204" pitchFamily="34" charset="0"/>
              <a:cs typeface="Arial Black" panose="020B0604020202020204" pitchFamily="34" charset="0"/>
            </a:endParaRPr>
          </a:p>
        </p:txBody>
      </p:sp>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1499616" y="2770632"/>
            <a:ext cx="5693664" cy="1952370"/>
          </a:xfrm>
        </p:spPr>
        <p:txBody>
          <a:bodyPr/>
          <a:lstStyle/>
          <a:p>
            <a:pPr algn="ctr"/>
            <a:r>
              <a:rPr lang="en-US" dirty="0"/>
              <a:t>Project Management Terms</a:t>
            </a:r>
          </a:p>
        </p:txBody>
      </p:sp>
    </p:spTree>
    <p:extLst>
      <p:ext uri="{BB962C8B-B14F-4D97-AF65-F5344CB8AC3E}">
        <p14:creationId xmlns:p14="http://schemas.microsoft.com/office/powerpoint/2010/main" val="3855531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2643930" y="2039951"/>
            <a:ext cx="6400800"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Project Management Terms</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type="body" idx="1"/>
          </p:nvPr>
        </p:nvSpPr>
        <p:spPr/>
        <p:txBody>
          <a:bodyPr/>
          <a:lstStyle/>
          <a:p>
            <a:pPr algn="ctr"/>
            <a:endParaRPr lang="en-US" sz="2400" dirty="0">
              <a:solidFill>
                <a:schemeClr val="accent6"/>
              </a:solidFill>
              <a:latin typeface="Sabon Next LT" panose="02000500000000000000" pitchFamily="2" charset="0"/>
              <a:cs typeface="Sabon Next LT" panose="02000500000000000000" pitchFamily="2" charset="0"/>
            </a:endParaRPr>
          </a:p>
        </p:txBody>
      </p:sp>
    </p:spTree>
    <p:extLst>
      <p:ext uri="{BB962C8B-B14F-4D97-AF65-F5344CB8AC3E}">
        <p14:creationId xmlns:p14="http://schemas.microsoft.com/office/powerpoint/2010/main" val="2952923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Project</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6</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marL="0" marR="0" indent="0">
              <a:spcBef>
                <a:spcPts val="0"/>
              </a:spcBef>
              <a:spcAft>
                <a:spcPts val="0"/>
              </a:spcAft>
              <a:buNone/>
            </a:pPr>
            <a:r>
              <a:rPr lang="en-US" sz="2000" b="1" dirty="0">
                <a:effectLst/>
                <a:latin typeface="Calibri" panose="020F0502020204030204" pitchFamily="34" charset="0"/>
              </a:rPr>
              <a:t>A temporary endeavor that produces a unique product, service, or result</a:t>
            </a:r>
          </a:p>
          <a:p>
            <a:pPr rtl="0" fontAlgn="ctr">
              <a:spcBef>
                <a:spcPts val="0"/>
              </a:spcBef>
              <a:spcAft>
                <a:spcPts val="0"/>
              </a:spcAft>
              <a:buFont typeface="Arial" panose="020B0604020202020204" pitchFamily="34" charset="0"/>
              <a:buChar char="•"/>
            </a:pPr>
            <a:r>
              <a:rPr lang="en-US" sz="2000" dirty="0">
                <a:effectLst/>
                <a:latin typeface="Calibri" panose="020F0502020204030204" pitchFamily="34" charset="0"/>
              </a:rPr>
              <a:t>MUST BE </a:t>
            </a:r>
            <a:r>
              <a:rPr lang="en-US" sz="2000" b="1" dirty="0">
                <a:effectLst/>
                <a:latin typeface="Calibri" panose="020F0502020204030204" pitchFamily="34" charset="0"/>
              </a:rPr>
              <a:t>TEMPORARY</a:t>
            </a:r>
            <a:endParaRPr lang="en-US" sz="1100" b="1" dirty="0">
              <a:effectLst/>
              <a:latin typeface="Calibri" panose="020F0502020204030204" pitchFamily="34" charset="0"/>
            </a:endParaRPr>
          </a:p>
          <a:p>
            <a:pPr marL="742950" lvl="1" indent="-285750" rtl="0" fontAlgn="ctr">
              <a:spcBef>
                <a:spcPts val="0"/>
              </a:spcBef>
              <a:spcAft>
                <a:spcPts val="0"/>
              </a:spcAft>
              <a:buFont typeface="Courier New" panose="02070309020205020404" pitchFamily="49" charset="0"/>
              <a:buChar char="o"/>
            </a:pPr>
            <a:r>
              <a:rPr lang="en-US" sz="2000" dirty="0">
                <a:effectLst/>
                <a:latin typeface="Calibri" panose="020F0502020204030204" pitchFamily="34" charset="0"/>
              </a:rPr>
              <a:t>Temporary in nature and has a definite beginning and ending</a:t>
            </a:r>
            <a:endParaRPr lang="en-US" sz="1100" dirty="0">
              <a:effectLst/>
              <a:latin typeface="Calibri" panose="020F0502020204030204" pitchFamily="34" charset="0"/>
            </a:endParaRPr>
          </a:p>
          <a:p>
            <a:pPr rtl="0" fontAlgn="ctr">
              <a:spcBef>
                <a:spcPts val="0"/>
              </a:spcBef>
              <a:spcAft>
                <a:spcPts val="0"/>
              </a:spcAft>
              <a:buFont typeface="Arial" panose="020B0604020202020204" pitchFamily="34" charset="0"/>
              <a:buChar char="•"/>
            </a:pPr>
            <a:r>
              <a:rPr lang="en-US" sz="2000" dirty="0">
                <a:effectLst/>
                <a:latin typeface="Calibri" panose="020F0502020204030204" pitchFamily="34" charset="0"/>
              </a:rPr>
              <a:t>MUST BE </a:t>
            </a:r>
            <a:r>
              <a:rPr lang="en-US" sz="2000" b="1" dirty="0">
                <a:effectLst/>
                <a:latin typeface="Calibri" panose="020F0502020204030204" pitchFamily="34" charset="0"/>
              </a:rPr>
              <a:t>UNIQUE</a:t>
            </a:r>
            <a:endParaRPr lang="en-US" sz="1100" b="1" dirty="0">
              <a:effectLst/>
              <a:latin typeface="Calibri" panose="020F0502020204030204" pitchFamily="34" charset="0"/>
            </a:endParaRPr>
          </a:p>
          <a:p>
            <a:pPr marL="742950" lvl="1" indent="-285750" rtl="0" fontAlgn="ctr">
              <a:spcBef>
                <a:spcPts val="0"/>
              </a:spcBef>
              <a:spcAft>
                <a:spcPts val="0"/>
              </a:spcAft>
              <a:buFont typeface="Courier New" panose="02070309020205020404" pitchFamily="49" charset="0"/>
              <a:buChar char="o"/>
            </a:pPr>
            <a:r>
              <a:rPr lang="en-US" sz="2000" dirty="0">
                <a:effectLst/>
                <a:latin typeface="Calibri" panose="020F0502020204030204" pitchFamily="34" charset="0"/>
              </a:rPr>
              <a:t>This refers to the output. The project itself may not be unique, but it's unique for the customer.</a:t>
            </a:r>
            <a:endParaRPr lang="en-US" sz="1100" dirty="0">
              <a:effectLst/>
              <a:latin typeface="Calibri" panose="020F0502020204030204" pitchFamily="34" charset="0"/>
            </a:endParaRPr>
          </a:p>
          <a:p>
            <a:pPr rtl="0" fontAlgn="ctr">
              <a:spcBef>
                <a:spcPts val="0"/>
              </a:spcBef>
              <a:spcAft>
                <a:spcPts val="0"/>
              </a:spcAft>
              <a:buFont typeface="Arial" panose="020B0604020202020204" pitchFamily="34" charset="0"/>
              <a:buChar char="•"/>
            </a:pPr>
            <a:r>
              <a:rPr lang="en-US" sz="2000" dirty="0">
                <a:effectLst/>
                <a:latin typeface="Calibri" panose="020F0502020204030204" pitchFamily="34" charset="0"/>
              </a:rPr>
              <a:t>MUST BE </a:t>
            </a:r>
            <a:r>
              <a:rPr lang="en-US" sz="2000" b="1" dirty="0">
                <a:effectLst/>
                <a:latin typeface="Calibri" panose="020F0502020204030204" pitchFamily="34" charset="0"/>
              </a:rPr>
              <a:t>PROGGRESSIVELY ELABORATE** &lt;&lt;know this for exam&gt;&gt;</a:t>
            </a:r>
            <a:endParaRPr lang="en-US" sz="1100" b="1" dirty="0">
              <a:effectLst/>
              <a:latin typeface="Calibri" panose="020F0502020204030204" pitchFamily="34" charset="0"/>
            </a:endParaRPr>
          </a:p>
          <a:p>
            <a:pPr marL="742950" lvl="1" indent="-285750" rtl="0" fontAlgn="ctr">
              <a:spcBef>
                <a:spcPts val="0"/>
              </a:spcBef>
              <a:spcAft>
                <a:spcPts val="0"/>
              </a:spcAft>
              <a:buFont typeface="Courier New" panose="02070309020205020404" pitchFamily="49" charset="0"/>
              <a:buChar char="o"/>
            </a:pPr>
            <a:r>
              <a:rPr lang="en-US" sz="2000" dirty="0">
                <a:effectLst/>
                <a:latin typeface="Calibri" panose="020F0502020204030204" pitchFamily="34" charset="0"/>
              </a:rPr>
              <a:t>As time progresses, things become more elaborated.</a:t>
            </a:r>
            <a:endParaRPr lang="en-US" sz="1100" dirty="0">
              <a:effectLst/>
              <a:latin typeface="Calibri" panose="020F0502020204030204" pitchFamily="34" charset="0"/>
            </a:endParaRPr>
          </a:p>
          <a:p>
            <a:pPr marL="1143000" lvl="2" indent="-228600" rtl="0" fontAlgn="ctr">
              <a:spcBef>
                <a:spcPts val="0"/>
              </a:spcBef>
              <a:spcAft>
                <a:spcPts val="0"/>
              </a:spcAft>
              <a:buFont typeface="Arial" panose="020B0604020202020204" pitchFamily="34" charset="0"/>
              <a:buChar char="•"/>
            </a:pPr>
            <a:r>
              <a:rPr lang="en-US" sz="2000" dirty="0">
                <a:effectLst/>
                <a:latin typeface="Calibri" panose="020F0502020204030204" pitchFamily="34" charset="0"/>
              </a:rPr>
              <a:t>Example: when you're building a house, you may not know exactly how big the rooms should be until further along in the project.</a:t>
            </a:r>
            <a:endParaRPr lang="en-US" sz="1100" dirty="0">
              <a:effectLst/>
              <a:latin typeface="Calibri" panose="020F0502020204030204" pitchFamily="34" charset="0"/>
            </a:endParaRPr>
          </a:p>
          <a:p>
            <a:pPr marL="1143000" lvl="2" indent="-228600" rtl="0" fontAlgn="ctr">
              <a:spcBef>
                <a:spcPts val="0"/>
              </a:spcBef>
              <a:spcAft>
                <a:spcPts val="0"/>
              </a:spcAft>
              <a:buFont typeface="Arial" panose="020B0604020202020204" pitchFamily="34" charset="0"/>
              <a:buChar char="•"/>
            </a:pPr>
            <a:r>
              <a:rPr lang="en-US" sz="2000" dirty="0">
                <a:effectLst/>
                <a:latin typeface="Calibri" panose="020F0502020204030204" pitchFamily="34" charset="0"/>
              </a:rPr>
              <a:t>More information will come from stakeholders.</a:t>
            </a:r>
            <a:endParaRPr lang="en-US" sz="1100" dirty="0">
              <a:effectLst/>
              <a:latin typeface="Calibri" panose="020F0502020204030204" pitchFamily="34" charset="0"/>
            </a:endParaRPr>
          </a:p>
          <a:p>
            <a:pPr marL="742950" lvl="1" indent="-285750" rtl="0" fontAlgn="ctr">
              <a:spcBef>
                <a:spcPts val="0"/>
              </a:spcBef>
              <a:spcAft>
                <a:spcPts val="0"/>
              </a:spcAft>
              <a:buFont typeface="Courier New" panose="02070309020205020404" pitchFamily="49" charset="0"/>
              <a:buChar char="o"/>
            </a:pPr>
            <a:r>
              <a:rPr lang="en-US" sz="2000" dirty="0">
                <a:effectLst/>
                <a:latin typeface="Calibri" panose="020F0502020204030204" pitchFamily="34" charset="0"/>
              </a:rPr>
              <a:t>Roll and Wave Planning(a form of progressive elaboration)- A type of project schedule that focuses on iterative work and frequent updates to the project plan. It’s a project planning technique for projects that don’t offer all the data needed to create a plan or schedule up front.</a:t>
            </a:r>
            <a:endParaRPr lang="en-US" sz="1100" dirty="0">
              <a:effectLst/>
              <a:latin typeface="Calibri" panose="020F0502020204030204" pitchFamily="34"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Tree>
    <p:extLst>
      <p:ext uri="{BB962C8B-B14F-4D97-AF65-F5344CB8AC3E}">
        <p14:creationId xmlns:p14="http://schemas.microsoft.com/office/powerpoint/2010/main" val="2903841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What is a project producing?</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7</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695839" y="2390862"/>
            <a:ext cx="11119104" cy="1702964"/>
          </a:xfrm>
        </p:spPr>
        <p:txBody>
          <a:bodyPr/>
          <a:lstStyle/>
          <a:p>
            <a:pPr>
              <a:spcBef>
                <a:spcPts val="0"/>
              </a:spcBef>
            </a:pPr>
            <a:r>
              <a:rPr lang="en-US" sz="2000" b="1" dirty="0">
                <a:effectLst/>
                <a:latin typeface="Calibri" panose="020F0502020204030204" pitchFamily="34" charset="0"/>
              </a:rPr>
              <a:t>Product</a:t>
            </a:r>
            <a:r>
              <a:rPr lang="en-US" sz="2000" dirty="0">
                <a:effectLst/>
                <a:latin typeface="Calibri" panose="020F0502020204030204" pitchFamily="34" charset="0"/>
              </a:rPr>
              <a:t>: Fixing, upgrading, changing, and/or creating a new product for your company.</a:t>
            </a:r>
            <a:endParaRPr lang="en-US" sz="1100" dirty="0">
              <a:effectLst/>
              <a:latin typeface="Calibri" panose="020F0502020204030204" pitchFamily="34" charset="0"/>
            </a:endParaRPr>
          </a:p>
          <a:p>
            <a:pPr rtl="0" fontAlgn="ctr">
              <a:spcBef>
                <a:spcPts val="0"/>
              </a:spcBef>
              <a:spcAft>
                <a:spcPts val="0"/>
              </a:spcAft>
              <a:buFont typeface="Arial" panose="020B0604020202020204" pitchFamily="34" charset="0"/>
              <a:buChar char="•"/>
            </a:pPr>
            <a:r>
              <a:rPr lang="en-US" sz="2000" b="1" dirty="0">
                <a:effectLst/>
                <a:latin typeface="Calibri" panose="020F0502020204030204" pitchFamily="34" charset="0"/>
              </a:rPr>
              <a:t>Service</a:t>
            </a:r>
            <a:r>
              <a:rPr lang="en-US" sz="2000" dirty="0">
                <a:effectLst/>
                <a:latin typeface="Calibri" panose="020F0502020204030204" pitchFamily="34" charset="0"/>
              </a:rPr>
              <a:t>: Providing a new service or fixing, changing, upgrading an existing product. Configuring a new service that your company already offers.</a:t>
            </a:r>
            <a:endParaRPr lang="en-US" sz="1100" dirty="0">
              <a:effectLst/>
              <a:latin typeface="Calibri" panose="020F0502020204030204" pitchFamily="34" charset="0"/>
            </a:endParaRPr>
          </a:p>
          <a:p>
            <a:pPr rtl="0" fontAlgn="ctr">
              <a:spcBef>
                <a:spcPts val="0"/>
              </a:spcBef>
              <a:spcAft>
                <a:spcPts val="0"/>
              </a:spcAft>
              <a:buFont typeface="Arial" panose="020B0604020202020204" pitchFamily="34" charset="0"/>
              <a:buChar char="•"/>
            </a:pPr>
            <a:r>
              <a:rPr lang="en-US" sz="2000" b="1" dirty="0">
                <a:effectLst/>
                <a:latin typeface="Calibri" panose="020F0502020204030204" pitchFamily="34" charset="0"/>
              </a:rPr>
              <a:t>Result</a:t>
            </a:r>
            <a:r>
              <a:rPr lang="en-US" sz="2000" dirty="0">
                <a:effectLst/>
                <a:latin typeface="Calibri" panose="020F0502020204030204" pitchFamily="34" charset="0"/>
              </a:rPr>
              <a:t>: Projects done to test things. Example: Does this drug cure this disease?</a:t>
            </a:r>
            <a:endParaRPr lang="en-US" sz="1100" dirty="0">
              <a:effectLst/>
              <a:latin typeface="Calibri" panose="020F0502020204030204" pitchFamily="34"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Tree>
    <p:extLst>
      <p:ext uri="{BB962C8B-B14F-4D97-AF65-F5344CB8AC3E}">
        <p14:creationId xmlns:p14="http://schemas.microsoft.com/office/powerpoint/2010/main" val="1627485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Project Management</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8</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marL="0" marR="0" indent="0">
              <a:spcBef>
                <a:spcPts val="0"/>
              </a:spcBef>
              <a:spcAft>
                <a:spcPts val="0"/>
              </a:spcAft>
              <a:buNone/>
            </a:pPr>
            <a:r>
              <a:rPr lang="en-US" sz="1800" b="1" dirty="0">
                <a:effectLst/>
                <a:latin typeface="Calibri" panose="020F0502020204030204" pitchFamily="34" charset="0"/>
              </a:rPr>
              <a:t>The application of knowledge, skills, tools, and techniques to satisfy project requirements.</a:t>
            </a:r>
          </a:p>
          <a:p>
            <a:pPr marL="0" marR="0" indent="0">
              <a:spcBef>
                <a:spcPts val="0"/>
              </a:spcBef>
              <a:spcAft>
                <a:spcPts val="0"/>
              </a:spcAft>
              <a:buNone/>
            </a:pPr>
            <a:endParaRPr lang="en-US" sz="1800" b="1" dirty="0">
              <a:effectLst/>
              <a:latin typeface="Calibri" panose="020F0502020204030204" pitchFamily="34" charset="0"/>
            </a:endParaRPr>
          </a:p>
          <a:p>
            <a:pPr>
              <a:spcBef>
                <a:spcPts val="0"/>
              </a:spcBef>
            </a:pPr>
            <a:r>
              <a:rPr lang="en-US" sz="1800" i="1" dirty="0">
                <a:effectLst/>
                <a:latin typeface="Calibri" panose="020F0502020204030204" pitchFamily="34" charset="0"/>
              </a:rPr>
              <a:t>Gather the requirements, know that the project is about. What is it that the stakeholders want? PMs will use their knowledge on different skills, whether it is communication skills, stakeholder management skills, people skills, different tools like expert judgement or different ways of estimating used to get these requirements done.</a:t>
            </a:r>
          </a:p>
          <a:p>
            <a:pPr marL="0" indent="0">
              <a:spcBef>
                <a:spcPts val="0"/>
              </a:spcBef>
              <a:buNone/>
            </a:pPr>
            <a:endParaRPr lang="en-US" i="1" dirty="0">
              <a:latin typeface="Calibri" panose="020F0502020204030204" pitchFamily="34" charset="0"/>
            </a:endParaRPr>
          </a:p>
          <a:p>
            <a:pPr marL="0" indent="0">
              <a:spcBef>
                <a:spcPts val="0"/>
              </a:spcBef>
              <a:buNone/>
            </a:pPr>
            <a:r>
              <a:rPr lang="en-US" sz="1800" i="1" dirty="0">
                <a:effectLst/>
                <a:latin typeface="Calibri" panose="020F0502020204030204" pitchFamily="34" charset="0"/>
              </a:rPr>
              <a:t>Examples of what PM’s do:</a:t>
            </a:r>
            <a:endParaRPr lang="en-US" sz="1800" dirty="0">
              <a:effectLst/>
              <a:latin typeface="Calibri" panose="020F0502020204030204" pitchFamily="34" charset="0"/>
            </a:endParaRPr>
          </a:p>
          <a:p>
            <a:pPr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rPr>
              <a:t>Preparing a business case to justify the investment.</a:t>
            </a:r>
          </a:p>
          <a:p>
            <a:pPr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rPr>
              <a:t>Estimating resources and times.</a:t>
            </a:r>
          </a:p>
          <a:p>
            <a:pPr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rPr>
              <a:t>Developing and implementing a management plan for the project.</a:t>
            </a:r>
          </a:p>
          <a:p>
            <a:pPr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rPr>
              <a:t>Leading and motivating the project delivery team.</a:t>
            </a:r>
          </a:p>
          <a:p>
            <a:pPr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rPr>
              <a:t>Managing the risks, issues, and changes on the project.</a:t>
            </a:r>
          </a:p>
          <a:p>
            <a:pPr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rPr>
              <a:t>Monitoring progress against plan.</a:t>
            </a:r>
          </a:p>
          <a:p>
            <a:pPr rtl="0" fontAlgn="ctr">
              <a:spcBef>
                <a:spcPts val="0"/>
              </a:spcBef>
              <a:spcAft>
                <a:spcPts val="0"/>
              </a:spcAft>
              <a:buFont typeface="Arial" panose="020B0604020202020204" pitchFamily="34" charset="0"/>
              <a:buChar char="•"/>
            </a:pPr>
            <a:r>
              <a:rPr lang="en-US" sz="1800" dirty="0">
                <a:effectLst/>
                <a:latin typeface="Calibri" panose="020F0502020204030204" pitchFamily="34" charset="0"/>
              </a:rPr>
              <a:t>Closing the project in a controlled fashion when appropriate. </a:t>
            </a: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Tree>
    <p:extLst>
      <p:ext uri="{BB962C8B-B14F-4D97-AF65-F5344CB8AC3E}">
        <p14:creationId xmlns:p14="http://schemas.microsoft.com/office/powerpoint/2010/main" val="576066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Value of projects</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9</a:t>
            </a:fld>
            <a:endParaRPr lang="en-US" dirty="0"/>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a:spcBef>
                <a:spcPts val="0"/>
              </a:spcBef>
              <a:spcAft>
                <a:spcPts val="1100"/>
              </a:spcAft>
            </a:pPr>
            <a:r>
              <a:rPr lang="en-US" dirty="0">
                <a:latin typeface="Calibri" panose="020F0502020204030204" pitchFamily="34" charset="0"/>
              </a:rPr>
              <a:t>What value will this project bring to the company upon completion?  </a:t>
            </a:r>
          </a:p>
          <a:p>
            <a:pPr>
              <a:spcBef>
                <a:spcPts val="0"/>
              </a:spcBef>
              <a:spcAft>
                <a:spcPts val="1100"/>
              </a:spcAft>
            </a:pPr>
            <a:r>
              <a:rPr lang="en-US" dirty="0">
                <a:latin typeface="Calibri" panose="020F0502020204030204" pitchFamily="34" charset="0"/>
              </a:rPr>
              <a:t>Why should we undertake this project? </a:t>
            </a:r>
          </a:p>
          <a:p>
            <a:pPr>
              <a:spcBef>
                <a:spcPts val="0"/>
              </a:spcBef>
              <a:spcAft>
                <a:spcPts val="1100"/>
              </a:spcAft>
            </a:pPr>
            <a:r>
              <a:rPr lang="en-US" dirty="0">
                <a:latin typeface="Calibri" panose="020F0502020204030204" pitchFamily="34" charset="0"/>
              </a:rPr>
              <a:t>What will result from this project? </a:t>
            </a:r>
          </a:p>
          <a:p>
            <a:pPr lvl="1">
              <a:spcBef>
                <a:spcPts val="0"/>
              </a:spcBef>
              <a:spcAft>
                <a:spcPts val="1100"/>
              </a:spcAft>
            </a:pPr>
            <a:r>
              <a:rPr lang="en-US" sz="1800" dirty="0">
                <a:latin typeface="Calibri" panose="020F0502020204030204" pitchFamily="34" charset="0"/>
              </a:rPr>
              <a:t>Money, Brand Reputation, Customer Service, New or Change product or Service</a:t>
            </a:r>
          </a:p>
          <a:p>
            <a:pPr marL="338328" lvl="1" indent="0">
              <a:spcBef>
                <a:spcPts val="0"/>
              </a:spcBef>
              <a:spcAft>
                <a:spcPts val="1100"/>
              </a:spcAft>
              <a:buNone/>
            </a:pPr>
            <a:endParaRPr lang="en-US" sz="1800" dirty="0">
              <a:latin typeface="Calibri" panose="020F0502020204030204" pitchFamily="34" charset="0"/>
            </a:endParaRPr>
          </a:p>
          <a:p>
            <a:pPr>
              <a:spcBef>
                <a:spcPts val="0"/>
              </a:spcBef>
              <a:spcAft>
                <a:spcPts val="1100"/>
              </a:spcAft>
            </a:pPr>
            <a:r>
              <a:rPr lang="en-US" dirty="0">
                <a:latin typeface="Calibri" panose="020F0502020204030204" pitchFamily="34" charset="0"/>
              </a:rPr>
              <a:t>No project should be done if it does not deliver value to that particular business, company, or stakeholders involved in that project.</a:t>
            </a:r>
          </a:p>
          <a:p>
            <a:pPr>
              <a:spcBef>
                <a:spcPts val="0"/>
              </a:spcBef>
              <a:spcAft>
                <a:spcPts val="1100"/>
              </a:spcAft>
            </a:pPr>
            <a:endParaRPr lang="en-US" dirty="0">
              <a:solidFill>
                <a:srgbClr val="000000"/>
              </a:solidFill>
              <a:latin typeface="Times New Roman" panose="02020603050405020304" pitchFamily="18" charset="0"/>
            </a:endParaRPr>
          </a:p>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Tree>
    <p:extLst>
      <p:ext uri="{BB962C8B-B14F-4D97-AF65-F5344CB8AC3E}">
        <p14:creationId xmlns:p14="http://schemas.microsoft.com/office/powerpoint/2010/main" val="4132932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Operations management</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marR="0">
              <a:spcBef>
                <a:spcPts val="0"/>
              </a:spcBef>
              <a:spcAft>
                <a:spcPts val="1100"/>
              </a:spcAft>
            </a:pPr>
            <a:r>
              <a:rPr lang="en-US" dirty="0">
                <a:latin typeface="Calibri" panose="020F0502020204030204" pitchFamily="34" charset="0"/>
              </a:rPr>
              <a:t>Different than a project since Operations is ongoing(no start date or end date) whereas a project is temporary </a:t>
            </a:r>
          </a:p>
          <a:p>
            <a:pPr>
              <a:spcBef>
                <a:spcPts val="0"/>
              </a:spcBef>
              <a:spcAft>
                <a:spcPts val="1100"/>
              </a:spcAft>
            </a:pPr>
            <a:r>
              <a:rPr lang="en-US" dirty="0">
                <a:latin typeface="Calibri" panose="020F0502020204030204" pitchFamily="34" charset="0"/>
              </a:rPr>
              <a:t>Deals with the ongoing production of goods and/or Services</a:t>
            </a:r>
          </a:p>
          <a:p>
            <a:pPr>
              <a:spcBef>
                <a:spcPts val="0"/>
              </a:spcBef>
              <a:spcAft>
                <a:spcPts val="1100"/>
              </a:spcAft>
            </a:pPr>
            <a:r>
              <a:rPr lang="en-US" dirty="0">
                <a:latin typeface="Calibri" panose="020F0502020204030204" pitchFamily="34" charset="0"/>
              </a:rPr>
              <a:t>Considers the acquisition, development, and utilization of resources that firms need to deliver the goods and services</a:t>
            </a:r>
          </a:p>
          <a:p>
            <a:pPr fontAlgn="ctr">
              <a:spcBef>
                <a:spcPts val="0"/>
              </a:spcBef>
              <a:spcAft>
                <a:spcPts val="1100"/>
              </a:spcAft>
            </a:pPr>
            <a:r>
              <a:rPr lang="en-US" dirty="0">
                <a:latin typeface="Calibri" panose="020F0502020204030204" pitchFamily="34" charset="0"/>
              </a:rPr>
              <a:t>Example: Sales Department is in charge of making sales, IT Engineer is in charge of network operations and companies cannot function without either.</a:t>
            </a:r>
          </a:p>
          <a:p>
            <a:pPr>
              <a:spcBef>
                <a:spcPts val="0"/>
              </a:spcBef>
              <a:spcAft>
                <a:spcPts val="1100"/>
              </a:spcAft>
            </a:pPr>
            <a:endParaRPr lang="en-US" dirty="0">
              <a:solidFill>
                <a:srgbClr val="000000"/>
              </a:solidFill>
              <a:latin typeface="Times New Roman" panose="02020603050405020304" pitchFamily="18" charset="0"/>
            </a:endParaRPr>
          </a:p>
          <a:p>
            <a:pPr marL="0" indent="0">
              <a:spcBef>
                <a:spcPts val="0"/>
              </a:spcBef>
              <a:spcAft>
                <a:spcPts val="1100"/>
              </a:spcAft>
              <a:buNone/>
            </a:pPr>
            <a:endParaRPr lang="en-US" sz="1800" dirty="0">
              <a:effectLst/>
              <a:latin typeface="Times New Roman" panose="02020603050405020304" pitchFamily="18" charset="0"/>
            </a:endParaRP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10</a:t>
            </a:fld>
            <a:endParaRPr lang="en-US" dirty="0"/>
          </a:p>
        </p:txBody>
      </p:sp>
    </p:spTree>
    <p:extLst>
      <p:ext uri="{BB962C8B-B14F-4D97-AF65-F5344CB8AC3E}">
        <p14:creationId xmlns:p14="http://schemas.microsoft.com/office/powerpoint/2010/main" val="336676333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Portfolio management</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a:spcBef>
                <a:spcPts val="0"/>
              </a:spcBef>
            </a:pPr>
            <a:r>
              <a:rPr lang="en-US" dirty="0">
                <a:latin typeface="Calibri" panose="020F0502020204030204" pitchFamily="34" charset="0"/>
              </a:rPr>
              <a:t>A portfolio is a collection of projects, programs, subsidiary portfolios, and operations managed as a group to achieve strategic objectives. </a:t>
            </a:r>
          </a:p>
          <a:p>
            <a:pPr rtl="0" fontAlgn="ctr">
              <a:spcBef>
                <a:spcPts val="0"/>
              </a:spcBef>
              <a:spcAft>
                <a:spcPts val="0"/>
              </a:spcAft>
              <a:buFont typeface="Arial" panose="020B0604020202020204" pitchFamily="34" charset="0"/>
              <a:buChar char="•"/>
            </a:pPr>
            <a:r>
              <a:rPr lang="en-US" dirty="0">
                <a:latin typeface="Calibri" panose="020F0502020204030204" pitchFamily="34" charset="0"/>
              </a:rPr>
              <a:t>A Portfolio Manager manages project managers and program managers.** &lt;&lt;know this for the exam&gt;&gt;</a:t>
            </a:r>
          </a:p>
          <a:p>
            <a:pPr rtl="0" fontAlgn="ctr">
              <a:spcBef>
                <a:spcPts val="0"/>
              </a:spcBef>
              <a:spcAft>
                <a:spcPts val="0"/>
              </a:spcAft>
              <a:buFont typeface="Arial" panose="020B0604020202020204" pitchFamily="34" charset="0"/>
              <a:buChar char="•"/>
            </a:pPr>
            <a:r>
              <a:rPr lang="en-US" dirty="0">
                <a:latin typeface="Calibri" panose="020F0502020204030204" pitchFamily="34" charset="0"/>
              </a:rPr>
              <a:t>If you're working on a portfolio, it just means that the objectives of your project stays the same, but it's part of a larger portfolio to accomplish a big company goal.</a:t>
            </a:r>
          </a:p>
          <a:p>
            <a:pPr lvl="1" fontAlgn="ctr">
              <a:spcBef>
                <a:spcPts val="0"/>
              </a:spcBef>
            </a:pPr>
            <a:r>
              <a:rPr lang="en-US" dirty="0">
                <a:latin typeface="Calibri" panose="020F0502020204030204" pitchFamily="34" charset="0"/>
              </a:rPr>
              <a:t>Example: A company has a 3 to 5 year goal of increasing revenue by 50%. </a:t>
            </a:r>
          </a:p>
          <a:p>
            <a:pPr lvl="2" fontAlgn="ctr">
              <a:spcBef>
                <a:spcPts val="0"/>
              </a:spcBef>
            </a:pPr>
            <a:r>
              <a:rPr lang="en-US" dirty="0">
                <a:latin typeface="Calibri" panose="020F0502020204030204" pitchFamily="34" charset="0"/>
              </a:rPr>
              <a:t>To increase revenue by 50%, they may have to introduce a brand new project, ex: a new car. This would be considered a pretty big project.</a:t>
            </a:r>
          </a:p>
          <a:p>
            <a:pPr lvl="2" fontAlgn="ctr">
              <a:spcBef>
                <a:spcPts val="0"/>
              </a:spcBef>
            </a:pPr>
            <a:r>
              <a:rPr lang="en-US" dirty="0">
                <a:latin typeface="Calibri" panose="020F0502020204030204" pitchFamily="34" charset="0"/>
              </a:rPr>
              <a:t>Big projects such as these should be broken down to get the benefits that’s needed from managing them individual (aka a Program).</a:t>
            </a:r>
          </a:p>
          <a:p>
            <a:pPr lvl="2" fontAlgn="ctr">
              <a:spcBef>
                <a:spcPts val="0"/>
              </a:spcBef>
            </a:pPr>
            <a:r>
              <a:rPr lang="en-US" dirty="0">
                <a:latin typeface="Calibri" panose="020F0502020204030204" pitchFamily="34" charset="0"/>
              </a:rPr>
              <a:t>So in order to increase your revenue by 50%, you’re going to need one program to create a brand new product.</a:t>
            </a:r>
          </a:p>
          <a:p>
            <a:pPr marL="0" indent="0">
              <a:spcBef>
                <a:spcPts val="0"/>
              </a:spcBef>
              <a:spcAft>
                <a:spcPts val="0"/>
              </a:spcAft>
              <a:buNone/>
            </a:pPr>
            <a:endParaRPr lang="en-US" dirty="0">
              <a:latin typeface="Calibri" panose="020F0502020204030204" pitchFamily="34" charset="0"/>
            </a:endParaRPr>
          </a:p>
          <a:p>
            <a:pPr rtl="0" fontAlgn="ctr">
              <a:spcBef>
                <a:spcPts val="0"/>
              </a:spcBef>
              <a:spcAft>
                <a:spcPts val="300"/>
              </a:spcAft>
              <a:buFont typeface="Arial" panose="020B0604020202020204" pitchFamily="34" charset="0"/>
              <a:buChar char="•"/>
            </a:pPr>
            <a:r>
              <a:rPr lang="en-US" dirty="0">
                <a:latin typeface="Calibri" panose="020F0502020204030204" pitchFamily="34" charset="0"/>
              </a:rPr>
              <a:t>Collections of Projects, Programs, subsidiarity Portfolios</a:t>
            </a:r>
          </a:p>
          <a:p>
            <a:pPr rtl="0" fontAlgn="ctr">
              <a:spcBef>
                <a:spcPts val="0"/>
              </a:spcBef>
              <a:spcAft>
                <a:spcPts val="300"/>
              </a:spcAft>
              <a:buFont typeface="Arial" panose="020B0604020202020204" pitchFamily="34" charset="0"/>
              <a:buChar char="•"/>
            </a:pPr>
            <a:r>
              <a:rPr lang="en-US" dirty="0">
                <a:latin typeface="Calibri" panose="020F0502020204030204" pitchFamily="34" charset="0"/>
              </a:rPr>
              <a:t>Achieve strategic (long term) objectives </a:t>
            </a:r>
          </a:p>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11</a:t>
            </a:fld>
            <a:endParaRPr lang="en-US" dirty="0"/>
          </a:p>
        </p:txBody>
      </p:sp>
      <p:pic>
        <p:nvPicPr>
          <p:cNvPr id="5" name="Picture 4">
            <a:extLst>
              <a:ext uri="{FF2B5EF4-FFF2-40B4-BE49-F238E27FC236}">
                <a16:creationId xmlns:a16="http://schemas.microsoft.com/office/drawing/2014/main" id="{7F8F2834-5FA1-4132-20F5-DBD52E3FA581}"/>
              </a:ext>
            </a:extLst>
          </p:cNvPr>
          <p:cNvPicPr>
            <a:picLocks noChangeAspect="1"/>
          </p:cNvPicPr>
          <p:nvPr/>
        </p:nvPicPr>
        <p:blipFill>
          <a:blip r:embed="rId3"/>
          <a:stretch>
            <a:fillRect/>
          </a:stretch>
        </p:blipFill>
        <p:spPr>
          <a:xfrm>
            <a:off x="2399251" y="4915949"/>
            <a:ext cx="6988030" cy="1485857"/>
          </a:xfrm>
          <a:prstGeom prst="rect">
            <a:avLst/>
          </a:prstGeom>
        </p:spPr>
      </p:pic>
    </p:spTree>
    <p:extLst>
      <p:ext uri="{BB962C8B-B14F-4D97-AF65-F5344CB8AC3E}">
        <p14:creationId xmlns:p14="http://schemas.microsoft.com/office/powerpoint/2010/main" val="285030827"/>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Phases &amp; Deliverables</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12</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pic>
        <p:nvPicPr>
          <p:cNvPr id="1026" name="Picture 2">
            <a:extLst>
              <a:ext uri="{FF2B5EF4-FFF2-40B4-BE49-F238E27FC236}">
                <a16:creationId xmlns:a16="http://schemas.microsoft.com/office/drawing/2014/main" id="{736F99F7-ABA9-0471-DB22-8B7A845ADE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6737" y="2533159"/>
            <a:ext cx="3062407" cy="210595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CE81107-5100-3DC7-8AE2-C6ED56692EBB}"/>
              </a:ext>
            </a:extLst>
          </p:cNvPr>
          <p:cNvSpPr txBox="1"/>
          <p:nvPr/>
        </p:nvSpPr>
        <p:spPr>
          <a:xfrm>
            <a:off x="235962" y="1224289"/>
            <a:ext cx="11813608" cy="3939540"/>
          </a:xfrm>
          <a:prstGeom prst="rect">
            <a:avLst/>
          </a:prstGeom>
          <a:noFill/>
        </p:spPr>
        <p:txBody>
          <a:bodyPr wrap="square">
            <a:spAutoFit/>
          </a:bodyPr>
          <a:lstStyle/>
          <a:p>
            <a:pPr>
              <a:spcBef>
                <a:spcPts val="0"/>
              </a:spcBef>
              <a:spcAft>
                <a:spcPts val="0"/>
              </a:spcAft>
            </a:pPr>
            <a:r>
              <a:rPr lang="en-US" b="1" dirty="0">
                <a:solidFill>
                  <a:schemeClr val="accent6"/>
                </a:solidFill>
                <a:latin typeface="Calibri" panose="020F0502020204030204" pitchFamily="34" charset="0"/>
              </a:rPr>
              <a:t> A phase is a collection of logically related project activities that culminates in the completion of one or more deliverables</a:t>
            </a:r>
            <a:r>
              <a:rPr lang="en-US" sz="1600" b="1" dirty="0">
                <a:solidFill>
                  <a:schemeClr val="accent6"/>
                </a:solidFill>
                <a:latin typeface="Calibri" panose="020F0502020204030204" pitchFamily="34" charset="0"/>
              </a:rPr>
              <a:t>.</a:t>
            </a:r>
          </a:p>
          <a:p>
            <a:pPr>
              <a:spcBef>
                <a:spcPts val="0"/>
              </a:spcBef>
              <a:spcAft>
                <a:spcPts val="0"/>
              </a:spcAft>
            </a:pPr>
            <a:r>
              <a:rPr lang="en-US" sz="1600" b="1" dirty="0">
                <a:solidFill>
                  <a:schemeClr val="accent6"/>
                </a:solidFill>
                <a:latin typeface="Calibri" panose="020F0502020204030204" pitchFamily="34" charset="0"/>
              </a:rPr>
              <a:t> </a:t>
            </a:r>
          </a:p>
          <a:p>
            <a:pPr marL="28575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A phase is done to complete a deliverable. When you complete a phase, you have a deliverable.</a:t>
            </a:r>
          </a:p>
          <a:p>
            <a:pPr marL="28575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Project activities that are getting done to complete the project deliverable. </a:t>
            </a:r>
          </a:p>
          <a:p>
            <a:pPr marL="742950" lvl="1" indent="-285750">
              <a:buFont typeface="Arial" panose="020B0604020202020204" pitchFamily="34" charset="0"/>
              <a:buChar char="•"/>
            </a:pPr>
            <a:r>
              <a:rPr lang="en-US" dirty="0">
                <a:solidFill>
                  <a:schemeClr val="accent6"/>
                </a:solidFill>
                <a:latin typeface="Calibri" panose="020F0502020204030204" pitchFamily="34" charset="0"/>
              </a:rPr>
              <a:t>Example: Developing a Software:</a:t>
            </a:r>
          </a:p>
          <a:p>
            <a:pPr marL="1200150" lvl="2" indent="-285750">
              <a:buFont typeface="Arial" panose="020B0604020202020204" pitchFamily="34" charset="0"/>
              <a:buChar char="•"/>
            </a:pPr>
            <a:r>
              <a:rPr lang="en-US" dirty="0">
                <a:solidFill>
                  <a:schemeClr val="accent6"/>
                </a:solidFill>
                <a:latin typeface="Calibri" panose="020F0502020204030204" pitchFamily="34" charset="0"/>
              </a:rPr>
              <a:t>Phase 1: Gather the Requirements</a:t>
            </a:r>
          </a:p>
          <a:p>
            <a:pPr marL="1200150" lvl="2" indent="-285750">
              <a:buFont typeface="Arial" panose="020B0604020202020204" pitchFamily="34" charset="0"/>
              <a:buChar char="•"/>
            </a:pPr>
            <a:r>
              <a:rPr lang="en-US" dirty="0">
                <a:solidFill>
                  <a:schemeClr val="accent6"/>
                </a:solidFill>
                <a:latin typeface="Calibri" panose="020F0502020204030204" pitchFamily="34" charset="0"/>
              </a:rPr>
              <a:t>Phase 2: Get the Approval to Start</a:t>
            </a:r>
          </a:p>
          <a:p>
            <a:pPr marL="1200150" lvl="2" indent="-285750">
              <a:buFont typeface="Arial" panose="020B0604020202020204" pitchFamily="34" charset="0"/>
              <a:buChar char="•"/>
            </a:pPr>
            <a:r>
              <a:rPr lang="en-US" dirty="0">
                <a:solidFill>
                  <a:schemeClr val="accent6"/>
                </a:solidFill>
                <a:latin typeface="Calibri" panose="020F0502020204030204" pitchFamily="34" charset="0"/>
              </a:rPr>
              <a:t>Phase 3: Design the Software</a:t>
            </a:r>
          </a:p>
          <a:p>
            <a:pPr marL="1200150" lvl="2" indent="-285750">
              <a:buFont typeface="Arial" panose="020B0604020202020204" pitchFamily="34" charset="0"/>
              <a:buChar char="•"/>
            </a:pPr>
            <a:r>
              <a:rPr lang="en-US" dirty="0">
                <a:solidFill>
                  <a:schemeClr val="accent6"/>
                </a:solidFill>
                <a:latin typeface="Calibri" panose="020F0502020204030204" pitchFamily="34" charset="0"/>
              </a:rPr>
              <a:t>Phase 4: Program the Software</a:t>
            </a:r>
          </a:p>
          <a:p>
            <a:pPr marL="1200150" lvl="2" indent="-285750">
              <a:buFont typeface="Arial" panose="020B0604020202020204" pitchFamily="34" charset="0"/>
              <a:buChar char="•"/>
            </a:pPr>
            <a:r>
              <a:rPr lang="en-US" dirty="0">
                <a:solidFill>
                  <a:schemeClr val="accent6"/>
                </a:solidFill>
                <a:latin typeface="Calibri" panose="020F0502020204030204" pitchFamily="34" charset="0"/>
              </a:rPr>
              <a:t>Phase 5: Test the Software</a:t>
            </a:r>
          </a:p>
          <a:p>
            <a:pPr marL="1200150" lvl="2" indent="-285750">
              <a:buFont typeface="Arial" panose="020B0604020202020204" pitchFamily="34" charset="0"/>
              <a:buChar char="•"/>
            </a:pPr>
            <a:r>
              <a:rPr lang="en-US" dirty="0">
                <a:solidFill>
                  <a:schemeClr val="accent6"/>
                </a:solidFill>
                <a:latin typeface="Calibri" panose="020F0502020204030204" pitchFamily="34" charset="0"/>
              </a:rPr>
              <a:t>Phase 6: Install the Software</a:t>
            </a:r>
          </a:p>
          <a:p>
            <a:pPr lvl="1"/>
            <a:endParaRPr lang="en-US" dirty="0">
              <a:solidFill>
                <a:schemeClr val="accent6"/>
              </a:solidFill>
              <a:latin typeface="Calibri" panose="020F0502020204030204" pitchFamily="34" charset="0"/>
            </a:endParaRPr>
          </a:p>
          <a:p>
            <a:pPr marL="285750" indent="-285750">
              <a:buFont typeface="Arial" panose="020B0604020202020204" pitchFamily="34" charset="0"/>
              <a:buChar char="•"/>
            </a:pPr>
            <a:r>
              <a:rPr lang="en-US" dirty="0">
                <a:solidFill>
                  <a:schemeClr val="accent6"/>
                </a:solidFill>
                <a:latin typeface="Calibri" panose="020F0502020204030204" pitchFamily="34" charset="0"/>
              </a:rPr>
              <a:t>A phase is only completed if you achieve a deliverable at the end of it.</a:t>
            </a:r>
          </a:p>
          <a:p>
            <a:pPr marL="285750" indent="-285750">
              <a:buFont typeface="Arial" panose="020B0604020202020204" pitchFamily="34" charset="0"/>
              <a:buChar char="•"/>
            </a:pPr>
            <a:r>
              <a:rPr lang="en-US" dirty="0">
                <a:solidFill>
                  <a:schemeClr val="accent6"/>
                </a:solidFill>
                <a:latin typeface="Calibri" panose="020F0502020204030204" pitchFamily="34" charset="0"/>
              </a:rPr>
              <a:t>The number of phases depends on the industry type and size and the complexity of the project.</a:t>
            </a:r>
          </a:p>
        </p:txBody>
      </p:sp>
    </p:spTree>
    <p:extLst>
      <p:ext uri="{BB962C8B-B14F-4D97-AF65-F5344CB8AC3E}">
        <p14:creationId xmlns:p14="http://schemas.microsoft.com/office/powerpoint/2010/main" val="2988957605"/>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Phases &amp; Deliverables</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13</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pic>
        <p:nvPicPr>
          <p:cNvPr id="1026" name="Picture 2">
            <a:extLst>
              <a:ext uri="{FF2B5EF4-FFF2-40B4-BE49-F238E27FC236}">
                <a16:creationId xmlns:a16="http://schemas.microsoft.com/office/drawing/2014/main" id="{736F99F7-ABA9-0471-DB22-8B7A845ADE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0726" y="1115419"/>
            <a:ext cx="3062407" cy="210595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CE81107-5100-3DC7-8AE2-C6ED56692EBB}"/>
              </a:ext>
            </a:extLst>
          </p:cNvPr>
          <p:cNvSpPr txBox="1"/>
          <p:nvPr/>
        </p:nvSpPr>
        <p:spPr>
          <a:xfrm>
            <a:off x="235962" y="1224289"/>
            <a:ext cx="11813608" cy="1723549"/>
          </a:xfrm>
          <a:prstGeom prst="rect">
            <a:avLst/>
          </a:prstGeom>
          <a:noFill/>
        </p:spPr>
        <p:txBody>
          <a:bodyPr wrap="square">
            <a:spAutoFit/>
          </a:bodyPr>
          <a:lstStyle/>
          <a:p>
            <a:pPr>
              <a:spcBef>
                <a:spcPts val="0"/>
              </a:spcBef>
              <a:spcAft>
                <a:spcPts val="0"/>
              </a:spcAft>
            </a:pPr>
            <a:r>
              <a:rPr lang="en-US" b="1" dirty="0">
                <a:solidFill>
                  <a:schemeClr val="accent6"/>
                </a:solidFill>
                <a:latin typeface="Calibri" panose="020F0502020204030204" pitchFamily="34" charset="0"/>
              </a:rPr>
              <a:t> A deliverable is any unique and verifiable product, service, or result.</a:t>
            </a:r>
            <a:endParaRPr lang="en-US" sz="1600" b="1" dirty="0">
              <a:solidFill>
                <a:schemeClr val="accent6"/>
              </a:solidFill>
              <a:latin typeface="Calibri" panose="020F0502020204030204" pitchFamily="34" charset="0"/>
            </a:endParaRPr>
          </a:p>
          <a:p>
            <a:pPr>
              <a:spcBef>
                <a:spcPts val="0"/>
              </a:spcBef>
              <a:spcAft>
                <a:spcPts val="0"/>
              </a:spcAft>
            </a:pPr>
            <a:r>
              <a:rPr lang="en-US" sz="1600" b="1" dirty="0">
                <a:solidFill>
                  <a:schemeClr val="accent6"/>
                </a:solidFill>
                <a:latin typeface="Calibri" panose="020F0502020204030204" pitchFamily="34" charset="0"/>
              </a:rPr>
              <a:t> </a:t>
            </a:r>
          </a:p>
          <a:p>
            <a:pPr marL="28575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A deliverable is what you get at the end of the a phase.</a:t>
            </a:r>
          </a:p>
          <a:p>
            <a:pPr marL="28575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May be tangible or intangible.</a:t>
            </a:r>
          </a:p>
          <a:p>
            <a:pPr marL="28575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Must be accepted by customer or sponsor for the phase.</a:t>
            </a:r>
          </a:p>
          <a:p>
            <a:pPr lvl="1"/>
            <a:endParaRPr lang="en-US" dirty="0">
              <a:solidFill>
                <a:schemeClr val="accent6"/>
              </a:solidFill>
              <a:latin typeface="Calibri" panose="020F0502020204030204" pitchFamily="34" charset="0"/>
            </a:endParaRPr>
          </a:p>
        </p:txBody>
      </p:sp>
    </p:spTree>
    <p:extLst>
      <p:ext uri="{BB962C8B-B14F-4D97-AF65-F5344CB8AC3E}">
        <p14:creationId xmlns:p14="http://schemas.microsoft.com/office/powerpoint/2010/main" val="471398673"/>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Program Management</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14</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0CE81107-5100-3DC7-8AE2-C6ED56692EBB}"/>
              </a:ext>
            </a:extLst>
          </p:cNvPr>
          <p:cNvSpPr txBox="1"/>
          <p:nvPr/>
        </p:nvSpPr>
        <p:spPr>
          <a:xfrm>
            <a:off x="235962" y="1224289"/>
            <a:ext cx="11813608" cy="3654847"/>
          </a:xfrm>
          <a:prstGeom prst="rect">
            <a:avLst/>
          </a:prstGeom>
          <a:noFill/>
        </p:spPr>
        <p:txBody>
          <a:bodyPr wrap="square">
            <a:spAutoFit/>
          </a:bodyPr>
          <a:lstStyle/>
          <a:p>
            <a:pPr>
              <a:spcBef>
                <a:spcPts val="0"/>
              </a:spcBef>
              <a:spcAft>
                <a:spcPts val="0"/>
              </a:spcAft>
            </a:pPr>
            <a:r>
              <a:rPr lang="en-US" b="1" dirty="0">
                <a:solidFill>
                  <a:schemeClr val="accent6"/>
                </a:solidFill>
                <a:latin typeface="Calibri" panose="020F0502020204030204" pitchFamily="34" charset="0"/>
              </a:rPr>
              <a:t> A group of projects managed in a coordinated way to obtain benefits and control, not available from managing them individually.</a:t>
            </a:r>
            <a:endParaRPr lang="en-US" sz="1600" b="1" dirty="0">
              <a:solidFill>
                <a:schemeClr val="accent6"/>
              </a:solidFill>
              <a:latin typeface="Calibri" panose="020F0502020204030204" pitchFamily="34" charset="0"/>
            </a:endParaRPr>
          </a:p>
          <a:p>
            <a:pPr>
              <a:spcBef>
                <a:spcPts val="0"/>
              </a:spcBef>
              <a:spcAft>
                <a:spcPts val="0"/>
              </a:spcAft>
            </a:pPr>
            <a:r>
              <a:rPr lang="en-US" sz="1600" b="1" dirty="0">
                <a:solidFill>
                  <a:schemeClr val="accent6"/>
                </a:solidFill>
                <a:latin typeface="Calibri" panose="020F0502020204030204" pitchFamily="34" charset="0"/>
              </a:rPr>
              <a:t> </a:t>
            </a:r>
          </a:p>
          <a:p>
            <a:pPr marL="285750" indent="-285750">
              <a:spcBef>
                <a:spcPts val="0"/>
              </a:spcBef>
              <a:spcAft>
                <a:spcPts val="300"/>
              </a:spcAft>
              <a:buFont typeface="Arial" panose="020B0604020202020204" pitchFamily="34" charset="0"/>
              <a:buChar char="•"/>
            </a:pPr>
            <a:r>
              <a:rPr lang="en-US" dirty="0">
                <a:solidFill>
                  <a:schemeClr val="accent6"/>
                </a:solidFill>
                <a:latin typeface="Calibri" panose="020F0502020204030204" pitchFamily="34" charset="0"/>
              </a:rPr>
              <a:t>Program = Group of Projects that are interrelated.</a:t>
            </a:r>
          </a:p>
          <a:p>
            <a:pPr marL="285750" indent="-285750">
              <a:spcBef>
                <a:spcPts val="0"/>
              </a:spcBef>
              <a:spcAft>
                <a:spcPts val="300"/>
              </a:spcAft>
              <a:buFont typeface="Arial" panose="020B0604020202020204" pitchFamily="34" charset="0"/>
              <a:buChar char="•"/>
            </a:pPr>
            <a:r>
              <a:rPr lang="en-US" dirty="0">
                <a:solidFill>
                  <a:schemeClr val="accent6"/>
                </a:solidFill>
                <a:latin typeface="Calibri" panose="020F0502020204030204" pitchFamily="34" charset="0"/>
              </a:rPr>
              <a:t>Program Management = If the project is very large, will you benefit from breaking up a large project into smaller sub projects and then managing them individually and their dependencies and their interdependencies amongst them?</a:t>
            </a:r>
          </a:p>
          <a:p>
            <a:pPr marL="285750" indent="-285750">
              <a:spcBef>
                <a:spcPts val="0"/>
              </a:spcBef>
              <a:spcAft>
                <a:spcPts val="300"/>
              </a:spcAft>
              <a:buFont typeface="Arial" panose="020B0604020202020204" pitchFamily="34" charset="0"/>
              <a:buChar char="•"/>
            </a:pPr>
            <a:r>
              <a:rPr lang="en-US" dirty="0">
                <a:solidFill>
                  <a:schemeClr val="accent6"/>
                </a:solidFill>
                <a:latin typeface="Calibri" panose="020F0502020204030204" pitchFamily="34" charset="0"/>
              </a:rPr>
              <a:t>A Program Manager generally manage very large projects.</a:t>
            </a:r>
          </a:p>
          <a:p>
            <a:pPr marL="285750" indent="-285750">
              <a:spcBef>
                <a:spcPts val="0"/>
              </a:spcBef>
              <a:spcAft>
                <a:spcPts val="300"/>
              </a:spcAft>
              <a:buFont typeface="Arial" panose="020B0604020202020204" pitchFamily="34" charset="0"/>
              <a:buChar char="•"/>
            </a:pPr>
            <a:r>
              <a:rPr lang="en-US" dirty="0">
                <a:solidFill>
                  <a:schemeClr val="accent6"/>
                </a:solidFill>
                <a:latin typeface="Calibri" panose="020F0502020204030204" pitchFamily="34" charset="0"/>
              </a:rPr>
              <a:t>Think of a bigger version of managing a project. </a:t>
            </a:r>
          </a:p>
          <a:p>
            <a:pPr marL="285750" indent="-285750">
              <a:spcBef>
                <a:spcPts val="0"/>
              </a:spcBef>
              <a:spcAft>
                <a:spcPts val="300"/>
              </a:spcAft>
              <a:buFont typeface="Arial" panose="020B0604020202020204" pitchFamily="34" charset="0"/>
              <a:buChar char="•"/>
            </a:pPr>
            <a:r>
              <a:rPr lang="en-US" dirty="0">
                <a:solidFill>
                  <a:schemeClr val="accent6"/>
                </a:solidFill>
                <a:latin typeface="Calibri" panose="020F0502020204030204" pitchFamily="34" charset="0"/>
              </a:rPr>
              <a:t>Must be some value add in managing them together as a program.</a:t>
            </a:r>
          </a:p>
          <a:p>
            <a:pPr marL="285750" indent="-285750">
              <a:spcBef>
                <a:spcPts val="0"/>
              </a:spcBef>
              <a:spcAft>
                <a:spcPts val="300"/>
              </a:spcAft>
              <a:buFont typeface="Arial" panose="020B0604020202020204" pitchFamily="34" charset="0"/>
              <a:buChar char="•"/>
            </a:pPr>
            <a:r>
              <a:rPr lang="en-US" dirty="0">
                <a:solidFill>
                  <a:schemeClr val="accent6"/>
                </a:solidFill>
                <a:latin typeface="Calibri" panose="020F0502020204030204" pitchFamily="34" charset="0"/>
              </a:rPr>
              <a:t>A project may or may not be part of a program, but a program will always have projects.</a:t>
            </a:r>
          </a:p>
          <a:p>
            <a:pPr marL="285750" indent="-285750">
              <a:spcBef>
                <a:spcPts val="0"/>
              </a:spcBef>
              <a:spcAft>
                <a:spcPts val="300"/>
              </a:spcAft>
              <a:buFont typeface="Arial" panose="020B0604020202020204" pitchFamily="34" charset="0"/>
              <a:buChar char="•"/>
            </a:pPr>
            <a:r>
              <a:rPr lang="en-US" dirty="0">
                <a:solidFill>
                  <a:schemeClr val="accent6"/>
                </a:solidFill>
                <a:latin typeface="Calibri" panose="020F0502020204030204" pitchFamily="34" charset="0"/>
              </a:rPr>
              <a:t>Focuses on the project interdependencies and helps to determine the optimal approach for managing them.</a:t>
            </a:r>
          </a:p>
          <a:p>
            <a:pPr lvl="1"/>
            <a:endParaRPr lang="en-US" dirty="0">
              <a:solidFill>
                <a:schemeClr val="accent6"/>
              </a:solidFill>
              <a:latin typeface="Calibri" panose="020F0502020204030204" pitchFamily="34" charset="0"/>
            </a:endParaRPr>
          </a:p>
        </p:txBody>
      </p:sp>
      <p:pic>
        <p:nvPicPr>
          <p:cNvPr id="6" name="Picture 5">
            <a:extLst>
              <a:ext uri="{FF2B5EF4-FFF2-40B4-BE49-F238E27FC236}">
                <a16:creationId xmlns:a16="http://schemas.microsoft.com/office/drawing/2014/main" id="{EC238ECE-6D98-447C-04FB-E4AD62F1F051}"/>
              </a:ext>
            </a:extLst>
          </p:cNvPr>
          <p:cNvPicPr>
            <a:picLocks noChangeAspect="1"/>
          </p:cNvPicPr>
          <p:nvPr/>
        </p:nvPicPr>
        <p:blipFill>
          <a:blip r:embed="rId3"/>
          <a:stretch>
            <a:fillRect/>
          </a:stretch>
        </p:blipFill>
        <p:spPr>
          <a:xfrm>
            <a:off x="3184072" y="5033086"/>
            <a:ext cx="6058746" cy="1600423"/>
          </a:xfrm>
          <a:prstGeom prst="rect">
            <a:avLst/>
          </a:prstGeom>
        </p:spPr>
      </p:pic>
    </p:spTree>
    <p:extLst>
      <p:ext uri="{BB962C8B-B14F-4D97-AF65-F5344CB8AC3E}">
        <p14:creationId xmlns:p14="http://schemas.microsoft.com/office/powerpoint/2010/main" val="299245536"/>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Project Life Cycle</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15</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07651C5-4612-1A1A-D6F0-FF57BA29F325}"/>
              </a:ext>
            </a:extLst>
          </p:cNvPr>
          <p:cNvSpPr txBox="1"/>
          <p:nvPr/>
        </p:nvSpPr>
        <p:spPr>
          <a:xfrm>
            <a:off x="539496" y="1358252"/>
            <a:ext cx="10578517" cy="5432256"/>
          </a:xfrm>
          <a:prstGeom prst="rect">
            <a:avLst/>
          </a:prstGeom>
          <a:noFill/>
        </p:spPr>
        <p:txBody>
          <a:bodyPr wrap="square">
            <a:spAutoFit/>
          </a:bodyPr>
          <a:lstStyle/>
          <a:p>
            <a:pPr>
              <a:spcBef>
                <a:spcPts val="0"/>
              </a:spcBef>
              <a:spcAft>
                <a:spcPts val="0"/>
              </a:spcAft>
            </a:pPr>
            <a:r>
              <a:rPr lang="en-US" b="1" dirty="0">
                <a:solidFill>
                  <a:schemeClr val="accent6"/>
                </a:solidFill>
                <a:latin typeface="Calibri" panose="020F0502020204030204" pitchFamily="34" charset="0"/>
              </a:rPr>
              <a:t> A representation of the phases that a project typically goes through from start to finish.</a:t>
            </a:r>
            <a:endParaRPr lang="en-US" sz="1600" b="1" dirty="0">
              <a:solidFill>
                <a:schemeClr val="accent6"/>
              </a:solidFill>
              <a:latin typeface="Calibri" panose="020F0502020204030204" pitchFamily="34" charset="0"/>
            </a:endParaRPr>
          </a:p>
          <a:p>
            <a:pPr>
              <a:spcBef>
                <a:spcPts val="0"/>
              </a:spcBef>
              <a:spcAft>
                <a:spcPts val="0"/>
              </a:spcAft>
            </a:pPr>
            <a:r>
              <a:rPr lang="en-US" sz="1600" b="1" dirty="0">
                <a:solidFill>
                  <a:schemeClr val="accent6"/>
                </a:solidFill>
                <a:latin typeface="Calibri" panose="020F0502020204030204" pitchFamily="34" charset="0"/>
              </a:rPr>
              <a:t> </a:t>
            </a:r>
          </a:p>
          <a:p>
            <a:pPr marL="285750" indent="-285750">
              <a:spcBef>
                <a:spcPts val="0"/>
              </a:spcBef>
              <a:spcAft>
                <a:spcPts val="300"/>
              </a:spcAft>
              <a:buFont typeface="Arial" panose="020B0604020202020204" pitchFamily="34" charset="0"/>
              <a:buChar char="•"/>
            </a:pPr>
            <a:r>
              <a:rPr lang="en-US" dirty="0">
                <a:solidFill>
                  <a:schemeClr val="accent6"/>
                </a:solidFill>
                <a:latin typeface="Calibri" panose="020F0502020204030204" pitchFamily="34" charset="0"/>
              </a:rPr>
              <a:t>Can be predictive or adaptive</a:t>
            </a:r>
          </a:p>
          <a:p>
            <a:pPr marL="742950" lvl="1" indent="-285750">
              <a:spcAft>
                <a:spcPts val="300"/>
              </a:spcAft>
              <a:buFont typeface="Arial" panose="020B0604020202020204" pitchFamily="34" charset="0"/>
              <a:buChar char="•"/>
            </a:pPr>
            <a:r>
              <a:rPr lang="en-US" dirty="0">
                <a:solidFill>
                  <a:schemeClr val="accent6"/>
                </a:solidFill>
                <a:latin typeface="Calibri" panose="020F0502020204030204" pitchFamily="34" charset="0"/>
              </a:rPr>
              <a:t>Predictive- Waterfall or traditional</a:t>
            </a:r>
          </a:p>
          <a:p>
            <a:pPr marL="1200150" lvl="2" indent="-285750">
              <a:spcAft>
                <a:spcPts val="300"/>
              </a:spcAft>
              <a:buFont typeface="Arial" panose="020B0604020202020204" pitchFamily="34" charset="0"/>
              <a:buChar char="•"/>
            </a:pPr>
            <a:r>
              <a:rPr lang="en-US" dirty="0">
                <a:solidFill>
                  <a:schemeClr val="accent6"/>
                </a:solidFill>
                <a:latin typeface="Calibri" panose="020F0502020204030204" pitchFamily="34" charset="0"/>
              </a:rPr>
              <a:t>A project where you gather all your requirements from your customer and have a set scope, cost, schedule and build out the product in its entirety. Very little interaction with customers/stakeholders until end of project when acceptance is needed.</a:t>
            </a:r>
          </a:p>
          <a:p>
            <a:pPr marL="742950" lvl="1" indent="-285750">
              <a:spcAft>
                <a:spcPts val="300"/>
              </a:spcAft>
              <a:buFont typeface="Arial" panose="020B0604020202020204" pitchFamily="34" charset="0"/>
              <a:buChar char="•"/>
            </a:pPr>
            <a:r>
              <a:rPr lang="en-US" dirty="0">
                <a:solidFill>
                  <a:schemeClr val="accent6"/>
                </a:solidFill>
                <a:latin typeface="Calibri" panose="020F0502020204030204" pitchFamily="34" charset="0"/>
              </a:rPr>
              <a:t>Adaptive- Changes are always coming in. Changing the product to adapt to the needs of stakeholders.</a:t>
            </a:r>
          </a:p>
          <a:p>
            <a:pPr marL="1200150" lvl="2" indent="-285750">
              <a:spcAft>
                <a:spcPts val="300"/>
              </a:spcAft>
              <a:buFont typeface="Arial" panose="020B0604020202020204" pitchFamily="34" charset="0"/>
              <a:buChar char="•"/>
            </a:pPr>
            <a:r>
              <a:rPr lang="en-US" dirty="0">
                <a:solidFill>
                  <a:schemeClr val="accent6"/>
                </a:solidFill>
                <a:latin typeface="Calibri" panose="020F0502020204030204" pitchFamily="34" charset="0"/>
              </a:rPr>
              <a:t>Changes are welcomed and you build a projects in increments.</a:t>
            </a:r>
          </a:p>
          <a:p>
            <a:pPr marL="1200150" lvl="2" indent="-285750">
              <a:spcAft>
                <a:spcPts val="300"/>
              </a:spcAft>
              <a:buFont typeface="Arial" panose="020B0604020202020204" pitchFamily="34" charset="0"/>
              <a:buChar char="•"/>
            </a:pPr>
            <a:r>
              <a:rPr lang="en-US" dirty="0">
                <a:solidFill>
                  <a:schemeClr val="accent6"/>
                </a:solidFill>
                <a:latin typeface="Calibri" panose="020F0502020204030204" pitchFamily="34" charset="0"/>
              </a:rPr>
              <a:t>Agile</a:t>
            </a:r>
          </a:p>
          <a:p>
            <a:pPr marL="1200150" lvl="2" indent="-285750">
              <a:spcAft>
                <a:spcPts val="300"/>
              </a:spcAft>
              <a:buFont typeface="Arial" panose="020B0604020202020204" pitchFamily="34" charset="0"/>
              <a:buChar char="•"/>
            </a:pPr>
            <a:r>
              <a:rPr lang="en-US" dirty="0">
                <a:solidFill>
                  <a:schemeClr val="accent6"/>
                </a:solidFill>
                <a:latin typeface="Calibri" panose="020F0502020204030204" pitchFamily="34" charset="0"/>
              </a:rPr>
              <a:t>Gather some requirements, go out and start to build the product. Customer comes back as you build in part of that product, they give you some more requirements. You build some more of that product. Basically building the product in increments, not its entirety. </a:t>
            </a:r>
          </a:p>
          <a:p>
            <a:pPr marL="1200150" lvl="2" indent="-285750">
              <a:spcAft>
                <a:spcPts val="300"/>
              </a:spcAft>
              <a:buFont typeface="Arial" panose="020B0604020202020204" pitchFamily="34" charset="0"/>
              <a:buChar char="•"/>
            </a:pPr>
            <a:r>
              <a:rPr lang="en-US" dirty="0">
                <a:solidFill>
                  <a:schemeClr val="accent6"/>
                </a:solidFill>
                <a:latin typeface="Calibri" panose="020F0502020204030204" pitchFamily="34" charset="0"/>
              </a:rPr>
              <a:t>More customer interaction.</a:t>
            </a:r>
          </a:p>
          <a:p>
            <a:pPr marL="742950" lvl="1" indent="-285750">
              <a:spcAft>
                <a:spcPts val="300"/>
              </a:spcAft>
              <a:buFont typeface="Arial" panose="020B0604020202020204" pitchFamily="34" charset="0"/>
              <a:buChar char="•"/>
            </a:pPr>
            <a:r>
              <a:rPr lang="en-US" dirty="0">
                <a:solidFill>
                  <a:schemeClr val="accent6"/>
                </a:solidFill>
                <a:latin typeface="Calibri" panose="020F0502020204030204" pitchFamily="34" charset="0"/>
              </a:rPr>
              <a:t>Can also be hybrid.</a:t>
            </a:r>
          </a:p>
          <a:p>
            <a:pPr marL="1200150" lvl="2" indent="-285750">
              <a:spcAft>
                <a:spcPts val="300"/>
              </a:spcAft>
              <a:buFont typeface="Arial" panose="020B0604020202020204" pitchFamily="34" charset="0"/>
              <a:buChar char="•"/>
            </a:pPr>
            <a:r>
              <a:rPr lang="en-US" dirty="0">
                <a:solidFill>
                  <a:schemeClr val="accent6"/>
                </a:solidFill>
                <a:latin typeface="Calibri" panose="020F0502020204030204" pitchFamily="34" charset="0"/>
              </a:rPr>
              <a:t>When an organization usually uses both approaches.</a:t>
            </a:r>
          </a:p>
          <a:p>
            <a:pPr marL="1200150" lvl="2" indent="-285750">
              <a:spcAft>
                <a:spcPts val="300"/>
              </a:spcAft>
              <a:buFont typeface="Arial" panose="020B0604020202020204" pitchFamily="34" charset="0"/>
              <a:buChar char="•"/>
            </a:pPr>
            <a:r>
              <a:rPr lang="en-US" dirty="0">
                <a:solidFill>
                  <a:schemeClr val="accent6"/>
                </a:solidFill>
                <a:latin typeface="Calibri" panose="020F0502020204030204" pitchFamily="34" charset="0"/>
              </a:rPr>
              <a:t>Every project produces something unique, therefore the lifecycle that every project follows are generally going to be unique to that particular project.</a:t>
            </a:r>
          </a:p>
        </p:txBody>
      </p:sp>
    </p:spTree>
    <p:extLst>
      <p:ext uri="{BB962C8B-B14F-4D97-AF65-F5344CB8AC3E}">
        <p14:creationId xmlns:p14="http://schemas.microsoft.com/office/powerpoint/2010/main" val="2783526972"/>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Project Life Cycle</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16</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24BADD0E-9247-F458-BFCF-C2E8864B38CC}"/>
              </a:ext>
            </a:extLst>
          </p:cNvPr>
          <p:cNvPicPr>
            <a:picLocks noChangeAspect="1"/>
          </p:cNvPicPr>
          <p:nvPr/>
        </p:nvPicPr>
        <p:blipFill>
          <a:blip r:embed="rId3"/>
          <a:stretch>
            <a:fillRect/>
          </a:stretch>
        </p:blipFill>
        <p:spPr>
          <a:xfrm>
            <a:off x="1947644" y="1405287"/>
            <a:ext cx="8296712" cy="3779739"/>
          </a:xfrm>
          <a:prstGeom prst="rect">
            <a:avLst/>
          </a:prstGeom>
        </p:spPr>
      </p:pic>
    </p:spTree>
    <p:extLst>
      <p:ext uri="{BB962C8B-B14F-4D97-AF65-F5344CB8AC3E}">
        <p14:creationId xmlns:p14="http://schemas.microsoft.com/office/powerpoint/2010/main" val="1666837531"/>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Project Governance</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17</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07651C5-4612-1A1A-D6F0-FF57BA29F325}"/>
              </a:ext>
            </a:extLst>
          </p:cNvPr>
          <p:cNvSpPr txBox="1"/>
          <p:nvPr/>
        </p:nvSpPr>
        <p:spPr>
          <a:xfrm>
            <a:off x="320041" y="1140138"/>
            <a:ext cx="11676216" cy="4072910"/>
          </a:xfrm>
          <a:prstGeom prst="rect">
            <a:avLst/>
          </a:prstGeom>
          <a:noFill/>
        </p:spPr>
        <p:txBody>
          <a:bodyPr wrap="square">
            <a:spAutoFit/>
          </a:bodyPr>
          <a:lstStyle/>
          <a:p>
            <a:pPr>
              <a:spcBef>
                <a:spcPts val="0"/>
              </a:spcBef>
              <a:spcAft>
                <a:spcPts val="0"/>
              </a:spcAft>
            </a:pPr>
            <a:r>
              <a:rPr lang="en-US" b="1" dirty="0">
                <a:solidFill>
                  <a:schemeClr val="accent6"/>
                </a:solidFill>
                <a:latin typeface="Calibri" panose="020F0502020204030204" pitchFamily="34" charset="0"/>
              </a:rPr>
              <a:t>Framework, functions, and processes that guide project management activities in order to create a unique product, service, or result to meet a company's goals. Should be tailored to the business. </a:t>
            </a:r>
          </a:p>
          <a:p>
            <a:pPr>
              <a:spcBef>
                <a:spcPts val="0"/>
              </a:spcBef>
              <a:spcAft>
                <a:spcPts val="0"/>
              </a:spcAft>
            </a:pPr>
            <a:endParaRPr lang="en-US" b="1" dirty="0">
              <a:solidFill>
                <a:schemeClr val="accent6"/>
              </a:solidFill>
              <a:latin typeface="Calibri" panose="020F0502020204030204" pitchFamily="34" charset="0"/>
            </a:endParaRPr>
          </a:p>
          <a:p>
            <a:pPr rtl="0" fontAlgn="ctr">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Governance means to manage…so project management.</a:t>
            </a:r>
          </a:p>
          <a:p>
            <a:pPr rtl="0" fontAlgn="ctr">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Project Governance are the processes that we follow, the different functions that we have within the business, and the framework that the business creates in order to accomplish the end product in order to accomplish the goals of the project.</a:t>
            </a:r>
          </a:p>
          <a:p>
            <a:pPr rtl="0" fontAlgn="ctr">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Consistently improve the framework that the organization has to accomplish the project.</a:t>
            </a:r>
          </a:p>
          <a:p>
            <a:pPr marL="742950" lvl="1" indent="-285750" rtl="0" fontAlgn="ctr">
              <a:spcBef>
                <a:spcPts val="0"/>
              </a:spcBef>
              <a:spcAft>
                <a:spcPts val="0"/>
              </a:spcAft>
              <a:buFont typeface="Courier New" panose="02070309020205020404" pitchFamily="49" charset="0"/>
              <a:buChar char="o"/>
            </a:pPr>
            <a:r>
              <a:rPr lang="en-US" dirty="0">
                <a:solidFill>
                  <a:schemeClr val="accent6"/>
                </a:solidFill>
                <a:latin typeface="Calibri" panose="020F0502020204030204" pitchFamily="34" charset="0"/>
              </a:rPr>
              <a:t>Find better ways of creating a budget</a:t>
            </a:r>
          </a:p>
          <a:p>
            <a:pPr marL="742950" lvl="1" indent="-285750" rtl="0" fontAlgn="ctr">
              <a:spcBef>
                <a:spcPts val="0"/>
              </a:spcBef>
              <a:spcAft>
                <a:spcPts val="0"/>
              </a:spcAft>
              <a:buFont typeface="Courier New" panose="02070309020205020404" pitchFamily="49" charset="0"/>
              <a:buChar char="o"/>
            </a:pPr>
            <a:r>
              <a:rPr lang="en-US" dirty="0">
                <a:solidFill>
                  <a:schemeClr val="accent6"/>
                </a:solidFill>
                <a:latin typeface="Calibri" panose="020F0502020204030204" pitchFamily="34" charset="0"/>
              </a:rPr>
              <a:t>Find better ways of creating a schedule more efficiently, tracking the progress of the project.</a:t>
            </a:r>
          </a:p>
          <a:p>
            <a:pPr marL="28575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Framework within which project decisions are made and having the right set of processes in place.</a:t>
            </a:r>
          </a:p>
          <a:p>
            <a:pPr marL="28575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 Three pillars:</a:t>
            </a:r>
          </a:p>
          <a:p>
            <a:pPr marL="628650" indent="-285750">
              <a:spcBef>
                <a:spcPts val="0"/>
              </a:spcBef>
              <a:spcAft>
                <a:spcPts val="400"/>
              </a:spcAft>
              <a:buFont typeface="Arial" panose="020B0604020202020204" pitchFamily="34" charset="0"/>
              <a:buChar char="•"/>
            </a:pPr>
            <a:r>
              <a:rPr lang="en-US" dirty="0">
                <a:solidFill>
                  <a:schemeClr val="accent6"/>
                </a:solidFill>
                <a:latin typeface="Calibri" panose="020F0502020204030204" pitchFamily="34" charset="0"/>
              </a:rPr>
              <a:t>Structure</a:t>
            </a:r>
          </a:p>
          <a:p>
            <a:pPr marL="628650" indent="-285750">
              <a:spcBef>
                <a:spcPts val="0"/>
              </a:spcBef>
              <a:spcAft>
                <a:spcPts val="400"/>
              </a:spcAft>
              <a:buFont typeface="Arial" panose="020B0604020202020204" pitchFamily="34" charset="0"/>
              <a:buChar char="•"/>
            </a:pPr>
            <a:r>
              <a:rPr lang="en-US" dirty="0">
                <a:solidFill>
                  <a:schemeClr val="accent6"/>
                </a:solidFill>
                <a:latin typeface="Calibri" panose="020F0502020204030204" pitchFamily="34" charset="0"/>
              </a:rPr>
              <a:t>People</a:t>
            </a:r>
          </a:p>
          <a:p>
            <a:pPr marL="628650" indent="-285750">
              <a:spcBef>
                <a:spcPts val="0"/>
              </a:spcBef>
              <a:spcAft>
                <a:spcPts val="400"/>
              </a:spcAft>
              <a:buFont typeface="Arial" panose="020B0604020202020204" pitchFamily="34" charset="0"/>
              <a:buChar char="•"/>
            </a:pPr>
            <a:r>
              <a:rPr lang="en-US" dirty="0">
                <a:solidFill>
                  <a:schemeClr val="accent6"/>
                </a:solidFill>
                <a:latin typeface="Calibri" panose="020F0502020204030204" pitchFamily="34" charset="0"/>
              </a:rPr>
              <a:t>Information</a:t>
            </a:r>
          </a:p>
        </p:txBody>
      </p:sp>
    </p:spTree>
    <p:extLst>
      <p:ext uri="{BB962C8B-B14F-4D97-AF65-F5344CB8AC3E}">
        <p14:creationId xmlns:p14="http://schemas.microsoft.com/office/powerpoint/2010/main" val="3161332632"/>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stakeholders</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18</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07651C5-4612-1A1A-D6F0-FF57BA29F325}"/>
              </a:ext>
            </a:extLst>
          </p:cNvPr>
          <p:cNvSpPr txBox="1"/>
          <p:nvPr/>
        </p:nvSpPr>
        <p:spPr>
          <a:xfrm>
            <a:off x="320041" y="1140138"/>
            <a:ext cx="11676216" cy="4355038"/>
          </a:xfrm>
          <a:prstGeom prst="rect">
            <a:avLst/>
          </a:prstGeom>
          <a:noFill/>
        </p:spPr>
        <p:txBody>
          <a:bodyPr wrap="square">
            <a:spAutoFit/>
          </a:bodyPr>
          <a:lstStyle/>
          <a:p>
            <a:pPr>
              <a:spcBef>
                <a:spcPts val="0"/>
              </a:spcBef>
              <a:spcAft>
                <a:spcPts val="0"/>
              </a:spcAft>
            </a:pPr>
            <a:r>
              <a:rPr lang="en-US" b="1" dirty="0">
                <a:solidFill>
                  <a:schemeClr val="accent6"/>
                </a:solidFill>
                <a:latin typeface="Calibri" panose="020F0502020204030204" pitchFamily="34" charset="0"/>
              </a:rPr>
              <a:t>ANYONE who is affected by the project. </a:t>
            </a:r>
          </a:p>
          <a:p>
            <a:pPr>
              <a:spcBef>
                <a:spcPts val="0"/>
              </a:spcBef>
              <a:spcAft>
                <a:spcPts val="0"/>
              </a:spcAft>
            </a:pPr>
            <a:endParaRPr lang="en-US" b="1" dirty="0">
              <a:solidFill>
                <a:schemeClr val="accent6"/>
              </a:solidFill>
              <a:latin typeface="Calibri" panose="020F0502020204030204" pitchFamily="34" charset="0"/>
            </a:endParaRPr>
          </a:p>
          <a:p>
            <a:pPr marL="28575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Individuals, group, or organization that may affect, be affected, or perceive to be affected by the project.  </a:t>
            </a:r>
          </a:p>
          <a:p>
            <a:pPr marL="285750" indent="-285750">
              <a:spcBef>
                <a:spcPts val="0"/>
              </a:spcBef>
              <a:spcAft>
                <a:spcPts val="0"/>
              </a:spcAft>
              <a:buFont typeface="Arial" panose="020B0604020202020204" pitchFamily="34" charset="0"/>
              <a:buChar char="•"/>
            </a:pPr>
            <a:endParaRPr lang="en-US" dirty="0">
              <a:solidFill>
                <a:schemeClr val="accent6"/>
              </a:solidFill>
              <a:latin typeface="Calibri" panose="020F0502020204030204" pitchFamily="34" charset="0"/>
            </a:endParaRPr>
          </a:p>
          <a:p>
            <a:pPr marL="28575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Key Stakeholders:</a:t>
            </a:r>
          </a:p>
          <a:p>
            <a:pPr lvl="1" fontAlgn="ctr">
              <a:spcAft>
                <a:spcPts val="500"/>
              </a:spcAft>
              <a:buFont typeface="Arial" panose="020B0604020202020204" pitchFamily="34" charset="0"/>
              <a:buChar char="•"/>
            </a:pPr>
            <a:r>
              <a:rPr lang="en-US" dirty="0">
                <a:solidFill>
                  <a:schemeClr val="accent6"/>
                </a:solidFill>
                <a:latin typeface="Calibri" panose="020F0502020204030204" pitchFamily="34" charset="0"/>
              </a:rPr>
              <a:t>Project Manager - manages the project</a:t>
            </a:r>
          </a:p>
          <a:p>
            <a:pPr lvl="1" fontAlgn="ctr">
              <a:spcAft>
                <a:spcPts val="500"/>
              </a:spcAft>
              <a:buFont typeface="Arial" panose="020B0604020202020204" pitchFamily="34" charset="0"/>
              <a:buChar char="•"/>
            </a:pPr>
            <a:r>
              <a:rPr lang="en-US" dirty="0">
                <a:solidFill>
                  <a:schemeClr val="accent6"/>
                </a:solidFill>
                <a:latin typeface="Calibri" panose="020F0502020204030204" pitchFamily="34" charset="0"/>
              </a:rPr>
              <a:t>Customer - uses the project deliverable(s). Will determine whether a project is ultimately a success or not.</a:t>
            </a:r>
          </a:p>
          <a:p>
            <a:pPr lvl="1" fontAlgn="ctr">
              <a:spcAft>
                <a:spcPts val="500"/>
              </a:spcAft>
              <a:buFont typeface="Arial" panose="020B0604020202020204" pitchFamily="34" charset="0"/>
              <a:buChar char="•"/>
            </a:pPr>
            <a:r>
              <a:rPr lang="en-US" dirty="0">
                <a:solidFill>
                  <a:schemeClr val="accent6"/>
                </a:solidFill>
                <a:latin typeface="Calibri" panose="020F0502020204030204" pitchFamily="34" charset="0"/>
              </a:rPr>
              <a:t>Project team - the collection of individuals completing the project work.</a:t>
            </a:r>
          </a:p>
          <a:p>
            <a:pPr lvl="1" fontAlgn="ctr">
              <a:spcAft>
                <a:spcPts val="500"/>
              </a:spcAft>
              <a:buFont typeface="Arial" panose="020B0604020202020204" pitchFamily="34" charset="0"/>
              <a:buChar char="•"/>
            </a:pPr>
            <a:r>
              <a:rPr lang="en-US" dirty="0">
                <a:solidFill>
                  <a:schemeClr val="accent6"/>
                </a:solidFill>
                <a:latin typeface="Calibri" panose="020F0502020204030204" pitchFamily="34" charset="0"/>
              </a:rPr>
              <a:t>Project Sponsor – Provides resources and support. Generally fund the project. May provide budgetary and scheduling approvals. </a:t>
            </a:r>
          </a:p>
          <a:p>
            <a:pPr marL="1200150" lvl="2" indent="-285750" fontAlgn="ctr">
              <a:spcAft>
                <a:spcPts val="500"/>
              </a:spcAft>
              <a:buFont typeface="Arial" panose="020B0604020202020204" pitchFamily="34" charset="0"/>
              <a:buChar char="•"/>
            </a:pPr>
            <a:r>
              <a:rPr lang="en-US" dirty="0">
                <a:solidFill>
                  <a:schemeClr val="accent6"/>
                </a:solidFill>
                <a:latin typeface="Calibri" panose="020F0502020204030204" pitchFamily="34" charset="0"/>
              </a:rPr>
              <a:t>Regarding the PMP exam, this will generally be your boss.**</a:t>
            </a:r>
          </a:p>
          <a:p>
            <a:pPr lvl="1" fontAlgn="ctr">
              <a:spcAft>
                <a:spcPts val="500"/>
              </a:spcAft>
              <a:buFont typeface="Arial" panose="020B0604020202020204" pitchFamily="34" charset="0"/>
              <a:buChar char="•"/>
            </a:pPr>
            <a:r>
              <a:rPr lang="en-US" dirty="0">
                <a:solidFill>
                  <a:schemeClr val="accent6"/>
                </a:solidFill>
                <a:latin typeface="Calibri" panose="020F0502020204030204" pitchFamily="34" charset="0"/>
              </a:rPr>
              <a:t>Functional Manager -Manage different functions within the organization. Departmental Manager, </a:t>
            </a:r>
            <a:r>
              <a:rPr lang="en-US" dirty="0" err="1">
                <a:solidFill>
                  <a:schemeClr val="accent6"/>
                </a:solidFill>
                <a:latin typeface="Calibri" panose="020F0502020204030204" pitchFamily="34" charset="0"/>
              </a:rPr>
              <a:t>i.e</a:t>
            </a:r>
            <a:r>
              <a:rPr lang="en-US" dirty="0">
                <a:solidFill>
                  <a:schemeClr val="accent6"/>
                </a:solidFill>
                <a:latin typeface="Calibri" panose="020F0502020204030204" pitchFamily="34" charset="0"/>
              </a:rPr>
              <a:t> Manager of Engineering, Vice President of Marketing, Director of IT. Generally controls resources</a:t>
            </a:r>
          </a:p>
          <a:p>
            <a:pPr marL="1200150" lvl="2" indent="-285750" fontAlgn="ctr">
              <a:buFont typeface="Arial" panose="020B0604020202020204" pitchFamily="34" charset="0"/>
              <a:buChar char="•"/>
            </a:pPr>
            <a:r>
              <a:rPr lang="en-US" dirty="0">
                <a:solidFill>
                  <a:schemeClr val="accent6"/>
                </a:solidFill>
                <a:latin typeface="Calibri" panose="020F0502020204030204" pitchFamily="34" charset="0"/>
              </a:rPr>
              <a:t>Worst Enemy to a Project Manager, because you both have the same needs when it comes to resources</a:t>
            </a:r>
            <a:r>
              <a:rPr lang="en-US" sz="1600" dirty="0">
                <a:solidFill>
                  <a:srgbClr val="464653"/>
                </a:solidFill>
                <a:effectLst/>
                <a:latin typeface="Times New Roman" panose="02020603050405020304" pitchFamily="18" charset="0"/>
              </a:rPr>
              <a:t>.</a:t>
            </a:r>
            <a:endParaRPr lang="en-US" sz="1100" dirty="0">
              <a:solidFill>
                <a:srgbClr val="464653"/>
              </a:solidFill>
              <a:effectLst/>
              <a:latin typeface="Calibri" panose="020F0502020204030204" pitchFamily="34" charset="0"/>
            </a:endParaRPr>
          </a:p>
        </p:txBody>
      </p:sp>
    </p:spTree>
    <p:extLst>
      <p:ext uri="{BB962C8B-B14F-4D97-AF65-F5344CB8AC3E}">
        <p14:creationId xmlns:p14="http://schemas.microsoft.com/office/powerpoint/2010/main" val="892216574"/>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Project roles</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19</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07651C5-4612-1A1A-D6F0-FF57BA29F325}"/>
              </a:ext>
            </a:extLst>
          </p:cNvPr>
          <p:cNvSpPr txBox="1"/>
          <p:nvPr/>
        </p:nvSpPr>
        <p:spPr>
          <a:xfrm>
            <a:off x="320041" y="1140138"/>
            <a:ext cx="11676216" cy="2862322"/>
          </a:xfrm>
          <a:prstGeom prst="rect">
            <a:avLst/>
          </a:prstGeom>
          <a:noFill/>
        </p:spPr>
        <p:txBody>
          <a:bodyPr wrap="square">
            <a:spAutoFit/>
          </a:bodyPr>
          <a:lstStyle/>
          <a:p>
            <a:pPr>
              <a:spcBef>
                <a:spcPts val="0"/>
              </a:spcBef>
              <a:spcAft>
                <a:spcPts val="0"/>
              </a:spcAft>
            </a:pPr>
            <a:r>
              <a:rPr lang="en-US" b="1" dirty="0">
                <a:solidFill>
                  <a:schemeClr val="accent6"/>
                </a:solidFill>
                <a:latin typeface="Calibri" panose="020F0502020204030204" pitchFamily="34" charset="0"/>
              </a:rPr>
              <a:t>ANYONE who is affected by the project. </a:t>
            </a:r>
          </a:p>
          <a:p>
            <a:pPr>
              <a:spcBef>
                <a:spcPts val="0"/>
              </a:spcBef>
              <a:spcAft>
                <a:spcPts val="0"/>
              </a:spcAft>
            </a:pPr>
            <a:endParaRPr lang="en-US" b="1" dirty="0">
              <a:solidFill>
                <a:schemeClr val="accent6"/>
              </a:solidFill>
              <a:latin typeface="Calibri" panose="020F0502020204030204" pitchFamily="34" charset="0"/>
            </a:endParaRPr>
          </a:p>
          <a:p>
            <a:pPr marL="285750" marR="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Project Manager: You're empowered to lead the project. You make all the decisions and are held responsible for whether the project succeeds or fails. Generally, the boss of the resources of the project. The "go-to" person. The team reports to you and follow your directions. You are in charge of creating all the processes and getting the plan done and executing it correctly and monitoring and closing it.</a:t>
            </a:r>
          </a:p>
          <a:p>
            <a:pPr marL="0" marR="0">
              <a:spcBef>
                <a:spcPts val="0"/>
              </a:spcBef>
              <a:spcAft>
                <a:spcPts val="0"/>
              </a:spcAft>
            </a:pPr>
            <a:r>
              <a:rPr lang="en-US" dirty="0">
                <a:solidFill>
                  <a:schemeClr val="accent6"/>
                </a:solidFill>
                <a:latin typeface="Calibri" panose="020F0502020204030204" pitchFamily="34" charset="0"/>
              </a:rPr>
              <a:t> </a:t>
            </a:r>
          </a:p>
          <a:p>
            <a:pPr marL="285750" marR="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Project Coordinator- like the boss but don't have much decision-making power. The team makes the decision most of the time or they may rely on the sponsor. If you're not the boss, you're probably a team member yourself. The team makes most of the decisions as a whole. They rely on the project sponsor for a lot of directions.</a:t>
            </a:r>
          </a:p>
        </p:txBody>
      </p:sp>
      <p:pic>
        <p:nvPicPr>
          <p:cNvPr id="6" name="Picture 5">
            <a:extLst>
              <a:ext uri="{FF2B5EF4-FFF2-40B4-BE49-F238E27FC236}">
                <a16:creationId xmlns:a16="http://schemas.microsoft.com/office/drawing/2014/main" id="{F741B34B-4F71-56D6-80E8-558575421B20}"/>
              </a:ext>
            </a:extLst>
          </p:cNvPr>
          <p:cNvPicPr>
            <a:picLocks noChangeAspect="1"/>
          </p:cNvPicPr>
          <p:nvPr/>
        </p:nvPicPr>
        <p:blipFill>
          <a:blip r:embed="rId3"/>
          <a:stretch>
            <a:fillRect/>
          </a:stretch>
        </p:blipFill>
        <p:spPr>
          <a:xfrm>
            <a:off x="3431097" y="4267940"/>
            <a:ext cx="5925480" cy="2210660"/>
          </a:xfrm>
          <a:prstGeom prst="rect">
            <a:avLst/>
          </a:prstGeom>
        </p:spPr>
      </p:pic>
    </p:spTree>
    <p:extLst>
      <p:ext uri="{BB962C8B-B14F-4D97-AF65-F5344CB8AC3E}">
        <p14:creationId xmlns:p14="http://schemas.microsoft.com/office/powerpoint/2010/main" val="1283764001"/>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165385"/>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Project management office (</a:t>
            </a:r>
            <a:r>
              <a:rPr lang="en-US" sz="4400" b="1" dirty="0" err="1">
                <a:solidFill>
                  <a:schemeClr val="accent6"/>
                </a:solidFill>
                <a:latin typeface="Arial Black" panose="020B0604020202020204" pitchFamily="34" charset="0"/>
                <a:cs typeface="Arial Black" panose="020B0604020202020204" pitchFamily="34" charset="0"/>
              </a:rPr>
              <a:t>pmo</a:t>
            </a:r>
            <a:r>
              <a:rPr lang="en-US" sz="4400" b="1" dirty="0">
                <a:solidFill>
                  <a:schemeClr val="accent6"/>
                </a:solidFill>
                <a:latin typeface="Arial Black" panose="020B0604020202020204" pitchFamily="34" charset="0"/>
                <a:cs typeface="Arial Black" panose="020B0604020202020204" pitchFamily="34" charset="0"/>
              </a:rPr>
              <a:t>)</a:t>
            </a: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20</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07651C5-4612-1A1A-D6F0-FF57BA29F325}"/>
              </a:ext>
            </a:extLst>
          </p:cNvPr>
          <p:cNvSpPr txBox="1"/>
          <p:nvPr/>
        </p:nvSpPr>
        <p:spPr>
          <a:xfrm>
            <a:off x="235962" y="1500864"/>
            <a:ext cx="11676216" cy="4716676"/>
          </a:xfrm>
          <a:prstGeom prst="rect">
            <a:avLst/>
          </a:prstGeom>
          <a:noFill/>
        </p:spPr>
        <p:txBody>
          <a:bodyPr wrap="square">
            <a:spAutoFit/>
          </a:bodyPr>
          <a:lstStyle/>
          <a:p>
            <a:pPr>
              <a:spcBef>
                <a:spcPts val="0"/>
              </a:spcBef>
              <a:spcAft>
                <a:spcPts val="0"/>
              </a:spcAft>
            </a:pPr>
            <a:r>
              <a:rPr lang="en-US" b="1" dirty="0">
                <a:solidFill>
                  <a:schemeClr val="accent6"/>
                </a:solidFill>
                <a:latin typeface="Calibri" panose="020F0502020204030204" pitchFamily="34" charset="0"/>
              </a:rPr>
              <a:t>Organizational Structure that standardizes the processes and facilitates the sharing of resources, methodologies, tools, and techniques.</a:t>
            </a:r>
          </a:p>
          <a:p>
            <a:pPr>
              <a:spcBef>
                <a:spcPts val="0"/>
              </a:spcBef>
              <a:spcAft>
                <a:spcPts val="0"/>
              </a:spcAft>
            </a:pPr>
            <a:endParaRPr lang="en-US" b="1" dirty="0">
              <a:solidFill>
                <a:schemeClr val="accent6"/>
              </a:solidFill>
              <a:latin typeface="Calibri" panose="020F0502020204030204" pitchFamily="34" charset="0"/>
            </a:endParaRPr>
          </a:p>
          <a:p>
            <a:pPr marL="28575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Types:</a:t>
            </a:r>
          </a:p>
          <a:p>
            <a:pPr lvl="1" fontAlgn="ctr">
              <a:spcAft>
                <a:spcPts val="300"/>
              </a:spcAft>
              <a:buFont typeface="Arial" panose="020B0604020202020204" pitchFamily="34" charset="0"/>
              <a:buChar char="•"/>
            </a:pPr>
            <a:r>
              <a:rPr lang="en-US" dirty="0">
                <a:solidFill>
                  <a:schemeClr val="accent6"/>
                </a:solidFill>
                <a:latin typeface="Calibri" panose="020F0502020204030204" pitchFamily="34" charset="0"/>
              </a:rPr>
              <a:t>Supportive: Supports the project manager, such as providing templates, training, or lessons learned form other projects.</a:t>
            </a:r>
          </a:p>
          <a:p>
            <a:pPr lvl="1" fontAlgn="ctr">
              <a:spcAft>
                <a:spcPts val="300"/>
              </a:spcAft>
              <a:buFont typeface="Arial" panose="020B0604020202020204" pitchFamily="34" charset="0"/>
              <a:buChar char="•"/>
            </a:pPr>
            <a:r>
              <a:rPr lang="en-US" dirty="0">
                <a:solidFill>
                  <a:schemeClr val="accent6"/>
                </a:solidFill>
                <a:latin typeface="Calibri" panose="020F0502020204030204" pitchFamily="34" charset="0"/>
              </a:rPr>
              <a:t>Controlling: Determines the framework or methodology and use of specific forms </a:t>
            </a:r>
          </a:p>
          <a:p>
            <a:pPr lvl="1" fontAlgn="ctr">
              <a:spcAft>
                <a:spcPts val="300"/>
              </a:spcAft>
              <a:buFont typeface="Arial" panose="020B0604020202020204" pitchFamily="34" charset="0"/>
              <a:buChar char="•"/>
            </a:pPr>
            <a:r>
              <a:rPr lang="en-US" dirty="0">
                <a:solidFill>
                  <a:schemeClr val="accent6"/>
                </a:solidFill>
                <a:latin typeface="Calibri" panose="020F0502020204030204" pitchFamily="34" charset="0"/>
              </a:rPr>
              <a:t>Directive: Controls the project. PM will be assigned and report to the PMO. </a:t>
            </a:r>
          </a:p>
          <a:p>
            <a:pPr rtl="0" fontAlgn="ctr">
              <a:spcBef>
                <a:spcPts val="0"/>
              </a:spcBef>
              <a:spcAft>
                <a:spcPts val="300"/>
              </a:spcAft>
              <a:buFont typeface="Arial" panose="020B0604020202020204" pitchFamily="34" charset="0"/>
              <a:buChar char="•"/>
            </a:pPr>
            <a:r>
              <a:rPr lang="en-US" dirty="0">
                <a:solidFill>
                  <a:schemeClr val="accent6"/>
                </a:solidFill>
                <a:latin typeface="Calibri" panose="020F0502020204030204" pitchFamily="34" charset="0"/>
              </a:rPr>
              <a:t>PMO- In an organization, a PMO improves their services or improve their current product. They have a part in the organization that's dedicated to Project Management Process and helping out all the companies. They are there to help the Project Manager. They standardize the processes and facilities the sharing of resources, methodologies, tools, and techniques now (to prevent the conflict between different Project Managers). They are generally a set of individuals in a small business that might even just be one person that helps all the project managers in the organization.</a:t>
            </a:r>
          </a:p>
          <a:p>
            <a:pPr marL="342900">
              <a:spcBef>
                <a:spcPts val="0"/>
              </a:spcBef>
              <a:spcAft>
                <a:spcPts val="300"/>
              </a:spcAft>
            </a:pPr>
            <a:r>
              <a:rPr lang="en-US" dirty="0">
                <a:solidFill>
                  <a:schemeClr val="accent6"/>
                </a:solidFill>
                <a:latin typeface="Calibri" panose="020F0502020204030204" pitchFamily="34" charset="0"/>
              </a:rPr>
              <a:t> </a:t>
            </a:r>
          </a:p>
          <a:p>
            <a:pPr marL="342900">
              <a:spcBef>
                <a:spcPts val="0"/>
              </a:spcBef>
              <a:spcAft>
                <a:spcPts val="300"/>
              </a:spcAft>
            </a:pPr>
            <a:r>
              <a:rPr lang="en-US" dirty="0">
                <a:solidFill>
                  <a:schemeClr val="accent6"/>
                </a:solidFill>
                <a:latin typeface="Calibri" panose="020F0502020204030204" pitchFamily="34" charset="0"/>
              </a:rPr>
              <a:t>**For the exam: When a Project Manager is having a problem with a process or don't know how to get a particular resource, they turn to the PMO.</a:t>
            </a:r>
          </a:p>
        </p:txBody>
      </p:sp>
    </p:spTree>
    <p:extLst>
      <p:ext uri="{BB962C8B-B14F-4D97-AF65-F5344CB8AC3E}">
        <p14:creationId xmlns:p14="http://schemas.microsoft.com/office/powerpoint/2010/main" val="2160307793"/>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39496" y="456193"/>
            <a:ext cx="10671048" cy="768096"/>
          </a:xfrm>
        </p:spPr>
        <p:txBody>
          <a:bodyPr/>
          <a:lstStyle/>
          <a:p>
            <a:r>
              <a:rPr lang="en-US" dirty="0">
                <a:latin typeface="Arial Black" panose="020B0604020202020204" pitchFamily="34" charset="0"/>
                <a:cs typeface="Arial Black" panose="020B0604020202020204" pitchFamily="34" charset="0"/>
              </a:rPr>
              <a:t>Project Bosses</a:t>
            </a:r>
            <a:endParaRPr lang="en-US" sz="4400" b="1" dirty="0">
              <a:solidFill>
                <a:schemeClr val="accent6"/>
              </a:solidFill>
              <a:latin typeface="Arial Black" panose="020B0604020202020204" pitchFamily="34" charset="0"/>
              <a:cs typeface="Arial Black" panose="020B0604020202020204" pitchFamily="34" charset="0"/>
            </a:endParaRP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320040" y="1211579"/>
            <a:ext cx="11119104" cy="4929161"/>
          </a:xfrm>
        </p:spPr>
        <p:txBody>
          <a:bodyPr/>
          <a:lstStyle/>
          <a:p>
            <a:pPr marL="0" marR="0" indent="0">
              <a:spcBef>
                <a:spcPts val="0"/>
              </a:spcBef>
              <a:spcAft>
                <a:spcPts val="0"/>
              </a:spcAft>
              <a:buNone/>
            </a:pPr>
            <a:endParaRPr lang="en-US" sz="2000" dirty="0">
              <a:effectLst/>
              <a:latin typeface="Calibri" panose="020F0502020204030204" pitchFamily="34" charset="0"/>
            </a:endParaRP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21</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07651C5-4612-1A1A-D6F0-FF57BA29F325}"/>
              </a:ext>
            </a:extLst>
          </p:cNvPr>
          <p:cNvSpPr txBox="1"/>
          <p:nvPr/>
        </p:nvSpPr>
        <p:spPr>
          <a:xfrm>
            <a:off x="257892" y="1911925"/>
            <a:ext cx="11676216" cy="2970044"/>
          </a:xfrm>
          <a:prstGeom prst="rect">
            <a:avLst/>
          </a:prstGeom>
          <a:noFill/>
        </p:spPr>
        <p:txBody>
          <a:bodyPr wrap="square">
            <a:spAutoFit/>
          </a:bodyPr>
          <a:lstStyle/>
          <a:p>
            <a:pPr marL="28575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Sponsor:</a:t>
            </a:r>
          </a:p>
          <a:p>
            <a:pPr lvl="1" fontAlgn="ctr">
              <a:spcAft>
                <a:spcPts val="300"/>
              </a:spcAft>
              <a:buFont typeface="Arial" panose="020B0604020202020204" pitchFamily="34" charset="0"/>
              <a:buChar char="•"/>
            </a:pPr>
            <a:r>
              <a:rPr lang="en-US" dirty="0">
                <a:solidFill>
                  <a:schemeClr val="accent6"/>
                </a:solidFill>
                <a:latin typeface="Calibri" panose="020F0502020204030204" pitchFamily="34" charset="0"/>
              </a:rPr>
              <a:t>Internal or External</a:t>
            </a:r>
          </a:p>
          <a:p>
            <a:pPr lvl="1" fontAlgn="ctr">
              <a:spcAft>
                <a:spcPts val="300"/>
              </a:spcAft>
              <a:buFont typeface="Arial" panose="020B0604020202020204" pitchFamily="34" charset="0"/>
              <a:buChar char="•"/>
            </a:pPr>
            <a:r>
              <a:rPr lang="en-US" dirty="0">
                <a:solidFill>
                  <a:schemeClr val="accent6"/>
                </a:solidFill>
                <a:latin typeface="Calibri" panose="020F0502020204030204" pitchFamily="34" charset="0"/>
              </a:rPr>
              <a:t>Project Champion</a:t>
            </a:r>
          </a:p>
          <a:p>
            <a:pPr lvl="1" fontAlgn="ctr">
              <a:spcAft>
                <a:spcPts val="300"/>
              </a:spcAft>
              <a:buFont typeface="Arial" panose="020B0604020202020204" pitchFamily="34" charset="0"/>
              <a:buChar char="•"/>
            </a:pPr>
            <a:r>
              <a:rPr lang="en-US" dirty="0">
                <a:solidFill>
                  <a:schemeClr val="accent6"/>
                </a:solidFill>
                <a:latin typeface="Calibri" panose="020F0502020204030204" pitchFamily="34" charset="0"/>
              </a:rPr>
              <a:t>Funding the project</a:t>
            </a:r>
          </a:p>
          <a:p>
            <a:pPr lvl="1" fontAlgn="ctr">
              <a:spcAft>
                <a:spcPts val="1200"/>
              </a:spcAft>
              <a:buFont typeface="Arial" panose="020B0604020202020204" pitchFamily="34" charset="0"/>
              <a:buChar char="•"/>
            </a:pPr>
            <a:r>
              <a:rPr lang="en-US" dirty="0">
                <a:solidFill>
                  <a:schemeClr val="accent6"/>
                </a:solidFill>
                <a:latin typeface="Calibri" panose="020F0502020204030204" pitchFamily="34" charset="0"/>
              </a:rPr>
              <a:t>Maybe used to resolve conflicts in the project</a:t>
            </a:r>
          </a:p>
          <a:p>
            <a:pPr rtl="0" fontAlgn="ctr">
              <a:spcBef>
                <a:spcPts val="0"/>
              </a:spcBef>
              <a:spcAft>
                <a:spcPts val="300"/>
              </a:spcAft>
              <a:buFont typeface="Arial" panose="020B0604020202020204" pitchFamily="34" charset="0"/>
              <a:buChar char="•"/>
            </a:pPr>
            <a:r>
              <a:rPr lang="en-US" dirty="0">
                <a:solidFill>
                  <a:schemeClr val="accent6"/>
                </a:solidFill>
                <a:latin typeface="Calibri" panose="020F0502020204030204" pitchFamily="34" charset="0"/>
              </a:rPr>
              <a:t>    Program Manager.</a:t>
            </a:r>
          </a:p>
          <a:p>
            <a:pPr lvl="1" fontAlgn="ctr">
              <a:spcAft>
                <a:spcPts val="300"/>
              </a:spcAft>
              <a:buFont typeface="Arial" panose="020B0604020202020204" pitchFamily="34" charset="0"/>
              <a:buChar char="•"/>
            </a:pPr>
            <a:r>
              <a:rPr lang="en-US" dirty="0">
                <a:solidFill>
                  <a:schemeClr val="accent6"/>
                </a:solidFill>
                <a:latin typeface="Calibri" panose="020F0502020204030204" pitchFamily="34" charset="0"/>
              </a:rPr>
              <a:t>Senior to Project Manager</a:t>
            </a:r>
          </a:p>
          <a:p>
            <a:pPr lvl="1" fontAlgn="ctr">
              <a:spcAft>
                <a:spcPts val="300"/>
              </a:spcAft>
              <a:buFont typeface="Arial" panose="020B0604020202020204" pitchFamily="34" charset="0"/>
              <a:buChar char="•"/>
            </a:pPr>
            <a:r>
              <a:rPr lang="en-US" dirty="0">
                <a:solidFill>
                  <a:schemeClr val="accent6"/>
                </a:solidFill>
                <a:latin typeface="Calibri" panose="020F0502020204030204" pitchFamily="34" charset="0"/>
              </a:rPr>
              <a:t>Maybe responsible for several projects executing at the same time</a:t>
            </a:r>
          </a:p>
          <a:p>
            <a:pPr lvl="1" fontAlgn="ctr">
              <a:spcAft>
                <a:spcPts val="300"/>
              </a:spcAft>
              <a:buFont typeface="Arial" panose="020B0604020202020204" pitchFamily="34" charset="0"/>
              <a:buChar char="•"/>
            </a:pPr>
            <a:r>
              <a:rPr lang="en-US" dirty="0">
                <a:solidFill>
                  <a:schemeClr val="accent6"/>
                </a:solidFill>
                <a:latin typeface="Calibri" panose="020F0502020204030204" pitchFamily="34" charset="0"/>
              </a:rPr>
              <a:t>Maybe used to resolve conflicts in the project</a:t>
            </a:r>
          </a:p>
        </p:txBody>
      </p:sp>
    </p:spTree>
    <p:extLst>
      <p:ext uri="{BB962C8B-B14F-4D97-AF65-F5344CB8AC3E}">
        <p14:creationId xmlns:p14="http://schemas.microsoft.com/office/powerpoint/2010/main" val="913378925"/>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61574" y="108677"/>
            <a:ext cx="10671048" cy="768096"/>
          </a:xfrm>
        </p:spPr>
        <p:txBody>
          <a:bodyPr/>
          <a:lstStyle/>
          <a:p>
            <a:r>
              <a:rPr lang="en-US" dirty="0">
                <a:latin typeface="Arial Black" panose="020B0604020202020204" pitchFamily="34" charset="0"/>
                <a:cs typeface="Arial Black" panose="020B0604020202020204" pitchFamily="34" charset="0"/>
              </a:rPr>
              <a:t>Organizational structures</a:t>
            </a:r>
            <a:endParaRPr lang="en-US" sz="4400" b="1" dirty="0">
              <a:solidFill>
                <a:schemeClr val="accent6"/>
              </a:solidFill>
              <a:latin typeface="Arial Black" panose="020B0604020202020204" pitchFamily="34" charset="0"/>
              <a:cs typeface="Arial Black" panose="020B0604020202020204" pitchFamily="34" charset="0"/>
            </a:endParaRPr>
          </a:p>
        </p:txBody>
      </p:sp>
      <p:sp>
        <p:nvSpPr>
          <p:cNvPr id="4" name="Content Placeholder 3">
            <a:extLst>
              <a:ext uri="{FF2B5EF4-FFF2-40B4-BE49-F238E27FC236}">
                <a16:creationId xmlns:a16="http://schemas.microsoft.com/office/drawing/2014/main" id="{13F94D68-F45A-608B-F107-5A526A95883C}"/>
              </a:ext>
            </a:extLst>
          </p:cNvPr>
          <p:cNvSpPr>
            <a:spLocks noGrp="1"/>
          </p:cNvSpPr>
          <p:nvPr>
            <p:ph sz="half" idx="1"/>
          </p:nvPr>
        </p:nvSpPr>
        <p:spPr>
          <a:xfrm>
            <a:off x="117981" y="748299"/>
            <a:ext cx="11956038" cy="768096"/>
          </a:xfrm>
        </p:spPr>
        <p:txBody>
          <a:bodyPr/>
          <a:lstStyle/>
          <a:p>
            <a:pPr marL="0" indent="0">
              <a:buNone/>
            </a:pPr>
            <a:r>
              <a:rPr lang="en-US" b="1" dirty="0">
                <a:latin typeface="Calibri" panose="020F0502020204030204" pitchFamily="34" charset="0"/>
              </a:rPr>
              <a:t>Who has the control or power over the resources? Depending on the structure, that power shifts to the project manager or back to the functional manager.</a:t>
            </a: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22</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07651C5-4612-1A1A-D6F0-FF57BA29F325}"/>
              </a:ext>
            </a:extLst>
          </p:cNvPr>
          <p:cNvSpPr txBox="1"/>
          <p:nvPr/>
        </p:nvSpPr>
        <p:spPr>
          <a:xfrm>
            <a:off x="-1" y="1371142"/>
            <a:ext cx="11794197" cy="5314275"/>
          </a:xfrm>
          <a:prstGeom prst="rect">
            <a:avLst/>
          </a:prstGeom>
          <a:noFill/>
        </p:spPr>
        <p:txBody>
          <a:bodyPr wrap="square">
            <a:spAutoFit/>
          </a:bodyPr>
          <a:lstStyle/>
          <a:p>
            <a:pPr marL="342900" algn="just">
              <a:spcBef>
                <a:spcPts val="0"/>
              </a:spcBef>
              <a:spcAft>
                <a:spcPts val="100"/>
              </a:spcAft>
            </a:pPr>
            <a:r>
              <a:rPr lang="en-US" dirty="0">
                <a:solidFill>
                  <a:schemeClr val="accent6"/>
                </a:solidFill>
                <a:latin typeface="Calibri" panose="020F0502020204030204" pitchFamily="34" charset="0"/>
              </a:rPr>
              <a:t>Functional Organizations</a:t>
            </a:r>
          </a:p>
          <a:p>
            <a:pPr lvl="1" algn="just" fontAlgn="ctr">
              <a:spcAft>
                <a:spcPts val="1200"/>
              </a:spcAft>
              <a:buFont typeface="Arial" panose="020B0604020202020204" pitchFamily="34" charset="0"/>
              <a:buChar char="•"/>
            </a:pPr>
            <a:r>
              <a:rPr lang="en-US" dirty="0">
                <a:solidFill>
                  <a:schemeClr val="accent6"/>
                </a:solidFill>
                <a:latin typeface="Calibri" panose="020F0502020204030204" pitchFamily="34" charset="0"/>
              </a:rPr>
              <a:t>Structure that groups staff members according to their area of expertise (sales, marketing, construction, etc.). Functional structures require the project team members to report directly to the functional manager. The project manager has very little power in this type of organization. </a:t>
            </a:r>
          </a:p>
          <a:p>
            <a:pPr marL="342900" algn="just">
              <a:spcBef>
                <a:spcPts val="0"/>
              </a:spcBef>
              <a:spcAft>
                <a:spcPts val="100"/>
              </a:spcAft>
            </a:pPr>
            <a:r>
              <a:rPr lang="en-US" dirty="0">
                <a:solidFill>
                  <a:schemeClr val="accent6"/>
                </a:solidFill>
                <a:latin typeface="Calibri" panose="020F0502020204030204" pitchFamily="34" charset="0"/>
              </a:rPr>
              <a:t>Matrix Organizations</a:t>
            </a:r>
          </a:p>
          <a:p>
            <a:pPr lvl="1" algn="just" fontAlgn="ctr">
              <a:spcAft>
                <a:spcPts val="1200"/>
              </a:spcAft>
              <a:buFont typeface="Arial" panose="020B0604020202020204" pitchFamily="34" charset="0"/>
              <a:buChar char="•"/>
            </a:pPr>
            <a:r>
              <a:rPr lang="en-US" dirty="0">
                <a:solidFill>
                  <a:schemeClr val="accent6"/>
                </a:solidFill>
                <a:latin typeface="Calibri" panose="020F0502020204030204" pitchFamily="34" charset="0"/>
              </a:rPr>
              <a:t>There are three matrix structures: weak, balanced, and strong. The different structures are reflective of the project manager's authority in relation to the functional manager's authority.</a:t>
            </a:r>
          </a:p>
          <a:p>
            <a:pPr marL="342900" algn="just">
              <a:spcBef>
                <a:spcPts val="0"/>
              </a:spcBef>
              <a:spcAft>
                <a:spcPts val="100"/>
              </a:spcAft>
            </a:pPr>
            <a:r>
              <a:rPr lang="en-US" dirty="0">
                <a:solidFill>
                  <a:schemeClr val="accent6"/>
                </a:solidFill>
                <a:latin typeface="Calibri" panose="020F0502020204030204" pitchFamily="34" charset="0"/>
              </a:rPr>
              <a:t>Project Oriented Organizations, (Projectized)</a:t>
            </a:r>
          </a:p>
          <a:p>
            <a:pPr lvl="1" algn="just" fontAlgn="ctr">
              <a:spcAft>
                <a:spcPts val="1200"/>
              </a:spcAft>
              <a:buFont typeface="Arial" panose="020B0604020202020204" pitchFamily="34" charset="0"/>
              <a:buChar char="•"/>
            </a:pPr>
            <a:r>
              <a:rPr lang="en-US" dirty="0">
                <a:solidFill>
                  <a:schemeClr val="accent6"/>
                </a:solidFill>
                <a:latin typeface="Calibri" panose="020F0502020204030204" pitchFamily="34" charset="0"/>
              </a:rPr>
              <a:t>Structure where the PM has the greatest amount of authority. The project team is assigned to the project on a full-time basis. When the project is complete, the project team members moves on to other assignments within the organization. The project team is assigned to the project its full time. Example: Consulting company where the company goes out and get a project to do and they hire a project manager. The Project Manager hires all the resources and reports to the project manager. Any project-oriented business, you (the PM) have all the power in this kind of a business, in this kind of a structure. There's really no contention between you and a functional manager since all resources report directly to you.</a:t>
            </a:r>
          </a:p>
          <a:p>
            <a:pPr marL="342900" algn="just">
              <a:spcBef>
                <a:spcPts val="0"/>
              </a:spcBef>
              <a:spcAft>
                <a:spcPts val="100"/>
              </a:spcAft>
            </a:pPr>
            <a:r>
              <a:rPr lang="en-US" dirty="0">
                <a:solidFill>
                  <a:schemeClr val="accent6"/>
                </a:solidFill>
                <a:latin typeface="Calibri" panose="020F0502020204030204" pitchFamily="34" charset="0"/>
              </a:rPr>
              <a:t>Hybrid</a:t>
            </a:r>
          </a:p>
          <a:p>
            <a:pPr lvl="1" algn="just" fontAlgn="ctr">
              <a:spcAft>
                <a:spcPts val="300"/>
              </a:spcAft>
              <a:buFont typeface="Arial" panose="020B0604020202020204" pitchFamily="34" charset="0"/>
              <a:buChar char="•"/>
            </a:pPr>
            <a:r>
              <a:rPr lang="en-US" dirty="0">
                <a:solidFill>
                  <a:schemeClr val="accent6"/>
                </a:solidFill>
                <a:latin typeface="Calibri" panose="020F0502020204030204" pitchFamily="34" charset="0"/>
              </a:rPr>
              <a:t>Blended type</a:t>
            </a:r>
          </a:p>
        </p:txBody>
      </p:sp>
    </p:spTree>
    <p:extLst>
      <p:ext uri="{BB962C8B-B14F-4D97-AF65-F5344CB8AC3E}">
        <p14:creationId xmlns:p14="http://schemas.microsoft.com/office/powerpoint/2010/main" val="3508474167"/>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61574" y="108677"/>
            <a:ext cx="10671048" cy="768096"/>
          </a:xfrm>
        </p:spPr>
        <p:txBody>
          <a:bodyPr/>
          <a:lstStyle/>
          <a:p>
            <a:r>
              <a:rPr lang="en-US" dirty="0">
                <a:latin typeface="Arial Black" panose="020B0604020202020204" pitchFamily="34" charset="0"/>
                <a:cs typeface="Arial Black" panose="020B0604020202020204" pitchFamily="34" charset="0"/>
              </a:rPr>
              <a:t>Organizational structures</a:t>
            </a:r>
            <a:endParaRPr lang="en-US" sz="4400" b="1" dirty="0">
              <a:solidFill>
                <a:schemeClr val="accent6"/>
              </a:solidFill>
              <a:latin typeface="Arial Black" panose="020B0604020202020204" pitchFamily="34" charset="0"/>
              <a:cs typeface="Arial Black" panose="020B0604020202020204" pitchFamily="34" charset="0"/>
            </a:endParaRPr>
          </a:p>
        </p:txBody>
      </p:sp>
      <p:graphicFrame>
        <p:nvGraphicFramePr>
          <p:cNvPr id="5" name="Content Placeholder 4">
            <a:extLst>
              <a:ext uri="{FF2B5EF4-FFF2-40B4-BE49-F238E27FC236}">
                <a16:creationId xmlns:a16="http://schemas.microsoft.com/office/drawing/2014/main" id="{9A13C2FB-65B4-93B6-858F-D9B44BDE278D}"/>
              </a:ext>
            </a:extLst>
          </p:cNvPr>
          <p:cNvGraphicFramePr>
            <a:graphicFrameLocks noGrp="1"/>
          </p:cNvGraphicFramePr>
          <p:nvPr>
            <p:ph sz="half" idx="1"/>
            <p:extLst>
              <p:ext uri="{D42A27DB-BD31-4B8C-83A1-F6EECF244321}">
                <p14:modId xmlns:p14="http://schemas.microsoft.com/office/powerpoint/2010/main" val="1709189946"/>
              </p:ext>
            </p:extLst>
          </p:nvPr>
        </p:nvGraphicFramePr>
        <p:xfrm>
          <a:off x="813007" y="1972429"/>
          <a:ext cx="10696688" cy="3521055"/>
        </p:xfrm>
        <a:graphic>
          <a:graphicData uri="http://schemas.openxmlformats.org/drawingml/2006/table">
            <a:tbl>
              <a:tblPr/>
              <a:tblGrid>
                <a:gridCol w="2272136">
                  <a:extLst>
                    <a:ext uri="{9D8B030D-6E8A-4147-A177-3AD203B41FA5}">
                      <a16:colId xmlns:a16="http://schemas.microsoft.com/office/drawing/2014/main" val="809223724"/>
                    </a:ext>
                  </a:extLst>
                </a:gridCol>
                <a:gridCol w="1570747">
                  <a:extLst>
                    <a:ext uri="{9D8B030D-6E8A-4147-A177-3AD203B41FA5}">
                      <a16:colId xmlns:a16="http://schemas.microsoft.com/office/drawing/2014/main" val="969521719"/>
                    </a:ext>
                  </a:extLst>
                </a:gridCol>
                <a:gridCol w="1352426">
                  <a:extLst>
                    <a:ext uri="{9D8B030D-6E8A-4147-A177-3AD203B41FA5}">
                      <a16:colId xmlns:a16="http://schemas.microsoft.com/office/drawing/2014/main" val="1982371789"/>
                    </a:ext>
                  </a:extLst>
                </a:gridCol>
                <a:gridCol w="1947331">
                  <a:extLst>
                    <a:ext uri="{9D8B030D-6E8A-4147-A177-3AD203B41FA5}">
                      <a16:colId xmlns:a16="http://schemas.microsoft.com/office/drawing/2014/main" val="2860455169"/>
                    </a:ext>
                  </a:extLst>
                </a:gridCol>
                <a:gridCol w="1986941">
                  <a:extLst>
                    <a:ext uri="{9D8B030D-6E8A-4147-A177-3AD203B41FA5}">
                      <a16:colId xmlns:a16="http://schemas.microsoft.com/office/drawing/2014/main" val="3699175243"/>
                    </a:ext>
                  </a:extLst>
                </a:gridCol>
                <a:gridCol w="1567107">
                  <a:extLst>
                    <a:ext uri="{9D8B030D-6E8A-4147-A177-3AD203B41FA5}">
                      <a16:colId xmlns:a16="http://schemas.microsoft.com/office/drawing/2014/main" val="959371108"/>
                    </a:ext>
                  </a:extLst>
                </a:gridCol>
              </a:tblGrid>
              <a:tr h="507391">
                <a:tc>
                  <a:txBody>
                    <a:bodyPr/>
                    <a:lstStyle/>
                    <a:p>
                      <a:pPr marL="0" marR="0" fontAlgn="t">
                        <a:spcBef>
                          <a:spcPts val="0"/>
                        </a:spcBef>
                        <a:spcAft>
                          <a:spcPts val="0"/>
                        </a:spcAft>
                      </a:pPr>
                      <a:r>
                        <a:rPr lang="en-US" sz="2000" dirty="0">
                          <a:solidFill>
                            <a:srgbClr val="000000"/>
                          </a:solidFill>
                          <a:effectLst/>
                          <a:latin typeface="Calibri" panose="020F0502020204030204" pitchFamily="34" charset="0"/>
                        </a:rPr>
                        <a:t> </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727CA3"/>
                    </a:solidFill>
                  </a:tcPr>
                </a:tc>
                <a:tc>
                  <a:txBody>
                    <a:bodyPr/>
                    <a:lstStyle/>
                    <a:p>
                      <a:pPr marL="0" marR="0" algn="ctr" fontAlgn="t">
                        <a:spcBef>
                          <a:spcPts val="0"/>
                        </a:spcBef>
                        <a:spcAft>
                          <a:spcPts val="0"/>
                        </a:spcAft>
                      </a:pPr>
                      <a:r>
                        <a:rPr lang="en-US" sz="2000" dirty="0">
                          <a:solidFill>
                            <a:srgbClr val="FFFFFF"/>
                          </a:solidFill>
                          <a:effectLst/>
                          <a:latin typeface="Times New Roman" panose="02020603050405020304" pitchFamily="18" charset="0"/>
                        </a:rPr>
                        <a:t>Functional</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727CA3"/>
                    </a:solidFill>
                  </a:tcPr>
                </a:tc>
                <a:tc>
                  <a:txBody>
                    <a:bodyPr/>
                    <a:lstStyle/>
                    <a:p>
                      <a:pPr marL="0" marR="0" algn="ctr" fontAlgn="t">
                        <a:spcBef>
                          <a:spcPts val="0"/>
                        </a:spcBef>
                        <a:spcAft>
                          <a:spcPts val="0"/>
                        </a:spcAft>
                      </a:pPr>
                      <a:r>
                        <a:rPr lang="en-US" sz="2000" dirty="0">
                          <a:solidFill>
                            <a:srgbClr val="FFFFFF"/>
                          </a:solidFill>
                          <a:effectLst/>
                          <a:latin typeface="Times New Roman" panose="02020603050405020304" pitchFamily="18" charset="0"/>
                        </a:rPr>
                        <a:t>Weak Matrix</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727CA3"/>
                    </a:solidFill>
                  </a:tcPr>
                </a:tc>
                <a:tc>
                  <a:txBody>
                    <a:bodyPr/>
                    <a:lstStyle/>
                    <a:p>
                      <a:pPr marL="0" marR="0" algn="ctr" fontAlgn="t">
                        <a:spcBef>
                          <a:spcPts val="0"/>
                        </a:spcBef>
                        <a:spcAft>
                          <a:spcPts val="0"/>
                        </a:spcAft>
                      </a:pPr>
                      <a:r>
                        <a:rPr lang="en-US" sz="2000">
                          <a:solidFill>
                            <a:srgbClr val="FFFFFF"/>
                          </a:solidFill>
                          <a:effectLst/>
                          <a:latin typeface="Times New Roman" panose="02020603050405020304" pitchFamily="18" charset="0"/>
                        </a:rPr>
                        <a:t>Balance Matrix</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727CA3"/>
                    </a:solidFill>
                  </a:tcPr>
                </a:tc>
                <a:tc>
                  <a:txBody>
                    <a:bodyPr/>
                    <a:lstStyle/>
                    <a:p>
                      <a:pPr marL="0" marR="0" algn="ctr" fontAlgn="t">
                        <a:spcBef>
                          <a:spcPts val="0"/>
                        </a:spcBef>
                        <a:spcAft>
                          <a:spcPts val="0"/>
                        </a:spcAft>
                      </a:pPr>
                      <a:r>
                        <a:rPr lang="en-US" sz="2000">
                          <a:solidFill>
                            <a:srgbClr val="FFFFFF"/>
                          </a:solidFill>
                          <a:effectLst/>
                          <a:latin typeface="Times New Roman" panose="02020603050405020304" pitchFamily="18" charset="0"/>
                        </a:rPr>
                        <a:t>Strong Matrix</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727CA3"/>
                    </a:solidFill>
                  </a:tcPr>
                </a:tc>
                <a:tc>
                  <a:txBody>
                    <a:bodyPr/>
                    <a:lstStyle/>
                    <a:p>
                      <a:pPr marL="0" marR="0" fontAlgn="t">
                        <a:spcBef>
                          <a:spcPts val="0"/>
                        </a:spcBef>
                        <a:spcAft>
                          <a:spcPts val="0"/>
                        </a:spcAft>
                      </a:pPr>
                      <a:r>
                        <a:rPr lang="en-US" sz="2000">
                          <a:solidFill>
                            <a:srgbClr val="FFFFFF"/>
                          </a:solidFill>
                          <a:effectLst/>
                          <a:latin typeface="Times New Roman" panose="02020603050405020304" pitchFamily="18" charset="0"/>
                        </a:rPr>
                        <a:t>Projectized</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727CA3"/>
                    </a:solidFill>
                  </a:tcPr>
                </a:tc>
                <a:extLst>
                  <a:ext uri="{0D108BD9-81ED-4DB2-BD59-A6C34878D82A}">
                    <a16:rowId xmlns:a16="http://schemas.microsoft.com/office/drawing/2014/main" val="3865112255"/>
                  </a:ext>
                </a:extLst>
              </a:tr>
              <a:tr h="507391">
                <a:tc>
                  <a:txBody>
                    <a:bodyPr/>
                    <a:lstStyle/>
                    <a:p>
                      <a:pPr marL="0" marR="0" fontAlgn="t">
                        <a:spcBef>
                          <a:spcPts val="0"/>
                        </a:spcBef>
                        <a:spcAft>
                          <a:spcPts val="0"/>
                        </a:spcAft>
                      </a:pPr>
                      <a:r>
                        <a:rPr lang="en-US" sz="2000">
                          <a:solidFill>
                            <a:srgbClr val="FFFFFF"/>
                          </a:solidFill>
                          <a:effectLst/>
                          <a:latin typeface="Times New Roman" panose="02020603050405020304" pitchFamily="18" charset="0"/>
                        </a:rPr>
                        <a:t>PM</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727CA3"/>
                    </a:solidFill>
                  </a:tcPr>
                </a:tc>
                <a:tc>
                  <a:txBody>
                    <a:bodyPr/>
                    <a:lstStyle/>
                    <a:p>
                      <a:pPr marL="0" marR="0" fontAlgn="t">
                        <a:spcBef>
                          <a:spcPts val="0"/>
                        </a:spcBef>
                        <a:spcAft>
                          <a:spcPts val="0"/>
                        </a:spcAft>
                      </a:pPr>
                      <a:r>
                        <a:rPr lang="en-US" sz="2000" dirty="0">
                          <a:solidFill>
                            <a:srgbClr val="000000"/>
                          </a:solidFill>
                          <a:effectLst/>
                          <a:latin typeface="Times New Roman" panose="02020603050405020304" pitchFamily="18" charset="0"/>
                        </a:rPr>
                        <a:t>Little/No</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tc>
                  <a:txBody>
                    <a:bodyPr/>
                    <a:lstStyle/>
                    <a:p>
                      <a:pPr marL="0" marR="0" fontAlgn="t">
                        <a:spcBef>
                          <a:spcPts val="0"/>
                        </a:spcBef>
                        <a:spcAft>
                          <a:spcPts val="0"/>
                        </a:spcAft>
                      </a:pPr>
                      <a:r>
                        <a:rPr lang="en-US" sz="2000" dirty="0">
                          <a:solidFill>
                            <a:srgbClr val="000000"/>
                          </a:solidFill>
                          <a:effectLst/>
                          <a:latin typeface="Times New Roman" panose="02020603050405020304" pitchFamily="18" charset="0"/>
                        </a:rPr>
                        <a:t>Low</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tc>
                  <a:txBody>
                    <a:bodyPr/>
                    <a:lstStyle/>
                    <a:p>
                      <a:pPr marL="0" marR="0" fontAlgn="t">
                        <a:spcBef>
                          <a:spcPts val="0"/>
                        </a:spcBef>
                        <a:spcAft>
                          <a:spcPts val="0"/>
                        </a:spcAft>
                      </a:pPr>
                      <a:r>
                        <a:rPr lang="en-US" sz="2000" dirty="0">
                          <a:solidFill>
                            <a:srgbClr val="000000"/>
                          </a:solidFill>
                          <a:effectLst/>
                          <a:latin typeface="Times New Roman" panose="02020603050405020304" pitchFamily="18" charset="0"/>
                        </a:rPr>
                        <a:t>Low to Moderate</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Moderate to High</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High/Total</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extLst>
                  <a:ext uri="{0D108BD9-81ED-4DB2-BD59-A6C34878D82A}">
                    <a16:rowId xmlns:a16="http://schemas.microsoft.com/office/drawing/2014/main" val="3909984176"/>
                  </a:ext>
                </a:extLst>
              </a:tr>
              <a:tr h="507391">
                <a:tc>
                  <a:txBody>
                    <a:bodyPr/>
                    <a:lstStyle/>
                    <a:p>
                      <a:pPr marL="0" marR="0" fontAlgn="t">
                        <a:spcBef>
                          <a:spcPts val="0"/>
                        </a:spcBef>
                        <a:spcAft>
                          <a:spcPts val="0"/>
                        </a:spcAft>
                      </a:pPr>
                      <a:r>
                        <a:rPr lang="en-US" sz="2000">
                          <a:solidFill>
                            <a:srgbClr val="FFFFFF"/>
                          </a:solidFill>
                          <a:effectLst/>
                          <a:latin typeface="Times New Roman" panose="02020603050405020304" pitchFamily="18" charset="0"/>
                        </a:rPr>
                        <a:t>Resource Avail.</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727CA3"/>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Little/No</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EBECF0"/>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Low</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EBECF0"/>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Low to Moderate</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EBECF0"/>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Moderate to High</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EBECF0"/>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High/Total</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EBECF0"/>
                    </a:solidFill>
                  </a:tcPr>
                </a:tc>
                <a:extLst>
                  <a:ext uri="{0D108BD9-81ED-4DB2-BD59-A6C34878D82A}">
                    <a16:rowId xmlns:a16="http://schemas.microsoft.com/office/drawing/2014/main" val="3445349171"/>
                  </a:ext>
                </a:extLst>
              </a:tr>
              <a:tr h="842789">
                <a:tc>
                  <a:txBody>
                    <a:bodyPr/>
                    <a:lstStyle/>
                    <a:p>
                      <a:pPr marL="0" marR="0" fontAlgn="t">
                        <a:spcBef>
                          <a:spcPts val="0"/>
                        </a:spcBef>
                        <a:spcAft>
                          <a:spcPts val="0"/>
                        </a:spcAft>
                      </a:pPr>
                      <a:r>
                        <a:rPr lang="en-US" sz="2000">
                          <a:solidFill>
                            <a:srgbClr val="FFFFFF"/>
                          </a:solidFill>
                          <a:effectLst/>
                          <a:latin typeface="Times New Roman" panose="02020603050405020304" pitchFamily="18" charset="0"/>
                        </a:rPr>
                        <a:t>Budget controls</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727CA3"/>
                    </a:solidFill>
                  </a:tcPr>
                </a:tc>
                <a:tc>
                  <a:txBody>
                    <a:bodyPr/>
                    <a:lstStyle/>
                    <a:p>
                      <a:pPr marL="0" marR="0" fontAlgn="t">
                        <a:spcBef>
                          <a:spcPts val="0"/>
                        </a:spcBef>
                        <a:spcAft>
                          <a:spcPts val="0"/>
                        </a:spcAft>
                      </a:pPr>
                      <a:r>
                        <a:rPr lang="en-US" sz="2000" dirty="0">
                          <a:solidFill>
                            <a:srgbClr val="000000"/>
                          </a:solidFill>
                          <a:effectLst/>
                          <a:latin typeface="Times New Roman" panose="02020603050405020304" pitchFamily="18" charset="0"/>
                        </a:rPr>
                        <a:t>Functional </a:t>
                      </a:r>
                    </a:p>
                    <a:p>
                      <a:pPr marL="0" marR="0" fontAlgn="t">
                        <a:spcBef>
                          <a:spcPts val="0"/>
                        </a:spcBef>
                        <a:spcAft>
                          <a:spcPts val="0"/>
                        </a:spcAft>
                      </a:pPr>
                      <a:r>
                        <a:rPr lang="en-US" sz="2000" dirty="0">
                          <a:solidFill>
                            <a:srgbClr val="000000"/>
                          </a:solidFill>
                          <a:effectLst/>
                          <a:latin typeface="Times New Roman" panose="02020603050405020304" pitchFamily="18" charset="0"/>
                        </a:rPr>
                        <a:t>Manger</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tc>
                  <a:txBody>
                    <a:bodyPr/>
                    <a:lstStyle/>
                    <a:p>
                      <a:pPr marL="0" marR="0" fontAlgn="t">
                        <a:spcBef>
                          <a:spcPts val="0"/>
                        </a:spcBef>
                        <a:spcAft>
                          <a:spcPts val="0"/>
                        </a:spcAft>
                      </a:pPr>
                      <a:r>
                        <a:rPr lang="en-US" sz="2000" dirty="0">
                          <a:solidFill>
                            <a:srgbClr val="000000"/>
                          </a:solidFill>
                          <a:effectLst/>
                          <a:latin typeface="Times New Roman" panose="02020603050405020304" pitchFamily="18" charset="0"/>
                        </a:rPr>
                        <a:t>Functional </a:t>
                      </a:r>
                    </a:p>
                    <a:p>
                      <a:pPr marL="0" marR="0" fontAlgn="t">
                        <a:spcBef>
                          <a:spcPts val="0"/>
                        </a:spcBef>
                        <a:spcAft>
                          <a:spcPts val="0"/>
                        </a:spcAft>
                      </a:pPr>
                      <a:r>
                        <a:rPr lang="en-US" sz="2000" dirty="0">
                          <a:solidFill>
                            <a:srgbClr val="000000"/>
                          </a:solidFill>
                          <a:effectLst/>
                          <a:latin typeface="Times New Roman" panose="02020603050405020304" pitchFamily="18" charset="0"/>
                        </a:rPr>
                        <a:t>Manger</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tc>
                  <a:txBody>
                    <a:bodyPr/>
                    <a:lstStyle/>
                    <a:p>
                      <a:pPr marL="0" marR="0" fontAlgn="t">
                        <a:spcBef>
                          <a:spcPts val="0"/>
                        </a:spcBef>
                        <a:spcAft>
                          <a:spcPts val="0"/>
                        </a:spcAft>
                      </a:pPr>
                      <a:r>
                        <a:rPr lang="en-US" sz="2000" dirty="0">
                          <a:solidFill>
                            <a:srgbClr val="000000"/>
                          </a:solidFill>
                          <a:effectLst/>
                          <a:latin typeface="Times New Roman" panose="02020603050405020304" pitchFamily="18" charset="0"/>
                        </a:rPr>
                        <a:t>Mixed</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tc>
                  <a:txBody>
                    <a:bodyPr/>
                    <a:lstStyle/>
                    <a:p>
                      <a:pPr marL="0" marR="0" fontAlgn="t">
                        <a:spcBef>
                          <a:spcPts val="0"/>
                        </a:spcBef>
                        <a:spcAft>
                          <a:spcPts val="0"/>
                        </a:spcAft>
                      </a:pPr>
                      <a:r>
                        <a:rPr lang="en-US" sz="2000" dirty="0">
                          <a:solidFill>
                            <a:srgbClr val="000000"/>
                          </a:solidFill>
                          <a:effectLst/>
                          <a:latin typeface="Times New Roman" panose="02020603050405020304" pitchFamily="18" charset="0"/>
                        </a:rPr>
                        <a:t>PM</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tc>
                  <a:txBody>
                    <a:bodyPr/>
                    <a:lstStyle/>
                    <a:p>
                      <a:pPr marL="0" marR="0" fontAlgn="t">
                        <a:spcBef>
                          <a:spcPts val="0"/>
                        </a:spcBef>
                        <a:spcAft>
                          <a:spcPts val="0"/>
                        </a:spcAft>
                      </a:pPr>
                      <a:r>
                        <a:rPr lang="en-US" sz="2000" dirty="0">
                          <a:solidFill>
                            <a:srgbClr val="000000"/>
                          </a:solidFill>
                          <a:effectLst/>
                          <a:latin typeface="Times New Roman" panose="02020603050405020304" pitchFamily="18" charset="0"/>
                        </a:rPr>
                        <a:t>PM</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extLst>
                  <a:ext uri="{0D108BD9-81ED-4DB2-BD59-A6C34878D82A}">
                    <a16:rowId xmlns:a16="http://schemas.microsoft.com/office/drawing/2014/main" val="3676200632"/>
                  </a:ext>
                </a:extLst>
              </a:tr>
              <a:tr h="507391">
                <a:tc>
                  <a:txBody>
                    <a:bodyPr/>
                    <a:lstStyle/>
                    <a:p>
                      <a:pPr marL="0" marR="0" fontAlgn="t">
                        <a:spcBef>
                          <a:spcPts val="0"/>
                        </a:spcBef>
                        <a:spcAft>
                          <a:spcPts val="0"/>
                        </a:spcAft>
                      </a:pPr>
                      <a:r>
                        <a:rPr lang="en-US" sz="2000">
                          <a:solidFill>
                            <a:srgbClr val="FFFFFF"/>
                          </a:solidFill>
                          <a:effectLst/>
                          <a:latin typeface="Times New Roman" panose="02020603050405020304" pitchFamily="18" charset="0"/>
                        </a:rPr>
                        <a:t>Pm Role</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727CA3"/>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PT</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EBECF0"/>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PT</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EBECF0"/>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PT/FT</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EBECF0"/>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FT</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EBECF0"/>
                    </a:solidFill>
                  </a:tcPr>
                </a:tc>
                <a:tc>
                  <a:txBody>
                    <a:bodyPr/>
                    <a:lstStyle/>
                    <a:p>
                      <a:pPr marL="0" marR="0" fontAlgn="t">
                        <a:spcBef>
                          <a:spcPts val="0"/>
                        </a:spcBef>
                        <a:spcAft>
                          <a:spcPts val="0"/>
                        </a:spcAft>
                      </a:pPr>
                      <a:r>
                        <a:rPr lang="en-US" sz="2000" dirty="0">
                          <a:solidFill>
                            <a:srgbClr val="000000"/>
                          </a:solidFill>
                          <a:effectLst/>
                          <a:latin typeface="Times New Roman" panose="02020603050405020304" pitchFamily="18" charset="0"/>
                        </a:rPr>
                        <a:t>FT</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EBECF0"/>
                    </a:solidFill>
                  </a:tcPr>
                </a:tc>
                <a:extLst>
                  <a:ext uri="{0D108BD9-81ED-4DB2-BD59-A6C34878D82A}">
                    <a16:rowId xmlns:a16="http://schemas.microsoft.com/office/drawing/2014/main" val="3248974907"/>
                  </a:ext>
                </a:extLst>
              </a:tr>
              <a:tr h="507391">
                <a:tc>
                  <a:txBody>
                    <a:bodyPr/>
                    <a:lstStyle/>
                    <a:p>
                      <a:pPr marL="0" marR="0" fontAlgn="t">
                        <a:spcBef>
                          <a:spcPts val="0"/>
                        </a:spcBef>
                        <a:spcAft>
                          <a:spcPts val="0"/>
                        </a:spcAft>
                      </a:pPr>
                      <a:r>
                        <a:rPr lang="en-US" sz="2000">
                          <a:solidFill>
                            <a:srgbClr val="FFFFFF"/>
                          </a:solidFill>
                          <a:effectLst/>
                          <a:latin typeface="Times New Roman" panose="02020603050405020304" pitchFamily="18" charset="0"/>
                        </a:rPr>
                        <a:t>PM Staff</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727CA3"/>
                    </a:solidFill>
                  </a:tcPr>
                </a:tc>
                <a:tc>
                  <a:txBody>
                    <a:bodyPr/>
                    <a:lstStyle/>
                    <a:p>
                      <a:pPr marL="0" marR="0" fontAlgn="t">
                        <a:spcBef>
                          <a:spcPts val="0"/>
                        </a:spcBef>
                        <a:spcAft>
                          <a:spcPts val="0"/>
                        </a:spcAft>
                      </a:pPr>
                      <a:r>
                        <a:rPr lang="en-US" sz="2000" dirty="0">
                          <a:solidFill>
                            <a:srgbClr val="000000"/>
                          </a:solidFill>
                          <a:effectLst/>
                          <a:latin typeface="Times New Roman" panose="02020603050405020304" pitchFamily="18" charset="0"/>
                        </a:rPr>
                        <a:t>PT</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PT</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PT/FT</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tc>
                  <a:txBody>
                    <a:bodyPr/>
                    <a:lstStyle/>
                    <a:p>
                      <a:pPr marL="0" marR="0" fontAlgn="t">
                        <a:spcBef>
                          <a:spcPts val="0"/>
                        </a:spcBef>
                        <a:spcAft>
                          <a:spcPts val="0"/>
                        </a:spcAft>
                      </a:pPr>
                      <a:r>
                        <a:rPr lang="en-US" sz="2000">
                          <a:solidFill>
                            <a:srgbClr val="000000"/>
                          </a:solidFill>
                          <a:effectLst/>
                          <a:latin typeface="Times New Roman" panose="02020603050405020304" pitchFamily="18" charset="0"/>
                        </a:rPr>
                        <a:t>FT</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tc>
                  <a:txBody>
                    <a:bodyPr/>
                    <a:lstStyle/>
                    <a:p>
                      <a:pPr marL="0" marR="0" fontAlgn="t">
                        <a:spcBef>
                          <a:spcPts val="0"/>
                        </a:spcBef>
                        <a:spcAft>
                          <a:spcPts val="0"/>
                        </a:spcAft>
                      </a:pPr>
                      <a:r>
                        <a:rPr lang="en-US" sz="2000" dirty="0">
                          <a:solidFill>
                            <a:srgbClr val="000000"/>
                          </a:solidFill>
                          <a:effectLst/>
                          <a:latin typeface="Times New Roman" panose="02020603050405020304" pitchFamily="18" charset="0"/>
                        </a:rPr>
                        <a:t>FT</a:t>
                      </a:r>
                    </a:p>
                  </a:txBody>
                  <a:tcPr marL="19551" marR="19551" marT="19551" marB="19551">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5D7E0"/>
                    </a:solidFill>
                  </a:tcPr>
                </a:tc>
                <a:extLst>
                  <a:ext uri="{0D108BD9-81ED-4DB2-BD59-A6C34878D82A}">
                    <a16:rowId xmlns:a16="http://schemas.microsoft.com/office/drawing/2014/main" val="1725428254"/>
                  </a:ext>
                </a:extLst>
              </a:tr>
            </a:tbl>
          </a:graphicData>
        </a:graphic>
      </p:graphicFrame>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23</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6" name="Rectangle 1">
            <a:extLst>
              <a:ext uri="{FF2B5EF4-FFF2-40B4-BE49-F238E27FC236}">
                <a16:creationId xmlns:a16="http://schemas.microsoft.com/office/drawing/2014/main" id="{5E4DCF00-43DB-ABA3-1FD1-FC590848E463}"/>
              </a:ext>
            </a:extLst>
          </p:cNvPr>
          <p:cNvSpPr>
            <a:spLocks noChangeArrowheads="1"/>
          </p:cNvSpPr>
          <p:nvPr/>
        </p:nvSpPr>
        <p:spPr bwMode="auto">
          <a:xfrm>
            <a:off x="1226967" y="1028809"/>
            <a:ext cx="1011123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solidFill>
                  <a:schemeClr val="accent6"/>
                </a:solidFill>
                <a:latin typeface="Calibri" panose="020F0502020204030204" pitchFamily="34" charset="0"/>
              </a:rPr>
              <a:t>Organizational Structures Chart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accent6"/>
                </a:solidFill>
                <a:latin typeface="Calibri" panose="020F0502020204030204" pitchFamily="34" charset="0"/>
              </a:rPr>
              <a:t>For the exam, it is most likely a Strong Matrix Org, unless specified as a Functional or Projectized Org.</a:t>
            </a:r>
          </a:p>
        </p:txBody>
      </p:sp>
    </p:spTree>
    <p:extLst>
      <p:ext uri="{BB962C8B-B14F-4D97-AF65-F5344CB8AC3E}">
        <p14:creationId xmlns:p14="http://schemas.microsoft.com/office/powerpoint/2010/main" val="230549886"/>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61574" y="108677"/>
            <a:ext cx="10671048" cy="768096"/>
          </a:xfrm>
        </p:spPr>
        <p:txBody>
          <a:bodyPr/>
          <a:lstStyle/>
          <a:p>
            <a:r>
              <a:rPr lang="en-US" dirty="0">
                <a:latin typeface="Arial Black" panose="020B0604020202020204" pitchFamily="34" charset="0"/>
                <a:cs typeface="Arial Black" panose="020B0604020202020204" pitchFamily="34" charset="0"/>
              </a:rPr>
              <a:t>Project Constraints</a:t>
            </a:r>
            <a:endParaRPr lang="en-US" sz="4400" b="1" dirty="0">
              <a:solidFill>
                <a:schemeClr val="accent6"/>
              </a:solidFill>
              <a:latin typeface="Arial Black" panose="020B0604020202020204" pitchFamily="34" charset="0"/>
              <a:cs typeface="Arial Black" panose="020B0604020202020204" pitchFamily="34" charset="0"/>
            </a:endParaRP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24</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6" name="Rectangle 1">
            <a:extLst>
              <a:ext uri="{FF2B5EF4-FFF2-40B4-BE49-F238E27FC236}">
                <a16:creationId xmlns:a16="http://schemas.microsoft.com/office/drawing/2014/main" id="{5E4DCF00-43DB-ABA3-1FD1-FC590848E463}"/>
              </a:ext>
            </a:extLst>
          </p:cNvPr>
          <p:cNvSpPr>
            <a:spLocks noChangeArrowheads="1"/>
          </p:cNvSpPr>
          <p:nvPr/>
        </p:nvSpPr>
        <p:spPr bwMode="auto">
          <a:xfrm>
            <a:off x="561574" y="2451704"/>
            <a:ext cx="10180306" cy="284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spcBef>
                <a:spcPts val="0"/>
              </a:spcBef>
              <a:spcAft>
                <a:spcPts val="700"/>
              </a:spcAft>
              <a:buFont typeface="Arial" panose="020B0604020202020204" pitchFamily="34" charset="0"/>
              <a:buChar char="•"/>
            </a:pPr>
            <a:r>
              <a:rPr lang="en-US" dirty="0">
                <a:solidFill>
                  <a:schemeClr val="accent6"/>
                </a:solidFill>
                <a:latin typeface="Calibri" panose="020F0502020204030204" pitchFamily="34" charset="0"/>
              </a:rPr>
              <a:t>Scope- The work that needs to get done.</a:t>
            </a:r>
          </a:p>
          <a:p>
            <a:pPr marL="285750" indent="-285750">
              <a:spcBef>
                <a:spcPts val="0"/>
              </a:spcBef>
              <a:spcAft>
                <a:spcPts val="700"/>
              </a:spcAft>
              <a:buFont typeface="Arial" panose="020B0604020202020204" pitchFamily="34" charset="0"/>
              <a:buChar char="•"/>
            </a:pPr>
            <a:r>
              <a:rPr lang="en-US" dirty="0">
                <a:solidFill>
                  <a:schemeClr val="accent6"/>
                </a:solidFill>
                <a:latin typeface="Calibri" panose="020F0502020204030204" pitchFamily="34" charset="0"/>
              </a:rPr>
              <a:t>Schedule- No project has unlimited time. Finish the project within the given time.</a:t>
            </a:r>
          </a:p>
          <a:p>
            <a:pPr marL="285750" indent="-285750">
              <a:spcBef>
                <a:spcPts val="0"/>
              </a:spcBef>
              <a:spcAft>
                <a:spcPts val="700"/>
              </a:spcAft>
              <a:buFont typeface="Arial" panose="020B0604020202020204" pitchFamily="34" charset="0"/>
              <a:buChar char="•"/>
            </a:pPr>
            <a:r>
              <a:rPr lang="en-US" dirty="0">
                <a:solidFill>
                  <a:schemeClr val="accent6"/>
                </a:solidFill>
                <a:latin typeface="Calibri" panose="020F0502020204030204" pitchFamily="34" charset="0"/>
              </a:rPr>
              <a:t>Cost- No project has unlimited money, so every project is limited/constrained by cost. Do not spend more money than the allocated costs.</a:t>
            </a:r>
          </a:p>
          <a:p>
            <a:pPr marL="285750" indent="-285750">
              <a:spcBef>
                <a:spcPts val="0"/>
              </a:spcBef>
              <a:spcAft>
                <a:spcPts val="700"/>
              </a:spcAft>
              <a:buFont typeface="Arial" panose="020B0604020202020204" pitchFamily="34" charset="0"/>
              <a:buChar char="•"/>
            </a:pPr>
            <a:r>
              <a:rPr lang="en-US" dirty="0">
                <a:solidFill>
                  <a:schemeClr val="accent6"/>
                </a:solidFill>
                <a:latin typeface="Calibri" panose="020F0502020204030204" pitchFamily="34" charset="0"/>
              </a:rPr>
              <a:t>Risk- Negative or positive. Can affect the project.</a:t>
            </a:r>
          </a:p>
          <a:p>
            <a:pPr marL="285750" indent="-285750">
              <a:spcBef>
                <a:spcPts val="0"/>
              </a:spcBef>
              <a:spcAft>
                <a:spcPts val="700"/>
              </a:spcAft>
              <a:buFont typeface="Arial" panose="020B0604020202020204" pitchFamily="34" charset="0"/>
              <a:buChar char="•"/>
            </a:pPr>
            <a:r>
              <a:rPr lang="en-US" dirty="0">
                <a:solidFill>
                  <a:schemeClr val="accent6"/>
                </a:solidFill>
                <a:latin typeface="Calibri" panose="020F0502020204030204" pitchFamily="34" charset="0"/>
              </a:rPr>
              <a:t>Quality- Projects of poor quality is generally accepted.</a:t>
            </a:r>
          </a:p>
          <a:p>
            <a:pPr marL="285750" indent="-285750">
              <a:spcBef>
                <a:spcPts val="0"/>
              </a:spcBef>
              <a:spcAft>
                <a:spcPts val="700"/>
              </a:spcAft>
              <a:buFont typeface="Arial" panose="020B0604020202020204" pitchFamily="34" charset="0"/>
              <a:buChar char="•"/>
            </a:pPr>
            <a:r>
              <a:rPr lang="en-US" dirty="0">
                <a:solidFill>
                  <a:schemeClr val="accent6"/>
                </a:solidFill>
                <a:latin typeface="Calibri" panose="020F0502020204030204" pitchFamily="34" charset="0"/>
              </a:rPr>
              <a:t>Resources- Resources available in the organization to get the project done may be limited</a:t>
            </a:r>
          </a:p>
          <a:p>
            <a:pPr marR="0" lvl="0" algn="l" defTabSz="914400" rtl="0" eaLnBrk="0" fontAlgn="base" latinLnBrk="0" hangingPunct="0">
              <a:lnSpc>
                <a:spcPct val="100000"/>
              </a:lnSpc>
              <a:spcBef>
                <a:spcPct val="0"/>
              </a:spcBef>
              <a:spcAft>
                <a:spcPct val="0"/>
              </a:spcAft>
              <a:buClrTx/>
              <a:buSzTx/>
              <a:tabLst/>
            </a:pPr>
            <a:endParaRPr lang="en-US" altLang="en-US" dirty="0">
              <a:solidFill>
                <a:schemeClr val="accent6"/>
              </a:solidFill>
              <a:latin typeface="Calibri" panose="020F0502020204030204" pitchFamily="34" charset="0"/>
            </a:endParaRPr>
          </a:p>
        </p:txBody>
      </p:sp>
      <p:pic>
        <p:nvPicPr>
          <p:cNvPr id="10" name="Content Placeholder 9">
            <a:extLst>
              <a:ext uri="{FF2B5EF4-FFF2-40B4-BE49-F238E27FC236}">
                <a16:creationId xmlns:a16="http://schemas.microsoft.com/office/drawing/2014/main" id="{C151FE24-E4D7-43CA-AD60-755C66D564EB}"/>
              </a:ext>
            </a:extLst>
          </p:cNvPr>
          <p:cNvPicPr>
            <a:picLocks noGrp="1" noChangeAspect="1"/>
          </p:cNvPicPr>
          <p:nvPr>
            <p:ph sz="half" idx="1"/>
          </p:nvPr>
        </p:nvPicPr>
        <p:blipFill>
          <a:blip r:embed="rId3"/>
          <a:stretch>
            <a:fillRect/>
          </a:stretch>
        </p:blipFill>
        <p:spPr>
          <a:xfrm>
            <a:off x="9432287" y="876773"/>
            <a:ext cx="2323600" cy="2309768"/>
          </a:xfrm>
        </p:spPr>
      </p:pic>
      <p:sp>
        <p:nvSpPr>
          <p:cNvPr id="12" name="TextBox 11">
            <a:extLst>
              <a:ext uri="{FF2B5EF4-FFF2-40B4-BE49-F238E27FC236}">
                <a16:creationId xmlns:a16="http://schemas.microsoft.com/office/drawing/2014/main" id="{08474F2A-DFE0-E013-5ECF-DC1BAFADB6FF}"/>
              </a:ext>
            </a:extLst>
          </p:cNvPr>
          <p:cNvSpPr txBox="1"/>
          <p:nvPr/>
        </p:nvSpPr>
        <p:spPr>
          <a:xfrm>
            <a:off x="2060325" y="738740"/>
            <a:ext cx="714428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solidFill>
                  <a:schemeClr val="accent6"/>
                </a:solidFill>
                <a:latin typeface="Calibri" panose="020F0502020204030204" pitchFamily="34" charset="0"/>
              </a:rPr>
              <a:t>Something that limits the project.</a:t>
            </a:r>
          </a:p>
        </p:txBody>
      </p:sp>
    </p:spTree>
    <p:extLst>
      <p:ext uri="{BB962C8B-B14F-4D97-AF65-F5344CB8AC3E}">
        <p14:creationId xmlns:p14="http://schemas.microsoft.com/office/powerpoint/2010/main" val="1268617956"/>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561574" y="108677"/>
            <a:ext cx="10671048" cy="768096"/>
          </a:xfrm>
        </p:spPr>
        <p:txBody>
          <a:bodyPr/>
          <a:lstStyle/>
          <a:p>
            <a:r>
              <a:rPr lang="en-US" dirty="0">
                <a:latin typeface="Arial Black" panose="020B0604020202020204" pitchFamily="34" charset="0"/>
                <a:cs typeface="Arial Black" panose="020B0604020202020204" pitchFamily="34" charset="0"/>
              </a:rPr>
              <a:t>process</a:t>
            </a:r>
            <a:endParaRPr lang="en-US" sz="4400" b="1" dirty="0">
              <a:solidFill>
                <a:schemeClr val="accent6"/>
              </a:solidFill>
              <a:latin typeface="Arial Black" panose="020B0604020202020204" pitchFamily="34" charset="0"/>
              <a:cs typeface="Arial Black" panose="020B0604020202020204" pitchFamily="34" charset="0"/>
            </a:endParaRP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25</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6" name="Rectangle 1">
            <a:extLst>
              <a:ext uri="{FF2B5EF4-FFF2-40B4-BE49-F238E27FC236}">
                <a16:creationId xmlns:a16="http://schemas.microsoft.com/office/drawing/2014/main" id="{5E4DCF00-43DB-ABA3-1FD1-FC590848E463}"/>
              </a:ext>
            </a:extLst>
          </p:cNvPr>
          <p:cNvSpPr>
            <a:spLocks noChangeArrowheads="1"/>
          </p:cNvSpPr>
          <p:nvPr/>
        </p:nvSpPr>
        <p:spPr bwMode="auto">
          <a:xfrm>
            <a:off x="622818" y="1050171"/>
            <a:ext cx="10180306" cy="5232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spcBef>
                <a:spcPts val="0"/>
              </a:spcBef>
              <a:spcAft>
                <a:spcPts val="100"/>
              </a:spcAft>
              <a:buFont typeface="Arial" panose="020B0604020202020204" pitchFamily="34" charset="0"/>
              <a:buChar char="•"/>
            </a:pPr>
            <a:r>
              <a:rPr lang="en-US" dirty="0">
                <a:solidFill>
                  <a:schemeClr val="accent6"/>
                </a:solidFill>
                <a:latin typeface="Calibri" panose="020F0502020204030204" pitchFamily="34" charset="0"/>
              </a:rPr>
              <a:t>Why do we have a process? To obtain a certain Output.</a:t>
            </a:r>
          </a:p>
          <a:p>
            <a:pPr marL="628650" marR="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Input</a:t>
            </a:r>
          </a:p>
          <a:p>
            <a:pPr marL="971550" marR="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Starting point for the process, the raw materials to begin the execution</a:t>
            </a:r>
          </a:p>
          <a:p>
            <a:pPr marL="971550" indent="-285750">
              <a:spcBef>
                <a:spcPts val="0"/>
              </a:spcBef>
              <a:spcAft>
                <a:spcPts val="300"/>
              </a:spcAft>
              <a:buFont typeface="Arial" panose="020B0604020202020204" pitchFamily="34" charset="0"/>
              <a:buChar char="•"/>
            </a:pPr>
            <a:r>
              <a:rPr lang="en-US" dirty="0">
                <a:solidFill>
                  <a:schemeClr val="accent6"/>
                </a:solidFill>
                <a:latin typeface="Calibri" panose="020F0502020204030204" pitchFamily="34" charset="0"/>
              </a:rPr>
              <a:t>Could be the output of a previous process</a:t>
            </a:r>
          </a:p>
          <a:p>
            <a:pPr marL="628650" marR="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Tools and Techniques</a:t>
            </a:r>
          </a:p>
          <a:p>
            <a:pPr marL="971550" indent="-285750">
              <a:spcBef>
                <a:spcPts val="0"/>
              </a:spcBef>
              <a:spcAft>
                <a:spcPts val="400"/>
              </a:spcAft>
              <a:buFont typeface="Arial" panose="020B0604020202020204" pitchFamily="34" charset="0"/>
              <a:buChar char="•"/>
            </a:pPr>
            <a:r>
              <a:rPr lang="en-US" dirty="0">
                <a:solidFill>
                  <a:schemeClr val="accent6"/>
                </a:solidFill>
                <a:latin typeface="Calibri" panose="020F0502020204030204" pitchFamily="34" charset="0"/>
              </a:rPr>
              <a:t>The actions or methods that are used to transform the raw materials into the output</a:t>
            </a:r>
          </a:p>
          <a:p>
            <a:pPr marL="971550" indent="-285750">
              <a:spcBef>
                <a:spcPts val="0"/>
              </a:spcBef>
              <a:spcAft>
                <a:spcPts val="400"/>
              </a:spcAft>
              <a:buFont typeface="Arial" panose="020B0604020202020204" pitchFamily="34" charset="0"/>
              <a:buChar char="•"/>
            </a:pPr>
            <a:r>
              <a:rPr lang="en-US" dirty="0">
                <a:solidFill>
                  <a:schemeClr val="accent6"/>
                </a:solidFill>
                <a:latin typeface="Calibri" panose="020F0502020204030204" pitchFamily="34" charset="0"/>
              </a:rPr>
              <a:t>Help you do the process. </a:t>
            </a:r>
          </a:p>
          <a:p>
            <a:pPr marL="628650" marR="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Output</a:t>
            </a:r>
          </a:p>
          <a:p>
            <a:pPr marL="971550" marR="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The end result of our efforts.  The raw materials into a polished stone.</a:t>
            </a:r>
          </a:p>
          <a:p>
            <a:pPr marL="971550" marR="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May be the input of another process.</a:t>
            </a:r>
          </a:p>
          <a:p>
            <a:pPr marL="685800" marR="0">
              <a:spcBef>
                <a:spcPts val="0"/>
              </a:spcBef>
              <a:spcAft>
                <a:spcPts val="0"/>
              </a:spcAft>
            </a:pPr>
            <a:endParaRPr lang="en-US" dirty="0">
              <a:solidFill>
                <a:schemeClr val="accent6"/>
              </a:solidFill>
              <a:latin typeface="Calibri" panose="020F0502020204030204" pitchFamily="34" charset="0"/>
            </a:endParaRPr>
          </a:p>
          <a:p>
            <a:pPr marL="285750" marR="0" indent="-285750">
              <a:spcBef>
                <a:spcPts val="0"/>
              </a:spcBef>
              <a:spcAft>
                <a:spcPts val="0"/>
              </a:spcAft>
              <a:buFont typeface="Arial" panose="020B0604020202020204" pitchFamily="34" charset="0"/>
              <a:buChar char="•"/>
            </a:pPr>
            <a:r>
              <a:rPr lang="en-US" dirty="0">
                <a:solidFill>
                  <a:schemeClr val="accent6"/>
                </a:solidFill>
                <a:latin typeface="Calibri" panose="020F0502020204030204" pitchFamily="34" charset="0"/>
              </a:rPr>
              <a:t>Exam example: Process of developing the project charter: has inputs, tools, techniques, and output (ITTO)</a:t>
            </a:r>
          </a:p>
          <a:p>
            <a:pPr marL="742950" lvl="1" indent="-285750" fontAlgn="ctr">
              <a:buFont typeface="Arial" panose="020B0604020202020204" pitchFamily="34" charset="0"/>
              <a:buChar char="•"/>
            </a:pPr>
            <a:r>
              <a:rPr lang="en-US" dirty="0">
                <a:solidFill>
                  <a:schemeClr val="accent6"/>
                </a:solidFill>
                <a:latin typeface="Calibri" panose="020F0502020204030204" pitchFamily="34" charset="0"/>
              </a:rPr>
              <a:t>Input or Tool/Technique: A template, expert judgement or help to build the project charger</a:t>
            </a:r>
          </a:p>
          <a:p>
            <a:pPr marL="742950" lvl="1" indent="-285750" fontAlgn="ctr">
              <a:buFont typeface="Arial" panose="020B0604020202020204" pitchFamily="34" charset="0"/>
              <a:buChar char="•"/>
            </a:pPr>
            <a:r>
              <a:rPr lang="en-US" dirty="0">
                <a:solidFill>
                  <a:schemeClr val="accent6"/>
                </a:solidFill>
                <a:latin typeface="Calibri" panose="020F0502020204030204" pitchFamily="34" charset="0"/>
              </a:rPr>
              <a:t>Process: Develop Project Charter</a:t>
            </a:r>
          </a:p>
          <a:p>
            <a:pPr marL="742950" lvl="1" indent="-285750" fontAlgn="ctr">
              <a:buFont typeface="Arial" panose="020B0604020202020204" pitchFamily="34" charset="0"/>
              <a:buChar char="•"/>
            </a:pPr>
            <a:r>
              <a:rPr lang="en-US" dirty="0">
                <a:solidFill>
                  <a:schemeClr val="accent6"/>
                </a:solidFill>
                <a:latin typeface="Calibri" panose="020F0502020204030204" pitchFamily="34" charset="0"/>
              </a:rPr>
              <a:t>Output: Project Charter</a:t>
            </a:r>
          </a:p>
          <a:p>
            <a:pPr marL="971550" marR="0" indent="-285750">
              <a:spcBef>
                <a:spcPts val="0"/>
              </a:spcBef>
              <a:spcAft>
                <a:spcPts val="0"/>
              </a:spcAft>
              <a:buFont typeface="Arial" panose="020B0604020202020204" pitchFamily="34" charset="0"/>
              <a:buChar char="•"/>
            </a:pPr>
            <a:endParaRPr lang="en-US" dirty="0">
              <a:solidFill>
                <a:schemeClr val="accent6"/>
              </a:solidFill>
              <a:latin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endParaRPr lang="en-US" altLang="en-US" dirty="0">
              <a:solidFill>
                <a:schemeClr val="accent6"/>
              </a:solidFill>
              <a:latin typeface="Calibri" panose="020F0502020204030204" pitchFamily="34" charset="0"/>
            </a:endParaRPr>
          </a:p>
        </p:txBody>
      </p:sp>
      <p:sp>
        <p:nvSpPr>
          <p:cNvPr id="12" name="TextBox 11">
            <a:extLst>
              <a:ext uri="{FF2B5EF4-FFF2-40B4-BE49-F238E27FC236}">
                <a16:creationId xmlns:a16="http://schemas.microsoft.com/office/drawing/2014/main" id="{08474F2A-DFE0-E013-5ECF-DC1BAFADB6FF}"/>
              </a:ext>
            </a:extLst>
          </p:cNvPr>
          <p:cNvSpPr txBox="1"/>
          <p:nvPr/>
        </p:nvSpPr>
        <p:spPr>
          <a:xfrm>
            <a:off x="768096" y="819338"/>
            <a:ext cx="1067104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b="1" dirty="0">
                <a:solidFill>
                  <a:schemeClr val="accent6"/>
                </a:solidFill>
                <a:latin typeface="Calibri" panose="020F0502020204030204" pitchFamily="34" charset="0"/>
              </a:rPr>
              <a:t>Inputs, Outputs and Tools/Techniques combined to execute a specific purpose on the project</a:t>
            </a:r>
            <a:r>
              <a:rPr lang="en-US" altLang="en-US" b="1" dirty="0">
                <a:solidFill>
                  <a:schemeClr val="accent6"/>
                </a:solidFill>
                <a:latin typeface="Calibri" panose="020F0502020204030204" pitchFamily="34" charset="0"/>
              </a:rPr>
              <a:t>.</a:t>
            </a:r>
          </a:p>
        </p:txBody>
      </p:sp>
      <p:pic>
        <p:nvPicPr>
          <p:cNvPr id="13" name="Picture 12">
            <a:extLst>
              <a:ext uri="{FF2B5EF4-FFF2-40B4-BE49-F238E27FC236}">
                <a16:creationId xmlns:a16="http://schemas.microsoft.com/office/drawing/2014/main" id="{E2C3E3FD-BFC3-5094-993C-FD8FDF079AED}"/>
              </a:ext>
            </a:extLst>
          </p:cNvPr>
          <p:cNvPicPr>
            <a:picLocks noChangeAspect="1"/>
          </p:cNvPicPr>
          <p:nvPr/>
        </p:nvPicPr>
        <p:blipFill>
          <a:blip r:embed="rId3"/>
          <a:stretch>
            <a:fillRect/>
          </a:stretch>
        </p:blipFill>
        <p:spPr>
          <a:xfrm>
            <a:off x="4636092" y="5227200"/>
            <a:ext cx="5567587" cy="1228571"/>
          </a:xfrm>
          <a:prstGeom prst="rect">
            <a:avLst/>
          </a:prstGeom>
        </p:spPr>
      </p:pic>
    </p:spTree>
    <p:extLst>
      <p:ext uri="{BB962C8B-B14F-4D97-AF65-F5344CB8AC3E}">
        <p14:creationId xmlns:p14="http://schemas.microsoft.com/office/powerpoint/2010/main" val="781937302"/>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381240" y="108677"/>
            <a:ext cx="10851382"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Process groups and knowledge </a:t>
            </a:r>
            <a:r>
              <a:rPr lang="en-US" dirty="0">
                <a:latin typeface="Arial Black" panose="020B0604020202020204" pitchFamily="34" charset="0"/>
                <a:cs typeface="Arial Black" panose="020B0604020202020204" pitchFamily="34" charset="0"/>
              </a:rPr>
              <a:t>areas</a:t>
            </a:r>
            <a:endParaRPr lang="en-US" sz="4400" b="1" dirty="0">
              <a:solidFill>
                <a:schemeClr val="accent6"/>
              </a:solidFill>
              <a:latin typeface="Arial Black" panose="020B0604020202020204" pitchFamily="34" charset="0"/>
              <a:cs typeface="Arial Black" panose="020B0604020202020204" pitchFamily="34" charset="0"/>
            </a:endParaRP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26</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0" y="105490"/>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6" name="Rectangle 1">
            <a:extLst>
              <a:ext uri="{FF2B5EF4-FFF2-40B4-BE49-F238E27FC236}">
                <a16:creationId xmlns:a16="http://schemas.microsoft.com/office/drawing/2014/main" id="{5E4DCF00-43DB-ABA3-1FD1-FC590848E463}"/>
              </a:ext>
            </a:extLst>
          </p:cNvPr>
          <p:cNvSpPr>
            <a:spLocks noChangeArrowheads="1"/>
          </p:cNvSpPr>
          <p:nvPr/>
        </p:nvSpPr>
        <p:spPr bwMode="auto">
          <a:xfrm>
            <a:off x="1147813" y="2315955"/>
            <a:ext cx="465911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lvl="2"/>
            <a:r>
              <a:rPr lang="en-US" b="1" dirty="0">
                <a:solidFill>
                  <a:schemeClr val="accent6"/>
                </a:solidFill>
                <a:latin typeface="Calibri" panose="020F0502020204030204" pitchFamily="34" charset="0"/>
              </a:rPr>
              <a:t>10 Knowledge Areas:</a:t>
            </a:r>
          </a:p>
          <a:p>
            <a:pPr marL="914400" lvl="3" indent="-285750" fontAlgn="ctr">
              <a:buFont typeface="Arial" panose="020B0604020202020204" pitchFamily="34" charset="0"/>
              <a:buChar char="•"/>
            </a:pPr>
            <a:r>
              <a:rPr lang="en-US" dirty="0">
                <a:solidFill>
                  <a:schemeClr val="accent6"/>
                </a:solidFill>
                <a:latin typeface="Calibri" panose="020F0502020204030204" pitchFamily="34" charset="0"/>
              </a:rPr>
              <a:t>Integration Management (7)</a:t>
            </a:r>
          </a:p>
          <a:p>
            <a:pPr marL="914400" lvl="3" indent="-285750" fontAlgn="ctr">
              <a:buFont typeface="Arial" panose="020B0604020202020204" pitchFamily="34" charset="0"/>
              <a:buChar char="•"/>
            </a:pPr>
            <a:r>
              <a:rPr lang="en-US" dirty="0">
                <a:solidFill>
                  <a:schemeClr val="accent6"/>
                </a:solidFill>
                <a:latin typeface="Calibri" panose="020F0502020204030204" pitchFamily="34" charset="0"/>
              </a:rPr>
              <a:t>Scope Management (6)</a:t>
            </a:r>
          </a:p>
          <a:p>
            <a:pPr marL="914400" lvl="3" indent="-285750" fontAlgn="ctr">
              <a:buFont typeface="Arial" panose="020B0604020202020204" pitchFamily="34" charset="0"/>
              <a:buChar char="•"/>
            </a:pPr>
            <a:r>
              <a:rPr lang="en-US" dirty="0">
                <a:solidFill>
                  <a:schemeClr val="accent6"/>
                </a:solidFill>
                <a:latin typeface="Calibri" panose="020F0502020204030204" pitchFamily="34" charset="0"/>
              </a:rPr>
              <a:t>Schedule Management (6)</a:t>
            </a:r>
          </a:p>
          <a:p>
            <a:pPr marL="914400" lvl="3" indent="-285750" fontAlgn="ctr">
              <a:buFont typeface="Arial" panose="020B0604020202020204" pitchFamily="34" charset="0"/>
              <a:buChar char="•"/>
            </a:pPr>
            <a:r>
              <a:rPr lang="en-US" dirty="0">
                <a:solidFill>
                  <a:schemeClr val="accent6"/>
                </a:solidFill>
                <a:latin typeface="Calibri" panose="020F0502020204030204" pitchFamily="34" charset="0"/>
              </a:rPr>
              <a:t>Cost Management (4)</a:t>
            </a:r>
          </a:p>
          <a:p>
            <a:pPr marL="914400" lvl="3" indent="-285750" fontAlgn="ctr">
              <a:buFont typeface="Arial" panose="020B0604020202020204" pitchFamily="34" charset="0"/>
              <a:buChar char="•"/>
            </a:pPr>
            <a:r>
              <a:rPr lang="en-US" dirty="0">
                <a:solidFill>
                  <a:schemeClr val="accent6"/>
                </a:solidFill>
                <a:latin typeface="Calibri" panose="020F0502020204030204" pitchFamily="34" charset="0"/>
              </a:rPr>
              <a:t>Project Quality Management (3)</a:t>
            </a:r>
          </a:p>
          <a:p>
            <a:pPr marL="914400" lvl="3" indent="-285750" fontAlgn="ctr">
              <a:buFont typeface="Arial" panose="020B0604020202020204" pitchFamily="34" charset="0"/>
              <a:buChar char="•"/>
            </a:pPr>
            <a:r>
              <a:rPr lang="en-US" dirty="0">
                <a:solidFill>
                  <a:schemeClr val="accent6"/>
                </a:solidFill>
                <a:latin typeface="Calibri" panose="020F0502020204030204" pitchFamily="34" charset="0"/>
              </a:rPr>
              <a:t>Resources Management (6)</a:t>
            </a:r>
          </a:p>
          <a:p>
            <a:pPr marL="914400" lvl="3" indent="-285750" fontAlgn="ctr">
              <a:buFont typeface="Arial" panose="020B0604020202020204" pitchFamily="34" charset="0"/>
              <a:buChar char="•"/>
            </a:pPr>
            <a:r>
              <a:rPr lang="en-US" dirty="0">
                <a:solidFill>
                  <a:schemeClr val="accent6"/>
                </a:solidFill>
                <a:latin typeface="Calibri" panose="020F0502020204030204" pitchFamily="34" charset="0"/>
              </a:rPr>
              <a:t>Communications Management (3)</a:t>
            </a:r>
          </a:p>
          <a:p>
            <a:pPr marL="914400" lvl="3" indent="-285750" fontAlgn="ctr">
              <a:buFont typeface="Arial" panose="020B0604020202020204" pitchFamily="34" charset="0"/>
              <a:buChar char="•"/>
            </a:pPr>
            <a:r>
              <a:rPr lang="en-US" dirty="0">
                <a:solidFill>
                  <a:schemeClr val="accent6"/>
                </a:solidFill>
                <a:latin typeface="Calibri" panose="020F0502020204030204" pitchFamily="34" charset="0"/>
              </a:rPr>
              <a:t>Risk Management (7)</a:t>
            </a:r>
          </a:p>
          <a:p>
            <a:pPr marL="914400" lvl="3" indent="-285750" fontAlgn="ctr">
              <a:buFont typeface="Arial" panose="020B0604020202020204" pitchFamily="34" charset="0"/>
              <a:buChar char="•"/>
            </a:pPr>
            <a:r>
              <a:rPr lang="en-US" dirty="0">
                <a:solidFill>
                  <a:schemeClr val="accent6"/>
                </a:solidFill>
                <a:latin typeface="Calibri" panose="020F0502020204030204" pitchFamily="34" charset="0"/>
              </a:rPr>
              <a:t>Procurement Management (3)</a:t>
            </a:r>
          </a:p>
          <a:p>
            <a:pPr marL="914400" lvl="3" indent="-285750" fontAlgn="ctr">
              <a:buFont typeface="Arial" panose="020B0604020202020204" pitchFamily="34" charset="0"/>
              <a:buChar char="•"/>
            </a:pPr>
            <a:r>
              <a:rPr lang="en-US" dirty="0">
                <a:solidFill>
                  <a:schemeClr val="accent6"/>
                </a:solidFill>
                <a:latin typeface="Calibri" panose="020F0502020204030204" pitchFamily="34" charset="0"/>
              </a:rPr>
              <a:t>Stakeholder Management</a:t>
            </a:r>
          </a:p>
          <a:p>
            <a:pPr marL="1428750" lvl="1" indent="-285750">
              <a:buFont typeface="Arial" panose="020B0604020202020204" pitchFamily="34" charset="0"/>
              <a:buChar char="•"/>
            </a:pPr>
            <a:endParaRPr lang="en-US" dirty="0">
              <a:solidFill>
                <a:schemeClr val="accent6"/>
              </a:solidFill>
              <a:latin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endParaRPr lang="en-US" altLang="en-US" dirty="0">
              <a:solidFill>
                <a:schemeClr val="accent6"/>
              </a:solidFill>
              <a:latin typeface="Calibri" panose="020F0502020204030204" pitchFamily="34" charset="0"/>
            </a:endParaRPr>
          </a:p>
        </p:txBody>
      </p:sp>
      <p:sp>
        <p:nvSpPr>
          <p:cNvPr id="12" name="TextBox 11">
            <a:extLst>
              <a:ext uri="{FF2B5EF4-FFF2-40B4-BE49-F238E27FC236}">
                <a16:creationId xmlns:a16="http://schemas.microsoft.com/office/drawing/2014/main" id="{08474F2A-DFE0-E013-5ECF-DC1BAFADB6FF}"/>
              </a:ext>
            </a:extLst>
          </p:cNvPr>
          <p:cNvSpPr txBox="1"/>
          <p:nvPr/>
        </p:nvSpPr>
        <p:spPr>
          <a:xfrm>
            <a:off x="2517011" y="1426173"/>
            <a:ext cx="11328913"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solidFill>
                  <a:schemeClr val="accent6"/>
                </a:solidFill>
                <a:latin typeface="Calibri" panose="020F0502020204030204" pitchFamily="34" charset="0"/>
              </a:rPr>
              <a:t>Be able to write and memorize in under 5 minutes-PMBOK PG 25**</a:t>
            </a:r>
          </a:p>
        </p:txBody>
      </p:sp>
      <p:sp>
        <p:nvSpPr>
          <p:cNvPr id="5" name="TextBox 4">
            <a:extLst>
              <a:ext uri="{FF2B5EF4-FFF2-40B4-BE49-F238E27FC236}">
                <a16:creationId xmlns:a16="http://schemas.microsoft.com/office/drawing/2014/main" id="{9673301F-A752-7B76-3AA8-5518DF18451C}"/>
              </a:ext>
            </a:extLst>
          </p:cNvPr>
          <p:cNvSpPr txBox="1"/>
          <p:nvPr/>
        </p:nvSpPr>
        <p:spPr>
          <a:xfrm>
            <a:off x="633577" y="2006171"/>
            <a:ext cx="9745526" cy="369332"/>
          </a:xfrm>
          <a:prstGeom prst="rect">
            <a:avLst/>
          </a:prstGeom>
          <a:noFill/>
        </p:spPr>
        <p:txBody>
          <a:bodyPr wrap="square">
            <a:spAutoFit/>
          </a:bodyPr>
          <a:lstStyle/>
          <a:p>
            <a:pPr marL="285750" indent="-285750">
              <a:spcBef>
                <a:spcPts val="0"/>
              </a:spcBef>
              <a:spcAft>
                <a:spcPts val="1300"/>
              </a:spcAft>
              <a:buFont typeface="Arial" panose="020B0604020202020204" pitchFamily="34" charset="0"/>
              <a:buChar char="•"/>
            </a:pPr>
            <a:r>
              <a:rPr lang="en-US" dirty="0">
                <a:solidFill>
                  <a:schemeClr val="accent6"/>
                </a:solidFill>
                <a:latin typeface="Calibri" panose="020F0502020204030204" pitchFamily="34" charset="0"/>
              </a:rPr>
              <a:t>49 Processes organized into 5 Process Groups and 10 Knowledge Areas</a:t>
            </a:r>
          </a:p>
        </p:txBody>
      </p:sp>
      <p:sp>
        <p:nvSpPr>
          <p:cNvPr id="9" name="TextBox 8">
            <a:extLst>
              <a:ext uri="{FF2B5EF4-FFF2-40B4-BE49-F238E27FC236}">
                <a16:creationId xmlns:a16="http://schemas.microsoft.com/office/drawing/2014/main" id="{2CA82A27-B3B7-D6F5-0FA8-0A6BBD1E3ADD}"/>
              </a:ext>
            </a:extLst>
          </p:cNvPr>
          <p:cNvSpPr txBox="1"/>
          <p:nvPr/>
        </p:nvSpPr>
        <p:spPr>
          <a:xfrm>
            <a:off x="5806931" y="2375503"/>
            <a:ext cx="3885252" cy="1754326"/>
          </a:xfrm>
          <a:prstGeom prst="rect">
            <a:avLst/>
          </a:prstGeom>
          <a:noFill/>
        </p:spPr>
        <p:txBody>
          <a:bodyPr wrap="square">
            <a:spAutoFit/>
          </a:bodyPr>
          <a:lstStyle/>
          <a:p>
            <a:pPr marL="0" lvl="1"/>
            <a:r>
              <a:rPr lang="en-US" b="1" dirty="0">
                <a:solidFill>
                  <a:schemeClr val="accent6"/>
                </a:solidFill>
                <a:latin typeface="Calibri" panose="020F0502020204030204" pitchFamily="34" charset="0"/>
              </a:rPr>
              <a:t>5 Process Groups:</a:t>
            </a:r>
          </a:p>
          <a:p>
            <a:pPr marL="457200" lvl="2" indent="-285750" fontAlgn="ctr">
              <a:buFont typeface="Arial" panose="020B0604020202020204" pitchFamily="34" charset="0"/>
              <a:buChar char="•"/>
            </a:pPr>
            <a:r>
              <a:rPr lang="en-US" dirty="0">
                <a:solidFill>
                  <a:schemeClr val="accent6"/>
                </a:solidFill>
                <a:latin typeface="Calibri" panose="020F0502020204030204" pitchFamily="34" charset="0"/>
              </a:rPr>
              <a:t>Initiation (2)</a:t>
            </a:r>
          </a:p>
          <a:p>
            <a:pPr marL="457200" lvl="2" indent="-285750" fontAlgn="ctr">
              <a:buFont typeface="Arial" panose="020B0604020202020204" pitchFamily="34" charset="0"/>
              <a:buChar char="•"/>
            </a:pPr>
            <a:r>
              <a:rPr lang="en-US" dirty="0">
                <a:solidFill>
                  <a:schemeClr val="accent6"/>
                </a:solidFill>
                <a:latin typeface="Calibri" panose="020F0502020204030204" pitchFamily="34" charset="0"/>
              </a:rPr>
              <a:t>Planning (24)</a:t>
            </a:r>
          </a:p>
          <a:p>
            <a:pPr marL="457200" lvl="2" indent="-285750" fontAlgn="ctr">
              <a:buFont typeface="Arial" panose="020B0604020202020204" pitchFamily="34" charset="0"/>
              <a:buChar char="•"/>
            </a:pPr>
            <a:r>
              <a:rPr lang="en-US" dirty="0">
                <a:solidFill>
                  <a:schemeClr val="accent6"/>
                </a:solidFill>
                <a:latin typeface="Calibri" panose="020F0502020204030204" pitchFamily="34" charset="0"/>
              </a:rPr>
              <a:t>Execution (10)</a:t>
            </a:r>
          </a:p>
          <a:p>
            <a:pPr marL="457200" lvl="2" indent="-285750" fontAlgn="ctr">
              <a:buFont typeface="Arial" panose="020B0604020202020204" pitchFamily="34" charset="0"/>
              <a:buChar char="•"/>
            </a:pPr>
            <a:r>
              <a:rPr lang="en-US" dirty="0">
                <a:solidFill>
                  <a:schemeClr val="accent6"/>
                </a:solidFill>
                <a:latin typeface="Calibri" panose="020F0502020204030204" pitchFamily="34" charset="0"/>
              </a:rPr>
              <a:t>Monitor &amp; Control (12)</a:t>
            </a:r>
          </a:p>
          <a:p>
            <a:pPr marL="457200" lvl="2" indent="-285750" fontAlgn="ctr">
              <a:buFont typeface="Arial" panose="020B0604020202020204" pitchFamily="34" charset="0"/>
              <a:buChar char="•"/>
            </a:pPr>
            <a:r>
              <a:rPr lang="en-US" dirty="0">
                <a:solidFill>
                  <a:schemeClr val="accent6"/>
                </a:solidFill>
                <a:latin typeface="Calibri" panose="020F0502020204030204" pitchFamily="34" charset="0"/>
              </a:rPr>
              <a:t>Closing (1)</a:t>
            </a:r>
          </a:p>
        </p:txBody>
      </p:sp>
    </p:spTree>
    <p:extLst>
      <p:ext uri="{BB962C8B-B14F-4D97-AF65-F5344CB8AC3E}">
        <p14:creationId xmlns:p14="http://schemas.microsoft.com/office/powerpoint/2010/main" val="56711803"/>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381240" y="181829"/>
            <a:ext cx="10851382" cy="768096"/>
          </a:xfrm>
        </p:spPr>
        <p:txBody>
          <a:bodyPr/>
          <a:lstStyle/>
          <a:p>
            <a:r>
              <a:rPr lang="en-US" sz="1200" b="1" dirty="0">
                <a:solidFill>
                  <a:schemeClr val="accent6"/>
                </a:solidFill>
                <a:latin typeface="Arial Black" panose="020B0604020202020204" pitchFamily="34" charset="0"/>
                <a:cs typeface="Arial Black" panose="020B0604020202020204" pitchFamily="34" charset="0"/>
              </a:rPr>
              <a:t>Process groups and knowledge </a:t>
            </a:r>
            <a:r>
              <a:rPr lang="en-US" sz="1200" dirty="0">
                <a:latin typeface="Arial Black" panose="020B0604020202020204" pitchFamily="34" charset="0"/>
                <a:cs typeface="Arial Black" panose="020B0604020202020204" pitchFamily="34" charset="0"/>
              </a:rPr>
              <a:t>areas</a:t>
            </a:r>
            <a:endParaRPr lang="en-US" sz="1200" b="1" dirty="0">
              <a:solidFill>
                <a:schemeClr val="accent6"/>
              </a:solidFill>
              <a:latin typeface="Arial Black" panose="020B0604020202020204" pitchFamily="34" charset="0"/>
              <a:cs typeface="Arial Black" panose="020B0604020202020204" pitchFamily="34" charset="0"/>
            </a:endParaRPr>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27</a:t>
            </a:fld>
            <a:endParaRPr lang="en-US" dirty="0"/>
          </a:p>
        </p:txBody>
      </p:sp>
      <p:sp>
        <p:nvSpPr>
          <p:cNvPr id="3" name="Rectangle 1">
            <a:extLst>
              <a:ext uri="{FF2B5EF4-FFF2-40B4-BE49-F238E27FC236}">
                <a16:creationId xmlns:a16="http://schemas.microsoft.com/office/drawing/2014/main" id="{4DCE6DE3-BFF1-CA3F-B0FB-532792A20316}"/>
              </a:ext>
            </a:extLst>
          </p:cNvPr>
          <p:cNvSpPr>
            <a:spLocks noChangeArrowheads="1"/>
          </p:cNvSpPr>
          <p:nvPr/>
        </p:nvSpPr>
        <p:spPr bwMode="auto">
          <a:xfrm>
            <a:off x="414002" y="565877"/>
            <a:ext cx="23596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1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8" name="Rectangle 1">
            <a:extLst>
              <a:ext uri="{FF2B5EF4-FFF2-40B4-BE49-F238E27FC236}">
                <a16:creationId xmlns:a16="http://schemas.microsoft.com/office/drawing/2014/main" id="{AD3205AC-B5D7-47D3-3D2C-09A0B5819C8C}"/>
              </a:ext>
            </a:extLst>
          </p:cNvPr>
          <p:cNvSpPr>
            <a:spLocks noChangeArrowheads="1"/>
          </p:cNvSpPr>
          <p:nvPr/>
        </p:nvSpPr>
        <p:spPr bwMode="auto">
          <a:xfrm>
            <a:off x="3411538" y="-19732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6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PROCESS GROUPS &amp; KNOWLEDGE AREAS TABLE </a:t>
            </a:r>
            <a:r>
              <a:rPr kumimoji="0" lang="en-US" altLang="en-US" sz="2600" b="0" i="0" u="none" strike="noStrike" cap="none" normalizeH="0" baseline="30000">
                <a:ln>
                  <a:noFill/>
                </a:ln>
                <a:solidFill>
                  <a:srgbClr val="000000"/>
                </a:solidFill>
                <a:effectLst/>
                <a:latin typeface="Times New Roman" panose="02020603050405020304" pitchFamily="18" charset="0"/>
                <a:cs typeface="Times New Roman" panose="02020603050405020304" pitchFamily="18" charset="0"/>
              </a:rPr>
              <a:t>Page 25, PMBOK</a:t>
            </a:r>
            <a:endPar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4" name="Picture 13">
            <a:extLst>
              <a:ext uri="{FF2B5EF4-FFF2-40B4-BE49-F238E27FC236}">
                <a16:creationId xmlns:a16="http://schemas.microsoft.com/office/drawing/2014/main" id="{C604D8AE-815B-F5C6-777B-9566C1CD8AF7}"/>
              </a:ext>
            </a:extLst>
          </p:cNvPr>
          <p:cNvPicPr>
            <a:picLocks noChangeAspect="1"/>
          </p:cNvPicPr>
          <p:nvPr/>
        </p:nvPicPr>
        <p:blipFill>
          <a:blip r:embed="rId3"/>
          <a:stretch>
            <a:fillRect/>
          </a:stretch>
        </p:blipFill>
        <p:spPr>
          <a:xfrm>
            <a:off x="1673798" y="457200"/>
            <a:ext cx="9271569" cy="5762276"/>
          </a:xfrm>
          <a:prstGeom prst="rect">
            <a:avLst/>
          </a:prstGeom>
        </p:spPr>
      </p:pic>
    </p:spTree>
    <p:extLst>
      <p:ext uri="{BB962C8B-B14F-4D97-AF65-F5344CB8AC3E}">
        <p14:creationId xmlns:p14="http://schemas.microsoft.com/office/powerpoint/2010/main" val="3368562094"/>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65E9-D88A-55D3-9D42-BD1C24B6DE9F}"/>
              </a:ext>
            </a:extLst>
          </p:cNvPr>
          <p:cNvSpPr>
            <a:spLocks noGrp="1"/>
          </p:cNvSpPr>
          <p:nvPr>
            <p:ph type="title"/>
          </p:nvPr>
        </p:nvSpPr>
        <p:spPr>
          <a:xfrm>
            <a:off x="704675" y="1717394"/>
            <a:ext cx="11242645" cy="768096"/>
          </a:xfrm>
        </p:spPr>
        <p:txBody>
          <a:bodyPr/>
          <a:lstStyle/>
          <a:p>
            <a:pPr algn="ctr"/>
            <a:r>
              <a:rPr lang="en-US" dirty="0">
                <a:latin typeface="Arial Black" panose="020B0604020202020204" pitchFamily="34" charset="0"/>
                <a:ea typeface="Arial Regular" pitchFamily="34" charset="-122"/>
                <a:cs typeface="Arial Black" panose="020B0604020202020204" pitchFamily="34" charset="0"/>
              </a:rPr>
              <a:t>Concepts covered next month</a:t>
            </a:r>
            <a:endParaRPr lang="en-US" sz="4400" b="1" dirty="0">
              <a:solidFill>
                <a:schemeClr val="accent6"/>
              </a:solidFill>
              <a:latin typeface="Arial Black" panose="020B0604020202020204" pitchFamily="34" charset="0"/>
              <a:cs typeface="Arial Black" panose="020B0604020202020204" pitchFamily="34" charset="0"/>
            </a:endParaRPr>
          </a:p>
        </p:txBody>
      </p:sp>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1862356" y="2745465"/>
            <a:ext cx="8003097" cy="1952370"/>
          </a:xfrm>
        </p:spPr>
        <p:txBody>
          <a:bodyPr/>
          <a:lstStyle/>
          <a:p>
            <a:pPr algn="ctr"/>
            <a:r>
              <a:rPr lang="en-US" dirty="0"/>
              <a:t>Project Management Principles</a:t>
            </a:r>
          </a:p>
          <a:p>
            <a:pPr algn="ctr"/>
            <a:r>
              <a:rPr lang="en-US" dirty="0"/>
              <a:t>Project Management Performance Domains</a:t>
            </a:r>
          </a:p>
        </p:txBody>
      </p:sp>
    </p:spTree>
    <p:extLst>
      <p:ext uri="{BB962C8B-B14F-4D97-AF65-F5344CB8AC3E}">
        <p14:creationId xmlns:p14="http://schemas.microsoft.com/office/powerpoint/2010/main" val="18038803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B787DFD8-D262-D485-B1F2-817C5A0928C5}"/>
              </a:ext>
            </a:extLst>
          </p:cNvPr>
          <p:cNvSpPr>
            <a:spLocks noGrp="1"/>
          </p:cNvSpPr>
          <p:nvPr>
            <p:ph type="subTitle" idx="1"/>
          </p:nvPr>
        </p:nvSpPr>
        <p:spPr/>
        <p:txBody>
          <a:bodyPr/>
          <a:lstStyle/>
          <a:p>
            <a:r>
              <a:rPr lang="en-US" dirty="0"/>
              <a:t>Please leave feedback on what worked well and what I can improve in in the Discord </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1003962426"/>
      </p:ext>
    </p:extLst>
  </p:cSld>
  <p:clrMapOvr>
    <a:masterClrMapping/>
  </p:clrMapOvr>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Color-Block_Win32_jx_v9.potx" id="{B1D493D9-AF74-4AD6-8F0C-5B1308D7041B}" vid="{1AA99070-5A1F-42D2-9F5B-E7354C9646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2.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3.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4.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5.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6.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7.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8.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9.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0.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1.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2.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3.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4.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5.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6.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7.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ppt/theme/themeOverride18.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128</TotalTime>
  <Words>2863</Words>
  <Application>Microsoft Office PowerPoint</Application>
  <PresentationFormat>Widescreen</PresentationFormat>
  <Paragraphs>325</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Arial Black</vt:lpstr>
      <vt:lpstr>Calibri</vt:lpstr>
      <vt:lpstr>Courier New</vt:lpstr>
      <vt:lpstr>Sabon Next LT</vt:lpstr>
      <vt:lpstr>Times New Roman</vt:lpstr>
      <vt:lpstr>Office Theme</vt:lpstr>
      <vt:lpstr>Pmp study group</vt:lpstr>
      <vt:lpstr>Study Group Session Plan Wednesdays @ 6:30 PM- Hosted on discord</vt:lpstr>
      <vt:lpstr>Study Group White Board</vt:lpstr>
      <vt:lpstr>Concepts</vt:lpstr>
      <vt:lpstr>Project Management Terms</vt:lpstr>
      <vt:lpstr>Project</vt:lpstr>
      <vt:lpstr>What is a project producing?</vt:lpstr>
      <vt:lpstr>Project Management</vt:lpstr>
      <vt:lpstr>Value of projects</vt:lpstr>
      <vt:lpstr>Operations management</vt:lpstr>
      <vt:lpstr>Portfolio management</vt:lpstr>
      <vt:lpstr>Phases &amp; Deliverables</vt:lpstr>
      <vt:lpstr>Phases &amp; Deliverables</vt:lpstr>
      <vt:lpstr>Program Management</vt:lpstr>
      <vt:lpstr>Project Life Cycle</vt:lpstr>
      <vt:lpstr>Project Life Cycle</vt:lpstr>
      <vt:lpstr>Project Governance</vt:lpstr>
      <vt:lpstr>stakeholders</vt:lpstr>
      <vt:lpstr>Project roles</vt:lpstr>
      <vt:lpstr>Project management office (pmo)</vt:lpstr>
      <vt:lpstr>Project Bosses</vt:lpstr>
      <vt:lpstr>Organizational structures</vt:lpstr>
      <vt:lpstr>Organizational structures</vt:lpstr>
      <vt:lpstr>Project Constraints</vt:lpstr>
      <vt:lpstr>process</vt:lpstr>
      <vt:lpstr>Process groups and knowledge areas</vt:lpstr>
      <vt:lpstr>Process groups and knowledge areas</vt:lpstr>
      <vt:lpstr>Concepts covered next month</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Pmp study group</dc:title>
  <dc:subject/>
  <dc:creator>Nikki Masani</dc:creator>
  <cp:lastModifiedBy>Nikki Masani</cp:lastModifiedBy>
  <cp:revision>1</cp:revision>
  <dcterms:created xsi:type="dcterms:W3CDTF">2023-03-01T19:28:23Z</dcterms:created>
  <dcterms:modified xsi:type="dcterms:W3CDTF">2023-03-01T21:37:05Z</dcterms:modified>
</cp:coreProperties>
</file>
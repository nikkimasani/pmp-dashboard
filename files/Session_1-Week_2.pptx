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2.xml" ContentType="application/vnd.openxmlformats-officedocument.themeOverride+xml"/>
  <Override PartName="/ppt/notesSlides/notesSlide18.xml" ContentType="application/vnd.openxmlformats-officedocument.presentationml.notesSlide+xml"/>
  <Override PartName="/ppt/theme/themeOverride3.xml" ContentType="application/vnd.openxmlformats-officedocument.themeOverride+xml"/>
  <Override PartName="/ppt/notesSlides/notesSlide19.xml" ContentType="application/vnd.openxmlformats-officedocument.presentationml.notesSlide+xml"/>
  <Override PartName="/ppt/theme/themeOverride4.xml" ContentType="application/vnd.openxmlformats-officedocument.themeOverride+xml"/>
  <Override PartName="/ppt/notesSlides/notesSlide20.xml" ContentType="application/vnd.openxmlformats-officedocument.presentationml.notesSlide+xml"/>
  <Override PartName="/ppt/theme/themeOverride5.xml" ContentType="application/vnd.openxmlformats-officedocument.themeOverride+xml"/>
  <Override PartName="/ppt/notesSlides/notesSlide21.xml" ContentType="application/vnd.openxmlformats-officedocument.presentationml.notesSlide+xml"/>
  <Override PartName="/ppt/theme/themeOverride6.xml" ContentType="application/vnd.openxmlformats-officedocument.themeOverride+xml"/>
  <Override PartName="/ppt/notesSlides/notesSlide22.xml" ContentType="application/vnd.openxmlformats-officedocument.presentationml.notesSlide+xml"/>
  <Override PartName="/ppt/theme/themeOverride7.xml" ContentType="application/vnd.openxmlformats-officedocument.themeOverride+xml"/>
  <Override PartName="/ppt/notesSlides/notesSlide23.xml" ContentType="application/vnd.openxmlformats-officedocument.presentationml.notesSlide+xml"/>
  <Override PartName="/ppt/theme/themeOverride8.xml" ContentType="application/vnd.openxmlformats-officedocument.themeOverride+xml"/>
  <Override PartName="/ppt/notesSlides/notesSlide24.xml" ContentType="application/vnd.openxmlformats-officedocument.presentationml.notesSlide+xml"/>
  <Override PartName="/ppt/theme/themeOverride9.xml" ContentType="application/vnd.openxmlformats-officedocument.themeOverride+xml"/>
  <Override PartName="/ppt/notesSlides/notesSlide25.xml" ContentType="application/vnd.openxmlformats-officedocument.presentationml.notesSlide+xml"/>
  <Override PartName="/ppt/theme/themeOverride10.xml" ContentType="application/vnd.openxmlformats-officedocument.themeOverride+xml"/>
  <Override PartName="/ppt/notesSlides/notesSlide26.xml" ContentType="application/vnd.openxmlformats-officedocument.presentationml.notesSlide+xml"/>
  <Override PartName="/ppt/theme/themeOverride11.xml" ContentType="application/vnd.openxmlformats-officedocument.themeOverride+xml"/>
  <Override PartName="/ppt/notesSlides/notesSlide27.xml" ContentType="application/vnd.openxmlformats-officedocument.presentationml.notesSlide+xml"/>
  <Override PartName="/ppt/theme/themeOverride12.xml" ContentType="application/vnd.openxmlformats-officedocument.themeOverride+xml"/>
  <Override PartName="/ppt/notesSlides/notesSlide28.xml" ContentType="application/vnd.openxmlformats-officedocument.presentationml.notesSlide+xml"/>
  <Override PartName="/ppt/theme/themeOverride13.xml" ContentType="application/vnd.openxmlformats-officedocument.themeOverride+xml"/>
  <Override PartName="/ppt/notesSlides/notesSlide29.xml" ContentType="application/vnd.openxmlformats-officedocument.presentationml.notesSlide+xml"/>
  <Override PartName="/ppt/theme/themeOverride14.xml" ContentType="application/vnd.openxmlformats-officedocument.themeOverride+xml"/>
  <Override PartName="/ppt/notesSlides/notesSlide30.xml" ContentType="application/vnd.openxmlformats-officedocument.presentationml.notesSlide+xml"/>
  <Override PartName="/ppt/theme/themeOverride15.xml" ContentType="application/vnd.openxmlformats-officedocument.themeOverride+xml"/>
  <Override PartName="/ppt/notesSlides/notesSlide31.xml" ContentType="application/vnd.openxmlformats-officedocument.presentationml.notesSlide+xml"/>
  <Override PartName="/ppt/theme/themeOverride16.xml" ContentType="application/vnd.openxmlformats-officedocument.themeOverride+xml"/>
  <Override PartName="/ppt/notesSlides/notesSlide32.xml" ContentType="application/vnd.openxmlformats-officedocument.presentationml.notesSlide+xml"/>
  <Override PartName="/ppt/theme/themeOverride17.xml" ContentType="application/vnd.openxmlformats-officedocument.themeOverride+xml"/>
  <Override PartName="/ppt/notesSlides/notesSlide33.xml" ContentType="application/vnd.openxmlformats-officedocument.presentationml.notesSlide+xml"/>
  <Override PartName="/ppt/theme/themeOverride18.xml" ContentType="application/vnd.openxmlformats-officedocument.themeOverride+xml"/>
  <Override PartName="/ppt/notesSlides/notesSlide34.xml" ContentType="application/vnd.openxmlformats-officedocument.presentationml.notesSlide+xml"/>
  <Override PartName="/ppt/theme/themeOverride19.xml" ContentType="application/vnd.openxmlformats-officedocument.themeOverride+xml"/>
  <Override PartName="/ppt/notesSlides/notesSlide35.xml" ContentType="application/vnd.openxmlformats-officedocument.presentationml.notesSlide+xml"/>
  <Override PartName="/ppt/theme/themeOverride20.xml" ContentType="application/vnd.openxmlformats-officedocument.themeOverride+xml"/>
  <Override PartName="/ppt/notesSlides/notesSlide36.xml" ContentType="application/vnd.openxmlformats-officedocument.presentationml.notesSlide+xml"/>
  <Override PartName="/ppt/theme/themeOverride21.xml" ContentType="application/vnd.openxmlformats-officedocument.themeOverride+xml"/>
  <Override PartName="/ppt/notesSlides/notesSlide37.xml" ContentType="application/vnd.openxmlformats-officedocument.presentationml.notesSlide+xml"/>
  <Override PartName="/ppt/theme/themeOverride22.xml" ContentType="application/vnd.openxmlformats-officedocument.themeOverride+xml"/>
  <Override PartName="/ppt/notesSlides/notesSlide38.xml" ContentType="application/vnd.openxmlformats-officedocument.presentationml.notesSlide+xml"/>
  <Override PartName="/ppt/theme/themeOverride23.xml" ContentType="application/vnd.openxmlformats-officedocument.themeOverride+xml"/>
  <Override PartName="/ppt/notesSlides/notesSlide39.xml" ContentType="application/vnd.openxmlformats-officedocument.presentationml.notesSlide+xml"/>
  <Override PartName="/ppt/theme/themeOverride24.xml" ContentType="application/vnd.openxmlformats-officedocument.themeOverride+xml"/>
  <Override PartName="/ppt/notesSlides/notesSlide40.xml" ContentType="application/vnd.openxmlformats-officedocument.presentationml.notesSlide+xml"/>
  <Override PartName="/ppt/theme/themeOverride25.xml" ContentType="application/vnd.openxmlformats-officedocument.themeOverride+xml"/>
  <Override PartName="/ppt/notesSlides/notesSlide41.xml" ContentType="application/vnd.openxmlformats-officedocument.presentationml.notesSlide+xml"/>
  <Override PartName="/ppt/theme/themeOverride26.xml" ContentType="application/vnd.openxmlformats-officedocument.themeOverride+xml"/>
  <Override PartName="/ppt/notesSlides/notesSlide42.xml" ContentType="application/vnd.openxmlformats-officedocument.presentationml.notesSlide+xml"/>
  <Override PartName="/ppt/theme/themeOverride27.xml" ContentType="application/vnd.openxmlformats-officedocument.themeOverr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56"/>
  </p:notesMasterIdLst>
  <p:sldIdLst>
    <p:sldId id="278" r:id="rId2"/>
    <p:sldId id="288" r:id="rId3"/>
    <p:sldId id="292" r:id="rId4"/>
    <p:sldId id="279" r:id="rId5"/>
    <p:sldId id="281" r:id="rId6"/>
    <p:sldId id="283" r:id="rId7"/>
    <p:sldId id="294" r:id="rId8"/>
    <p:sldId id="295" r:id="rId9"/>
    <p:sldId id="296" r:id="rId10"/>
    <p:sldId id="316" r:id="rId11"/>
    <p:sldId id="317" r:id="rId12"/>
    <p:sldId id="318" r:id="rId13"/>
    <p:sldId id="319" r:id="rId14"/>
    <p:sldId id="320" r:id="rId15"/>
    <p:sldId id="321" r:id="rId16"/>
    <p:sldId id="322" r:id="rId17"/>
    <p:sldId id="323" r:id="rId18"/>
    <p:sldId id="324" r:id="rId19"/>
    <p:sldId id="326" r:id="rId20"/>
    <p:sldId id="328" r:id="rId21"/>
    <p:sldId id="329" r:id="rId22"/>
    <p:sldId id="330" r:id="rId23"/>
    <p:sldId id="333" r:id="rId24"/>
    <p:sldId id="334" r:id="rId25"/>
    <p:sldId id="297" r:id="rId26"/>
    <p:sldId id="335" r:id="rId27"/>
    <p:sldId id="338" r:id="rId28"/>
    <p:sldId id="363" r:id="rId29"/>
    <p:sldId id="340" r:id="rId30"/>
    <p:sldId id="339" r:id="rId31"/>
    <p:sldId id="342" r:id="rId32"/>
    <p:sldId id="343" r:id="rId33"/>
    <p:sldId id="344" r:id="rId34"/>
    <p:sldId id="345" r:id="rId35"/>
    <p:sldId id="341" r:id="rId36"/>
    <p:sldId id="346" r:id="rId37"/>
    <p:sldId id="347" r:id="rId38"/>
    <p:sldId id="364"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2" r:id="rId53"/>
    <p:sldId id="313" r:id="rId54"/>
    <p:sldId id="293" r:id="rId5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A54B5-8EA5-4B18-B46C-FFB4D9D61AB2}" v="1489" dt="2023-03-08T16:48:13.801"/>
    <p1510:client id="{4EDBB286-D1F7-47C0-ABC3-11ED6A218307}" v="8" dt="2023-03-07T22:14:50.634"/>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378" autoAdjust="0"/>
  </p:normalViewPr>
  <p:slideViewPr>
    <p:cSldViewPr snapToGrid="0" snapToObjects="1">
      <p:cViewPr varScale="1">
        <p:scale>
          <a:sx n="89" d="100"/>
          <a:sy n="89" d="100"/>
        </p:scale>
        <p:origin x="1374" y="90"/>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ki Masani" userId="9c05372d-bea7-440a-a115-fab93e2b10d7" providerId="ADAL" clId="{34DA54B5-8EA5-4B18-B46C-FFB4D9D61AB2}"/>
    <pc:docChg chg="custSel addSld modSld">
      <pc:chgData name="Nikki Masani" userId="9c05372d-bea7-440a-a115-fab93e2b10d7" providerId="ADAL" clId="{34DA54B5-8EA5-4B18-B46C-FFB4D9D61AB2}" dt="2023-03-09T03:00:07.016" v="2522" actId="20577"/>
      <pc:docMkLst>
        <pc:docMk/>
      </pc:docMkLst>
      <pc:sldChg chg="modSp mod">
        <pc:chgData name="Nikki Masani" userId="9c05372d-bea7-440a-a115-fab93e2b10d7" providerId="ADAL" clId="{34DA54B5-8EA5-4B18-B46C-FFB4D9D61AB2}" dt="2023-03-09T02:48:47.087" v="2406" actId="1076"/>
        <pc:sldMkLst>
          <pc:docMk/>
          <pc:sldMk cId="1600494506" sldId="288"/>
        </pc:sldMkLst>
        <pc:spChg chg="mod">
          <ac:chgData name="Nikki Masani" userId="9c05372d-bea7-440a-a115-fab93e2b10d7" providerId="ADAL" clId="{34DA54B5-8EA5-4B18-B46C-FFB4D9D61AB2}" dt="2023-03-09T02:48:17.777" v="2368" actId="20577"/>
          <ac:spMkLst>
            <pc:docMk/>
            <pc:sldMk cId="1600494506" sldId="288"/>
            <ac:spMk id="21" creationId="{A28A203B-0CF0-2AB0-5F54-07C8E3003918}"/>
          </ac:spMkLst>
        </pc:spChg>
        <pc:spChg chg="mod">
          <ac:chgData name="Nikki Masani" userId="9c05372d-bea7-440a-a115-fab93e2b10d7" providerId="ADAL" clId="{34DA54B5-8EA5-4B18-B46C-FFB4D9D61AB2}" dt="2023-03-09T02:48:47.087" v="2406" actId="1076"/>
          <ac:spMkLst>
            <pc:docMk/>
            <pc:sldMk cId="1600494506" sldId="288"/>
            <ac:spMk id="26" creationId="{710CB940-D45B-59F1-06E5-9CC94100EF05}"/>
          </ac:spMkLst>
        </pc:spChg>
      </pc:sldChg>
      <pc:sldChg chg="modSp mod">
        <pc:chgData name="Nikki Masani" userId="9c05372d-bea7-440a-a115-fab93e2b10d7" providerId="ADAL" clId="{34DA54B5-8EA5-4B18-B46C-FFB4D9D61AB2}" dt="2023-03-09T02:49:15.828" v="2410" actId="113"/>
        <pc:sldMkLst>
          <pc:docMk/>
          <pc:sldMk cId="1627485080" sldId="294"/>
        </pc:sldMkLst>
        <pc:spChg chg="mod">
          <ac:chgData name="Nikki Masani" userId="9c05372d-bea7-440a-a115-fab93e2b10d7" providerId="ADAL" clId="{34DA54B5-8EA5-4B18-B46C-FFB4D9D61AB2}" dt="2023-03-09T02:49:15.828" v="2410" actId="113"/>
          <ac:spMkLst>
            <pc:docMk/>
            <pc:sldMk cId="1627485080" sldId="294"/>
            <ac:spMk id="4" creationId="{13F94D68-F45A-608B-F107-5A526A95883C}"/>
          </ac:spMkLst>
        </pc:spChg>
      </pc:sldChg>
      <pc:sldChg chg="modSp mod">
        <pc:chgData name="Nikki Masani" userId="9c05372d-bea7-440a-a115-fab93e2b10d7" providerId="ADAL" clId="{34DA54B5-8EA5-4B18-B46C-FFB4D9D61AB2}" dt="2023-03-09T02:49:35.048" v="2414" actId="113"/>
        <pc:sldMkLst>
          <pc:docMk/>
          <pc:sldMk cId="4132932164" sldId="296"/>
        </pc:sldMkLst>
        <pc:spChg chg="mod">
          <ac:chgData name="Nikki Masani" userId="9c05372d-bea7-440a-a115-fab93e2b10d7" providerId="ADAL" clId="{34DA54B5-8EA5-4B18-B46C-FFB4D9D61AB2}" dt="2023-03-09T02:49:35.048" v="2414" actId="113"/>
          <ac:spMkLst>
            <pc:docMk/>
            <pc:sldMk cId="4132932164" sldId="296"/>
            <ac:spMk id="4" creationId="{13F94D68-F45A-608B-F107-5A526A95883C}"/>
          </ac:spMkLst>
        </pc:spChg>
      </pc:sldChg>
      <pc:sldChg chg="modSp mod">
        <pc:chgData name="Nikki Masani" userId="9c05372d-bea7-440a-a115-fab93e2b10d7" providerId="ADAL" clId="{34DA54B5-8EA5-4B18-B46C-FFB4D9D61AB2}" dt="2023-03-08T23:40:34.552" v="1617" actId="20577"/>
        <pc:sldMkLst>
          <pc:docMk/>
          <pc:sldMk cId="1803880381" sldId="313"/>
        </pc:sldMkLst>
        <pc:spChg chg="mod">
          <ac:chgData name="Nikki Masani" userId="9c05372d-bea7-440a-a115-fab93e2b10d7" providerId="ADAL" clId="{34DA54B5-8EA5-4B18-B46C-FFB4D9D61AB2}" dt="2023-03-08T23:40:34.552" v="1617" actId="20577"/>
          <ac:spMkLst>
            <pc:docMk/>
            <pc:sldMk cId="1803880381" sldId="313"/>
            <ac:spMk id="3" creationId="{4D1F66E5-D2D7-172B-46BA-FEBFE092CC7F}"/>
          </ac:spMkLst>
        </pc:spChg>
      </pc:sldChg>
      <pc:sldChg chg="modSp mod">
        <pc:chgData name="Nikki Masani" userId="9c05372d-bea7-440a-a115-fab93e2b10d7" providerId="ADAL" clId="{34DA54B5-8EA5-4B18-B46C-FFB4D9D61AB2}" dt="2023-03-09T02:51:21.457" v="2421" actId="113"/>
        <pc:sldMkLst>
          <pc:docMk/>
          <pc:sldMk cId="3417018229" sldId="317"/>
        </pc:sldMkLst>
        <pc:spChg chg="mod">
          <ac:chgData name="Nikki Masani" userId="9c05372d-bea7-440a-a115-fab93e2b10d7" providerId="ADAL" clId="{34DA54B5-8EA5-4B18-B46C-FFB4D9D61AB2}" dt="2023-03-09T02:51:21.457" v="2421" actId="113"/>
          <ac:spMkLst>
            <pc:docMk/>
            <pc:sldMk cId="3417018229" sldId="317"/>
            <ac:spMk id="4" creationId="{13F94D68-F45A-608B-F107-5A526A95883C}"/>
          </ac:spMkLst>
        </pc:spChg>
      </pc:sldChg>
      <pc:sldChg chg="modSp mod">
        <pc:chgData name="Nikki Masani" userId="9c05372d-bea7-440a-a115-fab93e2b10d7" providerId="ADAL" clId="{34DA54B5-8EA5-4B18-B46C-FFB4D9D61AB2}" dt="2023-03-09T02:53:21.844" v="2444" actId="15"/>
        <pc:sldMkLst>
          <pc:docMk/>
          <pc:sldMk cId="772434308" sldId="320"/>
        </pc:sldMkLst>
        <pc:spChg chg="mod">
          <ac:chgData name="Nikki Masani" userId="9c05372d-bea7-440a-a115-fab93e2b10d7" providerId="ADAL" clId="{34DA54B5-8EA5-4B18-B46C-FFB4D9D61AB2}" dt="2023-03-09T02:52:50.083" v="2439" actId="1076"/>
          <ac:spMkLst>
            <pc:docMk/>
            <pc:sldMk cId="772434308" sldId="320"/>
            <ac:spMk id="2" creationId="{69125542-D540-B766-0FA1-10DE2ED0495C}"/>
          </ac:spMkLst>
        </pc:spChg>
        <pc:spChg chg="mod">
          <ac:chgData name="Nikki Masani" userId="9c05372d-bea7-440a-a115-fab93e2b10d7" providerId="ADAL" clId="{34DA54B5-8EA5-4B18-B46C-FFB4D9D61AB2}" dt="2023-03-09T02:53:21.844" v="2444" actId="15"/>
          <ac:spMkLst>
            <pc:docMk/>
            <pc:sldMk cId="772434308" sldId="320"/>
            <ac:spMk id="4" creationId="{13F94D68-F45A-608B-F107-5A526A95883C}"/>
          </ac:spMkLst>
        </pc:spChg>
      </pc:sldChg>
      <pc:sldChg chg="modSp mod">
        <pc:chgData name="Nikki Masani" userId="9c05372d-bea7-440a-a115-fab93e2b10d7" providerId="ADAL" clId="{34DA54B5-8EA5-4B18-B46C-FFB4D9D61AB2}" dt="2023-03-09T02:54:29.205" v="2468" actId="1076"/>
        <pc:sldMkLst>
          <pc:docMk/>
          <pc:sldMk cId="2686925011" sldId="321"/>
        </pc:sldMkLst>
        <pc:spChg chg="mod">
          <ac:chgData name="Nikki Masani" userId="9c05372d-bea7-440a-a115-fab93e2b10d7" providerId="ADAL" clId="{34DA54B5-8EA5-4B18-B46C-FFB4D9D61AB2}" dt="2023-03-09T02:54:29.205" v="2468" actId="1076"/>
          <ac:spMkLst>
            <pc:docMk/>
            <pc:sldMk cId="2686925011" sldId="321"/>
            <ac:spMk id="4" creationId="{13F94D68-F45A-608B-F107-5A526A95883C}"/>
          </ac:spMkLst>
        </pc:spChg>
      </pc:sldChg>
      <pc:sldChg chg="modSp mod">
        <pc:chgData name="Nikki Masani" userId="9c05372d-bea7-440a-a115-fab93e2b10d7" providerId="ADAL" clId="{34DA54B5-8EA5-4B18-B46C-FFB4D9D61AB2}" dt="2023-03-09T02:55:45.797" v="2483" actId="12"/>
        <pc:sldMkLst>
          <pc:docMk/>
          <pc:sldMk cId="1533458118" sldId="322"/>
        </pc:sldMkLst>
        <pc:spChg chg="mod">
          <ac:chgData name="Nikki Masani" userId="9c05372d-bea7-440a-a115-fab93e2b10d7" providerId="ADAL" clId="{34DA54B5-8EA5-4B18-B46C-FFB4D9D61AB2}" dt="2023-03-09T02:55:45.797" v="2483" actId="12"/>
          <ac:spMkLst>
            <pc:docMk/>
            <pc:sldMk cId="1533458118" sldId="322"/>
            <ac:spMk id="4" creationId="{13F94D68-F45A-608B-F107-5A526A95883C}"/>
          </ac:spMkLst>
        </pc:spChg>
      </pc:sldChg>
      <pc:sldChg chg="modSp mod">
        <pc:chgData name="Nikki Masani" userId="9c05372d-bea7-440a-a115-fab93e2b10d7" providerId="ADAL" clId="{34DA54B5-8EA5-4B18-B46C-FFB4D9D61AB2}" dt="2023-03-09T02:56:20.841" v="2484" actId="20577"/>
        <pc:sldMkLst>
          <pc:docMk/>
          <pc:sldMk cId="1275486649" sldId="324"/>
        </pc:sldMkLst>
        <pc:spChg chg="mod">
          <ac:chgData name="Nikki Masani" userId="9c05372d-bea7-440a-a115-fab93e2b10d7" providerId="ADAL" clId="{34DA54B5-8EA5-4B18-B46C-FFB4D9D61AB2}" dt="2023-03-09T02:56:20.841" v="2484" actId="20577"/>
          <ac:spMkLst>
            <pc:docMk/>
            <pc:sldMk cId="1275486649" sldId="324"/>
            <ac:spMk id="4" creationId="{13F94D68-F45A-608B-F107-5A526A95883C}"/>
          </ac:spMkLst>
        </pc:spChg>
      </pc:sldChg>
      <pc:sldChg chg="modSp mod">
        <pc:chgData name="Nikki Masani" userId="9c05372d-bea7-440a-a115-fab93e2b10d7" providerId="ADAL" clId="{34DA54B5-8EA5-4B18-B46C-FFB4D9D61AB2}" dt="2023-03-09T02:56:43.761" v="2492" actId="5793"/>
        <pc:sldMkLst>
          <pc:docMk/>
          <pc:sldMk cId="381033007" sldId="326"/>
        </pc:sldMkLst>
        <pc:spChg chg="mod">
          <ac:chgData name="Nikki Masani" userId="9c05372d-bea7-440a-a115-fab93e2b10d7" providerId="ADAL" clId="{34DA54B5-8EA5-4B18-B46C-FFB4D9D61AB2}" dt="2023-03-09T02:56:43.761" v="2492" actId="5793"/>
          <ac:spMkLst>
            <pc:docMk/>
            <pc:sldMk cId="381033007" sldId="326"/>
            <ac:spMk id="4" creationId="{13F94D68-F45A-608B-F107-5A526A95883C}"/>
          </ac:spMkLst>
        </pc:spChg>
      </pc:sldChg>
      <pc:sldChg chg="modSp mod">
        <pc:chgData name="Nikki Masani" userId="9c05372d-bea7-440a-a115-fab93e2b10d7" providerId="ADAL" clId="{34DA54B5-8EA5-4B18-B46C-FFB4D9D61AB2}" dt="2023-03-09T02:57:28.139" v="2501" actId="15"/>
        <pc:sldMkLst>
          <pc:docMk/>
          <pc:sldMk cId="2681851176" sldId="329"/>
        </pc:sldMkLst>
        <pc:spChg chg="mod">
          <ac:chgData name="Nikki Masani" userId="9c05372d-bea7-440a-a115-fab93e2b10d7" providerId="ADAL" clId="{34DA54B5-8EA5-4B18-B46C-FFB4D9D61AB2}" dt="2023-03-09T02:57:28.139" v="2501" actId="15"/>
          <ac:spMkLst>
            <pc:docMk/>
            <pc:sldMk cId="2681851176" sldId="329"/>
            <ac:spMk id="4" creationId="{13F94D68-F45A-608B-F107-5A526A95883C}"/>
          </ac:spMkLst>
        </pc:spChg>
      </pc:sldChg>
      <pc:sldChg chg="modSp mod">
        <pc:chgData name="Nikki Masani" userId="9c05372d-bea7-440a-a115-fab93e2b10d7" providerId="ADAL" clId="{34DA54B5-8EA5-4B18-B46C-FFB4D9D61AB2}" dt="2023-03-09T02:57:54.564" v="2521" actId="20577"/>
        <pc:sldMkLst>
          <pc:docMk/>
          <pc:sldMk cId="3410853354" sldId="330"/>
        </pc:sldMkLst>
        <pc:spChg chg="mod">
          <ac:chgData name="Nikki Masani" userId="9c05372d-bea7-440a-a115-fab93e2b10d7" providerId="ADAL" clId="{34DA54B5-8EA5-4B18-B46C-FFB4D9D61AB2}" dt="2023-03-09T02:57:54.564" v="2521" actId="20577"/>
          <ac:spMkLst>
            <pc:docMk/>
            <pc:sldMk cId="3410853354" sldId="330"/>
            <ac:spMk id="4" creationId="{13F94D68-F45A-608B-F107-5A526A95883C}"/>
          </ac:spMkLst>
        </pc:spChg>
      </pc:sldChg>
      <pc:sldChg chg="modSp mod">
        <pc:chgData name="Nikki Masani" userId="9c05372d-bea7-440a-a115-fab93e2b10d7" providerId="ADAL" clId="{34DA54B5-8EA5-4B18-B46C-FFB4D9D61AB2}" dt="2023-03-09T03:00:07.016" v="2522" actId="20577"/>
        <pc:sldMkLst>
          <pc:docMk/>
          <pc:sldMk cId="416558335" sldId="338"/>
        </pc:sldMkLst>
        <pc:spChg chg="mod">
          <ac:chgData name="Nikki Masani" userId="9c05372d-bea7-440a-a115-fab93e2b10d7" providerId="ADAL" clId="{34DA54B5-8EA5-4B18-B46C-FFB4D9D61AB2}" dt="2023-03-09T03:00:07.016" v="2522" actId="20577"/>
          <ac:spMkLst>
            <pc:docMk/>
            <pc:sldMk cId="416558335" sldId="338"/>
            <ac:spMk id="4" creationId="{13F94D68-F45A-608B-F107-5A526A95883C}"/>
          </ac:spMkLst>
        </pc:spChg>
      </pc:sldChg>
      <pc:sldChg chg="modSp mod">
        <pc:chgData name="Nikki Masani" userId="9c05372d-bea7-440a-a115-fab93e2b10d7" providerId="ADAL" clId="{34DA54B5-8EA5-4B18-B46C-FFB4D9D61AB2}" dt="2023-03-09T00:24:21.348" v="2353" actId="6549"/>
        <pc:sldMkLst>
          <pc:docMk/>
          <pc:sldMk cId="2806089284" sldId="339"/>
        </pc:sldMkLst>
        <pc:spChg chg="mod">
          <ac:chgData name="Nikki Masani" userId="9c05372d-bea7-440a-a115-fab93e2b10d7" providerId="ADAL" clId="{34DA54B5-8EA5-4B18-B46C-FFB4D9D61AB2}" dt="2023-03-09T00:24:21.348" v="2353" actId="6549"/>
          <ac:spMkLst>
            <pc:docMk/>
            <pc:sldMk cId="2806089284" sldId="339"/>
            <ac:spMk id="8" creationId="{A1EFF730-B12A-E473-7AB3-7F3CA3330846}"/>
          </ac:spMkLst>
        </pc:spChg>
      </pc:sldChg>
      <pc:sldChg chg="modNotesTx">
        <pc:chgData name="Nikki Masani" userId="9c05372d-bea7-440a-a115-fab93e2b10d7" providerId="ADAL" clId="{34DA54B5-8EA5-4B18-B46C-FFB4D9D61AB2}" dt="2023-03-08T16:48:13.801" v="1488" actId="20577"/>
        <pc:sldMkLst>
          <pc:docMk/>
          <pc:sldMk cId="3431146280" sldId="340"/>
        </pc:sldMkLst>
      </pc:sldChg>
      <pc:sldChg chg="modSp mod modNotesTx">
        <pc:chgData name="Nikki Masani" userId="9c05372d-bea7-440a-a115-fab93e2b10d7" providerId="ADAL" clId="{34DA54B5-8EA5-4B18-B46C-FFB4D9D61AB2}" dt="2023-03-08T23:41:05.724" v="1620" actId="20577"/>
        <pc:sldMkLst>
          <pc:docMk/>
          <pc:sldMk cId="4086228461" sldId="342"/>
        </pc:sldMkLst>
        <pc:spChg chg="mod">
          <ac:chgData name="Nikki Masani" userId="9c05372d-bea7-440a-a115-fab93e2b10d7" providerId="ADAL" clId="{34DA54B5-8EA5-4B18-B46C-FFB4D9D61AB2}" dt="2023-03-08T23:41:05.724" v="1620" actId="20577"/>
          <ac:spMkLst>
            <pc:docMk/>
            <pc:sldMk cId="4086228461" sldId="342"/>
            <ac:spMk id="8" creationId="{A1EFF730-B12A-E473-7AB3-7F3CA3330846}"/>
          </ac:spMkLst>
        </pc:spChg>
      </pc:sldChg>
      <pc:sldChg chg="modSp mod modNotesTx">
        <pc:chgData name="Nikki Masani" userId="9c05372d-bea7-440a-a115-fab93e2b10d7" providerId="ADAL" clId="{34DA54B5-8EA5-4B18-B46C-FFB4D9D61AB2}" dt="2023-03-08T23:44:36.954" v="1762" actId="20577"/>
        <pc:sldMkLst>
          <pc:docMk/>
          <pc:sldMk cId="2592131331" sldId="343"/>
        </pc:sldMkLst>
        <pc:spChg chg="mod">
          <ac:chgData name="Nikki Masani" userId="9c05372d-bea7-440a-a115-fab93e2b10d7" providerId="ADAL" clId="{34DA54B5-8EA5-4B18-B46C-FFB4D9D61AB2}" dt="2023-03-08T23:44:36.954" v="1762" actId="20577"/>
          <ac:spMkLst>
            <pc:docMk/>
            <pc:sldMk cId="2592131331" sldId="343"/>
            <ac:spMk id="8" creationId="{A1EFF730-B12A-E473-7AB3-7F3CA3330846}"/>
          </ac:spMkLst>
        </pc:spChg>
      </pc:sldChg>
      <pc:sldChg chg="modNotesTx">
        <pc:chgData name="Nikki Masani" userId="9c05372d-bea7-440a-a115-fab93e2b10d7" providerId="ADAL" clId="{34DA54B5-8EA5-4B18-B46C-FFB4D9D61AB2}" dt="2023-03-08T23:45:06.624" v="1841" actId="20577"/>
        <pc:sldMkLst>
          <pc:docMk/>
          <pc:sldMk cId="4086914677" sldId="344"/>
        </pc:sldMkLst>
      </pc:sldChg>
      <pc:sldChg chg="modSp mod modNotesTx">
        <pc:chgData name="Nikki Masani" userId="9c05372d-bea7-440a-a115-fab93e2b10d7" providerId="ADAL" clId="{34DA54B5-8EA5-4B18-B46C-FFB4D9D61AB2}" dt="2023-03-08T23:52:19.975" v="1967" actId="5793"/>
        <pc:sldMkLst>
          <pc:docMk/>
          <pc:sldMk cId="1073902445" sldId="345"/>
        </pc:sldMkLst>
        <pc:spChg chg="mod">
          <ac:chgData name="Nikki Masani" userId="9c05372d-bea7-440a-a115-fab93e2b10d7" providerId="ADAL" clId="{34DA54B5-8EA5-4B18-B46C-FFB4D9D61AB2}" dt="2023-03-08T23:52:19.975" v="1967" actId="5793"/>
          <ac:spMkLst>
            <pc:docMk/>
            <pc:sldMk cId="1073902445" sldId="345"/>
            <ac:spMk id="8" creationId="{A1EFF730-B12A-E473-7AB3-7F3CA3330846}"/>
          </ac:spMkLst>
        </pc:spChg>
      </pc:sldChg>
      <pc:sldChg chg="modSp mod modNotesTx">
        <pc:chgData name="Nikki Masani" userId="9c05372d-bea7-440a-a115-fab93e2b10d7" providerId="ADAL" clId="{34DA54B5-8EA5-4B18-B46C-FFB4D9D61AB2}" dt="2023-03-08T23:58:14.539" v="2093" actId="313"/>
        <pc:sldMkLst>
          <pc:docMk/>
          <pc:sldMk cId="2190409454" sldId="346"/>
        </pc:sldMkLst>
        <pc:spChg chg="mod">
          <ac:chgData name="Nikki Masani" userId="9c05372d-bea7-440a-a115-fab93e2b10d7" providerId="ADAL" clId="{34DA54B5-8EA5-4B18-B46C-FFB4D9D61AB2}" dt="2023-03-08T23:54:59.884" v="1968" actId="255"/>
          <ac:spMkLst>
            <pc:docMk/>
            <pc:sldMk cId="2190409454" sldId="346"/>
            <ac:spMk id="2" creationId="{69125542-D540-B766-0FA1-10DE2ED0495C}"/>
          </ac:spMkLst>
        </pc:spChg>
      </pc:sldChg>
      <pc:sldChg chg="modSp mod">
        <pc:chgData name="Nikki Masani" userId="9c05372d-bea7-440a-a115-fab93e2b10d7" providerId="ADAL" clId="{34DA54B5-8EA5-4B18-B46C-FFB4D9D61AB2}" dt="2023-03-09T00:08:00.397" v="2104" actId="6549"/>
        <pc:sldMkLst>
          <pc:docMk/>
          <pc:sldMk cId="1687574778" sldId="349"/>
        </pc:sldMkLst>
        <pc:spChg chg="mod">
          <ac:chgData name="Nikki Masani" userId="9c05372d-bea7-440a-a115-fab93e2b10d7" providerId="ADAL" clId="{34DA54B5-8EA5-4B18-B46C-FFB4D9D61AB2}" dt="2023-03-09T00:04:03.031" v="2102" actId="255"/>
          <ac:spMkLst>
            <pc:docMk/>
            <pc:sldMk cId="1687574778" sldId="349"/>
            <ac:spMk id="2" creationId="{69125542-D540-B766-0FA1-10DE2ED0495C}"/>
          </ac:spMkLst>
        </pc:spChg>
        <pc:spChg chg="mod">
          <ac:chgData name="Nikki Masani" userId="9c05372d-bea7-440a-a115-fab93e2b10d7" providerId="ADAL" clId="{34DA54B5-8EA5-4B18-B46C-FFB4D9D61AB2}" dt="2023-03-09T00:08:00.397" v="2104" actId="6549"/>
          <ac:spMkLst>
            <pc:docMk/>
            <pc:sldMk cId="1687574778" sldId="349"/>
            <ac:spMk id="15" creationId="{10EACE72-8200-6C65-B1AC-F61FC5BBEC4E}"/>
          </ac:spMkLst>
        </pc:spChg>
      </pc:sldChg>
      <pc:sldChg chg="modNotesTx">
        <pc:chgData name="Nikki Masani" userId="9c05372d-bea7-440a-a115-fab93e2b10d7" providerId="ADAL" clId="{34DA54B5-8EA5-4B18-B46C-FFB4D9D61AB2}" dt="2023-03-09T00:10:06.299" v="2135" actId="20577"/>
        <pc:sldMkLst>
          <pc:docMk/>
          <pc:sldMk cId="11961487" sldId="350"/>
        </pc:sldMkLst>
      </pc:sldChg>
      <pc:sldChg chg="modNotesTx">
        <pc:chgData name="Nikki Masani" userId="9c05372d-bea7-440a-a115-fab93e2b10d7" providerId="ADAL" clId="{34DA54B5-8EA5-4B18-B46C-FFB4D9D61AB2}" dt="2023-03-09T00:14:06.304" v="2212" actId="20577"/>
        <pc:sldMkLst>
          <pc:docMk/>
          <pc:sldMk cId="1217585280" sldId="351"/>
        </pc:sldMkLst>
      </pc:sldChg>
      <pc:sldChg chg="modSp mod modNotesTx">
        <pc:chgData name="Nikki Masani" userId="9c05372d-bea7-440a-a115-fab93e2b10d7" providerId="ADAL" clId="{34DA54B5-8EA5-4B18-B46C-FFB4D9D61AB2}" dt="2023-03-09T00:18:32.273" v="2275" actId="20577"/>
        <pc:sldMkLst>
          <pc:docMk/>
          <pc:sldMk cId="189318320" sldId="352"/>
        </pc:sldMkLst>
        <pc:spChg chg="mod">
          <ac:chgData name="Nikki Masani" userId="9c05372d-bea7-440a-a115-fab93e2b10d7" providerId="ADAL" clId="{34DA54B5-8EA5-4B18-B46C-FFB4D9D61AB2}" dt="2023-03-09T00:18:32.273" v="2275" actId="20577"/>
          <ac:spMkLst>
            <pc:docMk/>
            <pc:sldMk cId="189318320" sldId="352"/>
            <ac:spMk id="2" creationId="{69125542-D540-B766-0FA1-10DE2ED0495C}"/>
          </ac:spMkLst>
        </pc:spChg>
        <pc:spChg chg="mod">
          <ac:chgData name="Nikki Masani" userId="9c05372d-bea7-440a-a115-fab93e2b10d7" providerId="ADAL" clId="{34DA54B5-8EA5-4B18-B46C-FFB4D9D61AB2}" dt="2023-03-09T00:15:38.118" v="2260" actId="1076"/>
          <ac:spMkLst>
            <pc:docMk/>
            <pc:sldMk cId="189318320" sldId="352"/>
            <ac:spMk id="15" creationId="{10EACE72-8200-6C65-B1AC-F61FC5BBEC4E}"/>
          </ac:spMkLst>
        </pc:spChg>
      </pc:sldChg>
      <pc:sldChg chg="modSp mod">
        <pc:chgData name="Nikki Masani" userId="9c05372d-bea7-440a-a115-fab93e2b10d7" providerId="ADAL" clId="{34DA54B5-8EA5-4B18-B46C-FFB4D9D61AB2}" dt="2023-03-09T00:18:36.984" v="2283" actId="20577"/>
        <pc:sldMkLst>
          <pc:docMk/>
          <pc:sldMk cId="148007012" sldId="353"/>
        </pc:sldMkLst>
        <pc:spChg chg="mod">
          <ac:chgData name="Nikki Masani" userId="9c05372d-bea7-440a-a115-fab93e2b10d7" providerId="ADAL" clId="{34DA54B5-8EA5-4B18-B46C-FFB4D9D61AB2}" dt="2023-03-09T00:18:36.984" v="2283" actId="20577"/>
          <ac:spMkLst>
            <pc:docMk/>
            <pc:sldMk cId="148007012" sldId="353"/>
            <ac:spMk id="2" creationId="{69125542-D540-B766-0FA1-10DE2ED0495C}"/>
          </ac:spMkLst>
        </pc:spChg>
        <pc:spChg chg="mod">
          <ac:chgData name="Nikki Masani" userId="9c05372d-bea7-440a-a115-fab93e2b10d7" providerId="ADAL" clId="{34DA54B5-8EA5-4B18-B46C-FFB4D9D61AB2}" dt="2023-03-09T00:16:13.054" v="2265" actId="1076"/>
          <ac:spMkLst>
            <pc:docMk/>
            <pc:sldMk cId="148007012" sldId="353"/>
            <ac:spMk id="15" creationId="{10EACE72-8200-6C65-B1AC-F61FC5BBEC4E}"/>
          </ac:spMkLst>
        </pc:spChg>
      </pc:sldChg>
      <pc:sldChg chg="modSp mod">
        <pc:chgData name="Nikki Masani" userId="9c05372d-bea7-440a-a115-fab93e2b10d7" providerId="ADAL" clId="{34DA54B5-8EA5-4B18-B46C-FFB4D9D61AB2}" dt="2023-03-09T00:23:33.129" v="2345" actId="20577"/>
        <pc:sldMkLst>
          <pc:docMk/>
          <pc:sldMk cId="3920219870" sldId="355"/>
        </pc:sldMkLst>
        <pc:spChg chg="mod">
          <ac:chgData name="Nikki Masani" userId="9c05372d-bea7-440a-a115-fab93e2b10d7" providerId="ADAL" clId="{34DA54B5-8EA5-4B18-B46C-FFB4D9D61AB2}" dt="2023-03-09T00:18:56.673" v="2285" actId="255"/>
          <ac:spMkLst>
            <pc:docMk/>
            <pc:sldMk cId="3920219870" sldId="355"/>
            <ac:spMk id="2" creationId="{69125542-D540-B766-0FA1-10DE2ED0495C}"/>
          </ac:spMkLst>
        </pc:spChg>
        <pc:spChg chg="mod">
          <ac:chgData name="Nikki Masani" userId="9c05372d-bea7-440a-a115-fab93e2b10d7" providerId="ADAL" clId="{34DA54B5-8EA5-4B18-B46C-FFB4D9D61AB2}" dt="2023-03-09T00:23:33.129" v="2345" actId="20577"/>
          <ac:spMkLst>
            <pc:docMk/>
            <pc:sldMk cId="3920219870" sldId="355"/>
            <ac:spMk id="15" creationId="{10EACE72-8200-6C65-B1AC-F61FC5BBEC4E}"/>
          </ac:spMkLst>
        </pc:spChg>
      </pc:sldChg>
      <pc:sldChg chg="delSp modSp mod">
        <pc:chgData name="Nikki Masani" userId="9c05372d-bea7-440a-a115-fab93e2b10d7" providerId="ADAL" clId="{34DA54B5-8EA5-4B18-B46C-FFB4D9D61AB2}" dt="2023-03-09T00:19:36.837" v="2294"/>
        <pc:sldMkLst>
          <pc:docMk/>
          <pc:sldMk cId="3080677237" sldId="356"/>
        </pc:sldMkLst>
        <pc:spChg chg="mod">
          <ac:chgData name="Nikki Masani" userId="9c05372d-bea7-440a-a115-fab93e2b10d7" providerId="ADAL" clId="{34DA54B5-8EA5-4B18-B46C-FFB4D9D61AB2}" dt="2023-03-09T00:19:10.779" v="2287" actId="255"/>
          <ac:spMkLst>
            <pc:docMk/>
            <pc:sldMk cId="3080677237" sldId="356"/>
            <ac:spMk id="2" creationId="{69125542-D540-B766-0FA1-10DE2ED0495C}"/>
          </ac:spMkLst>
        </pc:spChg>
        <pc:spChg chg="del mod">
          <ac:chgData name="Nikki Masani" userId="9c05372d-bea7-440a-a115-fab93e2b10d7" providerId="ADAL" clId="{34DA54B5-8EA5-4B18-B46C-FFB4D9D61AB2}" dt="2023-03-09T00:19:36.837" v="2294"/>
          <ac:spMkLst>
            <pc:docMk/>
            <pc:sldMk cId="3080677237" sldId="356"/>
            <ac:spMk id="15" creationId="{10EACE72-8200-6C65-B1AC-F61FC5BBEC4E}"/>
          </ac:spMkLst>
        </pc:spChg>
        <pc:graphicFrameChg chg="mod modGraphic">
          <ac:chgData name="Nikki Masani" userId="9c05372d-bea7-440a-a115-fab93e2b10d7" providerId="ADAL" clId="{34DA54B5-8EA5-4B18-B46C-FFB4D9D61AB2}" dt="2023-03-09T00:19:35.763" v="2292" actId="255"/>
          <ac:graphicFrameMkLst>
            <pc:docMk/>
            <pc:sldMk cId="3080677237" sldId="356"/>
            <ac:graphicFrameMk id="6" creationId="{22704A80-F7FD-DAA1-5656-D71BCCB31AF8}"/>
          </ac:graphicFrameMkLst>
        </pc:graphicFrameChg>
      </pc:sldChg>
      <pc:sldChg chg="modSp mod">
        <pc:chgData name="Nikki Masani" userId="9c05372d-bea7-440a-a115-fab93e2b10d7" providerId="ADAL" clId="{34DA54B5-8EA5-4B18-B46C-FFB4D9D61AB2}" dt="2023-03-09T00:23:43.285" v="2347" actId="5793"/>
        <pc:sldMkLst>
          <pc:docMk/>
          <pc:sldMk cId="3392761975" sldId="357"/>
        </pc:sldMkLst>
        <pc:spChg chg="mod">
          <ac:chgData name="Nikki Masani" userId="9c05372d-bea7-440a-a115-fab93e2b10d7" providerId="ADAL" clId="{34DA54B5-8EA5-4B18-B46C-FFB4D9D61AB2}" dt="2023-03-09T00:23:43.285" v="2347" actId="5793"/>
          <ac:spMkLst>
            <pc:docMk/>
            <pc:sldMk cId="3392761975" sldId="357"/>
            <ac:spMk id="15" creationId="{10EACE72-8200-6C65-B1AC-F61FC5BBEC4E}"/>
          </ac:spMkLst>
        </pc:spChg>
      </pc:sldChg>
      <pc:sldChg chg="modSp mod">
        <pc:chgData name="Nikki Masani" userId="9c05372d-bea7-440a-a115-fab93e2b10d7" providerId="ADAL" clId="{34DA54B5-8EA5-4B18-B46C-FFB4D9D61AB2}" dt="2023-03-09T00:24:01.673" v="2352" actId="5793"/>
        <pc:sldMkLst>
          <pc:docMk/>
          <pc:sldMk cId="3241389047" sldId="360"/>
        </pc:sldMkLst>
        <pc:spChg chg="mod">
          <ac:chgData name="Nikki Masani" userId="9c05372d-bea7-440a-a115-fab93e2b10d7" providerId="ADAL" clId="{34DA54B5-8EA5-4B18-B46C-FFB4D9D61AB2}" dt="2023-03-09T00:24:01.673" v="2352" actId="5793"/>
          <ac:spMkLst>
            <pc:docMk/>
            <pc:sldMk cId="3241389047" sldId="360"/>
            <ac:spMk id="15" creationId="{10EACE72-8200-6C65-B1AC-F61FC5BBEC4E}"/>
          </ac:spMkLst>
        </pc:spChg>
      </pc:sldChg>
      <pc:sldChg chg="modNotesTx">
        <pc:chgData name="Nikki Masani" userId="9c05372d-bea7-440a-a115-fab93e2b10d7" providerId="ADAL" clId="{34DA54B5-8EA5-4B18-B46C-FFB4D9D61AB2}" dt="2023-03-08T16:33:49.569" v="1334" actId="20577"/>
        <pc:sldMkLst>
          <pc:docMk/>
          <pc:sldMk cId="3345947397" sldId="363"/>
        </pc:sldMkLst>
      </pc:sldChg>
      <pc:sldChg chg="addSp delSp modSp add mod modNotesTx">
        <pc:chgData name="Nikki Masani" userId="9c05372d-bea7-440a-a115-fab93e2b10d7" providerId="ADAL" clId="{34DA54B5-8EA5-4B18-B46C-FFB4D9D61AB2}" dt="2023-03-09T00:01:46.853" v="2101" actId="20577"/>
        <pc:sldMkLst>
          <pc:docMk/>
          <pc:sldMk cId="2414000958" sldId="364"/>
        </pc:sldMkLst>
        <pc:spChg chg="del">
          <ac:chgData name="Nikki Masani" userId="9c05372d-bea7-440a-a115-fab93e2b10d7" providerId="ADAL" clId="{34DA54B5-8EA5-4B18-B46C-FFB4D9D61AB2}" dt="2023-03-09T00:01:32.556" v="2097" actId="478"/>
          <ac:spMkLst>
            <pc:docMk/>
            <pc:sldMk cId="2414000958" sldId="364"/>
            <ac:spMk id="15" creationId="{10EACE72-8200-6C65-B1AC-F61FC5BBEC4E}"/>
          </ac:spMkLst>
        </pc:spChg>
        <pc:picChg chg="add mod">
          <ac:chgData name="Nikki Masani" userId="9c05372d-bea7-440a-a115-fab93e2b10d7" providerId="ADAL" clId="{34DA54B5-8EA5-4B18-B46C-FFB4D9D61AB2}" dt="2023-03-09T00:01:34.879" v="2098" actId="1076"/>
          <ac:picMkLst>
            <pc:docMk/>
            <pc:sldMk cId="2414000958" sldId="364"/>
            <ac:picMk id="5" creationId="{E3579FAA-CF4D-A4AF-0211-8F795FB08289}"/>
          </ac:picMkLst>
        </pc:picChg>
        <pc:picChg chg="del">
          <ac:chgData name="Nikki Masani" userId="9c05372d-bea7-440a-a115-fab93e2b10d7" providerId="ADAL" clId="{34DA54B5-8EA5-4B18-B46C-FFB4D9D61AB2}" dt="2023-03-09T00:01:28.256" v="2095" actId="478"/>
          <ac:picMkLst>
            <pc:docMk/>
            <pc:sldMk cId="2414000958" sldId="364"/>
            <ac:picMk id="8" creationId="{58F28591-2EC2-F83F-23AC-49EEC6729BBA}"/>
          </ac:picMkLst>
        </pc:picChg>
      </pc:sldChg>
    </pc:docChg>
  </pc:docChgLst>
  <pc:docChgLst>
    <pc:chgData name="Nikki Masani" userId="9c05372d-bea7-440a-a115-fab93e2b10d7" providerId="ADAL" clId="{4EDBB286-D1F7-47C0-ABC3-11ED6A218307}"/>
    <pc:docChg chg="undo custSel addSld delSld modSld sldOrd">
      <pc:chgData name="Nikki Masani" userId="9c05372d-bea7-440a-a115-fab93e2b10d7" providerId="ADAL" clId="{4EDBB286-D1F7-47C0-ABC3-11ED6A218307}" dt="2023-03-08T00:06:16.733" v="4769" actId="14100"/>
      <pc:docMkLst>
        <pc:docMk/>
      </pc:docMkLst>
      <pc:sldChg chg="modSp mod">
        <pc:chgData name="Nikki Masani" userId="9c05372d-bea7-440a-a115-fab93e2b10d7" providerId="ADAL" clId="{4EDBB286-D1F7-47C0-ABC3-11ED6A218307}" dt="2023-03-07T21:05:03.019" v="874" actId="20577"/>
        <pc:sldMkLst>
          <pc:docMk/>
          <pc:sldMk cId="1003962426" sldId="293"/>
        </pc:sldMkLst>
        <pc:spChg chg="mod">
          <ac:chgData name="Nikki Masani" userId="9c05372d-bea7-440a-a115-fab93e2b10d7" providerId="ADAL" clId="{4EDBB286-D1F7-47C0-ABC3-11ED6A218307}" dt="2023-03-07T21:05:03.019" v="874" actId="20577"/>
          <ac:spMkLst>
            <pc:docMk/>
            <pc:sldMk cId="1003962426" sldId="293"/>
            <ac:spMk id="3" creationId="{B787DFD8-D262-D485-B1F2-817C5A0928C5}"/>
          </ac:spMkLst>
        </pc:spChg>
      </pc:sldChg>
      <pc:sldChg chg="modNotesTx">
        <pc:chgData name="Nikki Masani" userId="9c05372d-bea7-440a-a115-fab93e2b10d7" providerId="ADAL" clId="{4EDBB286-D1F7-47C0-ABC3-11ED6A218307}" dt="2023-03-07T20:58:48.605" v="872" actId="20577"/>
        <pc:sldMkLst>
          <pc:docMk/>
          <pc:sldMk cId="1627485080" sldId="294"/>
        </pc:sldMkLst>
      </pc:sldChg>
      <pc:sldChg chg="modSp mod modNotesTx">
        <pc:chgData name="Nikki Masani" userId="9c05372d-bea7-440a-a115-fab93e2b10d7" providerId="ADAL" clId="{4EDBB286-D1F7-47C0-ABC3-11ED6A218307}" dt="2023-03-07T22:07:56.269" v="1059" actId="15"/>
        <pc:sldMkLst>
          <pc:docMk/>
          <pc:sldMk cId="4132932164" sldId="296"/>
        </pc:sldMkLst>
        <pc:spChg chg="mod">
          <ac:chgData name="Nikki Masani" userId="9c05372d-bea7-440a-a115-fab93e2b10d7" providerId="ADAL" clId="{4EDBB286-D1F7-47C0-ABC3-11ED6A218307}" dt="2023-03-07T22:07:56.269" v="1059" actId="15"/>
          <ac:spMkLst>
            <pc:docMk/>
            <pc:sldMk cId="4132932164" sldId="296"/>
            <ac:spMk id="4" creationId="{13F94D68-F45A-608B-F107-5A526A95883C}"/>
          </ac:spMkLst>
        </pc:spChg>
      </pc:sldChg>
      <pc:sldChg chg="modNotesTx">
        <pc:chgData name="Nikki Masani" userId="9c05372d-bea7-440a-a115-fab93e2b10d7" providerId="ADAL" clId="{4EDBB286-D1F7-47C0-ABC3-11ED6A218307}" dt="2023-03-07T22:27:59.315" v="2162" actId="20577"/>
        <pc:sldMkLst>
          <pc:docMk/>
          <pc:sldMk cId="3366763337" sldId="297"/>
        </pc:sldMkLst>
      </pc:sldChg>
      <pc:sldChg chg="modSp mod">
        <pc:chgData name="Nikki Masani" userId="9c05372d-bea7-440a-a115-fab93e2b10d7" providerId="ADAL" clId="{4EDBB286-D1F7-47C0-ABC3-11ED6A218307}" dt="2023-03-07T22:03:42.052" v="961" actId="255"/>
        <pc:sldMkLst>
          <pc:docMk/>
          <pc:sldMk cId="1803880381" sldId="313"/>
        </pc:sldMkLst>
        <pc:spChg chg="mod">
          <ac:chgData name="Nikki Masani" userId="9c05372d-bea7-440a-a115-fab93e2b10d7" providerId="ADAL" clId="{4EDBB286-D1F7-47C0-ABC3-11ED6A218307}" dt="2023-03-07T20:56:58.203" v="674" actId="20577"/>
          <ac:spMkLst>
            <pc:docMk/>
            <pc:sldMk cId="1803880381" sldId="313"/>
            <ac:spMk id="2" creationId="{85C565E9-D88A-55D3-9D42-BD1C24B6DE9F}"/>
          </ac:spMkLst>
        </pc:spChg>
        <pc:spChg chg="mod">
          <ac:chgData name="Nikki Masani" userId="9c05372d-bea7-440a-a115-fab93e2b10d7" providerId="ADAL" clId="{4EDBB286-D1F7-47C0-ABC3-11ED6A218307}" dt="2023-03-07T22:03:42.052" v="961" actId="255"/>
          <ac:spMkLst>
            <pc:docMk/>
            <pc:sldMk cId="1803880381" sldId="313"/>
            <ac:spMk id="3" creationId="{4D1F66E5-D2D7-172B-46BA-FEBFE092CC7F}"/>
          </ac:spMkLst>
        </pc:spChg>
      </pc:sldChg>
      <pc:sldChg chg="modSp mod modNotesTx">
        <pc:chgData name="Nikki Masani" userId="9c05372d-bea7-440a-a115-fab93e2b10d7" providerId="ADAL" clId="{4EDBB286-D1F7-47C0-ABC3-11ED6A218307}" dt="2023-03-07T22:16:16.842" v="1725" actId="6549"/>
        <pc:sldMkLst>
          <pc:docMk/>
          <pc:sldMk cId="2889489388" sldId="316"/>
        </pc:sldMkLst>
        <pc:spChg chg="mod">
          <ac:chgData name="Nikki Masani" userId="9c05372d-bea7-440a-a115-fab93e2b10d7" providerId="ADAL" clId="{4EDBB286-D1F7-47C0-ABC3-11ED6A218307}" dt="2023-03-07T22:12:14.217" v="1220" actId="115"/>
          <ac:spMkLst>
            <pc:docMk/>
            <pc:sldMk cId="2889489388" sldId="316"/>
            <ac:spMk id="4" creationId="{13F94D68-F45A-608B-F107-5A526A95883C}"/>
          </ac:spMkLst>
        </pc:spChg>
      </pc:sldChg>
      <pc:sldChg chg="modSp mod modNotesTx">
        <pc:chgData name="Nikki Masani" userId="9c05372d-bea7-440a-a115-fab93e2b10d7" providerId="ADAL" clId="{4EDBB286-D1F7-47C0-ABC3-11ED6A218307}" dt="2023-03-07T22:18:00.083" v="1896" actId="20577"/>
        <pc:sldMkLst>
          <pc:docMk/>
          <pc:sldMk cId="3417018229" sldId="317"/>
        </pc:sldMkLst>
        <pc:spChg chg="mod">
          <ac:chgData name="Nikki Masani" userId="9c05372d-bea7-440a-a115-fab93e2b10d7" providerId="ADAL" clId="{4EDBB286-D1F7-47C0-ABC3-11ED6A218307}" dt="2023-03-07T22:17:17.754" v="1733" actId="20577"/>
          <ac:spMkLst>
            <pc:docMk/>
            <pc:sldMk cId="3417018229" sldId="317"/>
            <ac:spMk id="4" creationId="{13F94D68-F45A-608B-F107-5A526A95883C}"/>
          </ac:spMkLst>
        </pc:spChg>
      </pc:sldChg>
      <pc:sldChg chg="modNotesTx">
        <pc:chgData name="Nikki Masani" userId="9c05372d-bea7-440a-a115-fab93e2b10d7" providerId="ADAL" clId="{4EDBB286-D1F7-47C0-ABC3-11ED6A218307}" dt="2023-03-07T22:21:41.409" v="1989" actId="20577"/>
        <pc:sldMkLst>
          <pc:docMk/>
          <pc:sldMk cId="3096449386" sldId="318"/>
        </pc:sldMkLst>
      </pc:sldChg>
      <pc:sldChg chg="modSp mod">
        <pc:chgData name="Nikki Masani" userId="9c05372d-bea7-440a-a115-fab93e2b10d7" providerId="ADAL" clId="{4EDBB286-D1F7-47C0-ABC3-11ED6A218307}" dt="2023-03-07T22:22:35.084" v="1994" actId="14100"/>
        <pc:sldMkLst>
          <pc:docMk/>
          <pc:sldMk cId="678714950" sldId="319"/>
        </pc:sldMkLst>
        <pc:spChg chg="mod">
          <ac:chgData name="Nikki Masani" userId="9c05372d-bea7-440a-a115-fab93e2b10d7" providerId="ADAL" clId="{4EDBB286-D1F7-47C0-ABC3-11ED6A218307}" dt="2023-03-07T22:22:35.084" v="1994" actId="14100"/>
          <ac:spMkLst>
            <pc:docMk/>
            <pc:sldMk cId="678714950" sldId="319"/>
            <ac:spMk id="4" creationId="{13F94D68-F45A-608B-F107-5A526A95883C}"/>
          </ac:spMkLst>
        </pc:spChg>
      </pc:sldChg>
      <pc:sldChg chg="modNotesTx">
        <pc:chgData name="Nikki Masani" userId="9c05372d-bea7-440a-a115-fab93e2b10d7" providerId="ADAL" clId="{4EDBB286-D1F7-47C0-ABC3-11ED6A218307}" dt="2023-03-07T22:41:55.642" v="3161" actId="313"/>
        <pc:sldMkLst>
          <pc:docMk/>
          <pc:sldMk cId="4122634259" sldId="335"/>
        </pc:sldMkLst>
      </pc:sldChg>
      <pc:sldChg chg="del">
        <pc:chgData name="Nikki Masani" userId="9c05372d-bea7-440a-a115-fab93e2b10d7" providerId="ADAL" clId="{4EDBB286-D1F7-47C0-ABC3-11ED6A218307}" dt="2023-03-07T22:30:44.254" v="2163" actId="2696"/>
        <pc:sldMkLst>
          <pc:docMk/>
          <pc:sldMk cId="1802572407" sldId="336"/>
        </pc:sldMkLst>
      </pc:sldChg>
      <pc:sldChg chg="modNotesTx">
        <pc:chgData name="Nikki Masani" userId="9c05372d-bea7-440a-a115-fab93e2b10d7" providerId="ADAL" clId="{4EDBB286-D1F7-47C0-ABC3-11ED6A218307}" dt="2023-03-07T22:50:03.648" v="3885" actId="20577"/>
        <pc:sldMkLst>
          <pc:docMk/>
          <pc:sldMk cId="416558335" sldId="338"/>
        </pc:sldMkLst>
      </pc:sldChg>
      <pc:sldChg chg="addSp delSp modSp add mod ord modNotesTx">
        <pc:chgData name="Nikki Masani" userId="9c05372d-bea7-440a-a115-fab93e2b10d7" providerId="ADAL" clId="{4EDBB286-D1F7-47C0-ABC3-11ED6A218307}" dt="2023-03-07T20:21:52.902" v="60" actId="21"/>
        <pc:sldMkLst>
          <pc:docMk/>
          <pc:sldMk cId="1687574778" sldId="349"/>
        </pc:sldMkLst>
        <pc:spChg chg="mod">
          <ac:chgData name="Nikki Masani" userId="9c05372d-bea7-440a-a115-fab93e2b10d7" providerId="ADAL" clId="{4EDBB286-D1F7-47C0-ABC3-11ED6A218307}" dt="2023-03-07T20:18:25.486" v="1"/>
          <ac:spMkLst>
            <pc:docMk/>
            <pc:sldMk cId="1687574778" sldId="349"/>
            <ac:spMk id="2" creationId="{69125542-D540-B766-0FA1-10DE2ED0495C}"/>
          </ac:spMkLst>
        </pc:spChg>
        <pc:spChg chg="add del">
          <ac:chgData name="Nikki Masani" userId="9c05372d-bea7-440a-a115-fab93e2b10d7" providerId="ADAL" clId="{4EDBB286-D1F7-47C0-ABC3-11ED6A218307}" dt="2023-03-07T20:20:30.464" v="28" actId="22"/>
          <ac:spMkLst>
            <pc:docMk/>
            <pc:sldMk cId="1687574778" sldId="349"/>
            <ac:spMk id="5" creationId="{D87AB723-8C98-F890-1243-D8148F3A5D58}"/>
          </ac:spMkLst>
        </pc:spChg>
        <pc:spChg chg="add del">
          <ac:chgData name="Nikki Masani" userId="9c05372d-bea7-440a-a115-fab93e2b10d7" providerId="ADAL" clId="{4EDBB286-D1F7-47C0-ABC3-11ED6A218307}" dt="2023-03-07T20:20:33.620" v="30" actId="22"/>
          <ac:spMkLst>
            <pc:docMk/>
            <pc:sldMk cId="1687574778" sldId="349"/>
            <ac:spMk id="8" creationId="{AB3D963E-8AA4-CB7B-7178-E55E2F3EC631}"/>
          </ac:spMkLst>
        </pc:spChg>
        <pc:spChg chg="add del mod">
          <ac:chgData name="Nikki Masani" userId="9c05372d-bea7-440a-a115-fab93e2b10d7" providerId="ADAL" clId="{4EDBB286-D1F7-47C0-ABC3-11ED6A218307}" dt="2023-03-07T20:21:52.902" v="60" actId="21"/>
          <ac:spMkLst>
            <pc:docMk/>
            <pc:sldMk cId="1687574778" sldId="349"/>
            <ac:spMk id="15" creationId="{10EACE72-8200-6C65-B1AC-F61FC5BBEC4E}"/>
          </ac:spMkLst>
        </pc:spChg>
      </pc:sldChg>
      <pc:sldChg chg="modSp add mod">
        <pc:chgData name="Nikki Masani" userId="9c05372d-bea7-440a-a115-fab93e2b10d7" providerId="ADAL" clId="{4EDBB286-D1F7-47C0-ABC3-11ED6A218307}" dt="2023-03-07T20:24:35.210" v="102" actId="20577"/>
        <pc:sldMkLst>
          <pc:docMk/>
          <pc:sldMk cId="11961487" sldId="350"/>
        </pc:sldMkLst>
        <pc:spChg chg="mod">
          <ac:chgData name="Nikki Masani" userId="9c05372d-bea7-440a-a115-fab93e2b10d7" providerId="ADAL" clId="{4EDBB286-D1F7-47C0-ABC3-11ED6A218307}" dt="2023-03-07T20:24:35.210" v="102" actId="20577"/>
          <ac:spMkLst>
            <pc:docMk/>
            <pc:sldMk cId="11961487" sldId="350"/>
            <ac:spMk id="15" creationId="{10EACE72-8200-6C65-B1AC-F61FC5BBEC4E}"/>
          </ac:spMkLst>
        </pc:spChg>
      </pc:sldChg>
      <pc:sldChg chg="addSp delSp modSp add mod ord">
        <pc:chgData name="Nikki Masani" userId="9c05372d-bea7-440a-a115-fab93e2b10d7" providerId="ADAL" clId="{4EDBB286-D1F7-47C0-ABC3-11ED6A218307}" dt="2023-03-07T20:25:41.005" v="116" actId="255"/>
        <pc:sldMkLst>
          <pc:docMk/>
          <pc:sldMk cId="1217585280" sldId="351"/>
        </pc:sldMkLst>
        <pc:spChg chg="mod">
          <ac:chgData name="Nikki Masani" userId="9c05372d-bea7-440a-a115-fab93e2b10d7" providerId="ADAL" clId="{4EDBB286-D1F7-47C0-ABC3-11ED6A218307}" dt="2023-03-07T20:25:34.759" v="115" actId="1076"/>
          <ac:spMkLst>
            <pc:docMk/>
            <pc:sldMk cId="1217585280" sldId="351"/>
            <ac:spMk id="2" creationId="{69125542-D540-B766-0FA1-10DE2ED0495C}"/>
          </ac:spMkLst>
        </pc:spChg>
        <pc:graphicFrameChg chg="add mod modGraphic">
          <ac:chgData name="Nikki Masani" userId="9c05372d-bea7-440a-a115-fab93e2b10d7" providerId="ADAL" clId="{4EDBB286-D1F7-47C0-ABC3-11ED6A218307}" dt="2023-03-07T20:25:41.005" v="116" actId="255"/>
          <ac:graphicFrameMkLst>
            <pc:docMk/>
            <pc:sldMk cId="1217585280" sldId="351"/>
            <ac:graphicFrameMk id="3" creationId="{170E5159-0BD2-417C-BD0C-7D6FBB289975}"/>
          </ac:graphicFrameMkLst>
        </pc:graphicFrameChg>
        <pc:graphicFrameChg chg="del">
          <ac:chgData name="Nikki Masani" userId="9c05372d-bea7-440a-a115-fab93e2b10d7" providerId="ADAL" clId="{4EDBB286-D1F7-47C0-ABC3-11ED6A218307}" dt="2023-03-07T20:25:05.359" v="108" actId="478"/>
          <ac:graphicFrameMkLst>
            <pc:docMk/>
            <pc:sldMk cId="1217585280" sldId="351"/>
            <ac:graphicFrameMk id="4" creationId="{6D4971B8-EA4D-315A-2E53-5A1DC0233FE5}"/>
          </ac:graphicFrameMkLst>
        </pc:graphicFrameChg>
      </pc:sldChg>
      <pc:sldChg chg="modSp add mod ord modNotesTx">
        <pc:chgData name="Nikki Masani" userId="9c05372d-bea7-440a-a115-fab93e2b10d7" providerId="ADAL" clId="{4EDBB286-D1F7-47C0-ABC3-11ED6A218307}" dt="2023-03-07T20:28:04.217" v="172" actId="20577"/>
        <pc:sldMkLst>
          <pc:docMk/>
          <pc:sldMk cId="189318320" sldId="352"/>
        </pc:sldMkLst>
        <pc:spChg chg="mod">
          <ac:chgData name="Nikki Masani" userId="9c05372d-bea7-440a-a115-fab93e2b10d7" providerId="ADAL" clId="{4EDBB286-D1F7-47C0-ABC3-11ED6A218307}" dt="2023-03-07T20:26:11.268" v="120"/>
          <ac:spMkLst>
            <pc:docMk/>
            <pc:sldMk cId="189318320" sldId="352"/>
            <ac:spMk id="2" creationId="{69125542-D540-B766-0FA1-10DE2ED0495C}"/>
          </ac:spMkLst>
        </pc:spChg>
        <pc:spChg chg="mod">
          <ac:chgData name="Nikki Masani" userId="9c05372d-bea7-440a-a115-fab93e2b10d7" providerId="ADAL" clId="{4EDBB286-D1F7-47C0-ABC3-11ED6A218307}" dt="2023-03-07T20:28:04.217" v="172" actId="20577"/>
          <ac:spMkLst>
            <pc:docMk/>
            <pc:sldMk cId="189318320" sldId="352"/>
            <ac:spMk id="15" creationId="{10EACE72-8200-6C65-B1AC-F61FC5BBEC4E}"/>
          </ac:spMkLst>
        </pc:spChg>
      </pc:sldChg>
      <pc:sldChg chg="modSp add mod modNotesTx">
        <pc:chgData name="Nikki Masani" userId="9c05372d-bea7-440a-a115-fab93e2b10d7" providerId="ADAL" clId="{4EDBB286-D1F7-47C0-ABC3-11ED6A218307}" dt="2023-03-07T20:33:36.013" v="233" actId="14"/>
        <pc:sldMkLst>
          <pc:docMk/>
          <pc:sldMk cId="148007012" sldId="353"/>
        </pc:sldMkLst>
        <pc:spChg chg="mod">
          <ac:chgData name="Nikki Masani" userId="9c05372d-bea7-440a-a115-fab93e2b10d7" providerId="ADAL" clId="{4EDBB286-D1F7-47C0-ABC3-11ED6A218307}" dt="2023-03-07T20:33:36.013" v="233" actId="14"/>
          <ac:spMkLst>
            <pc:docMk/>
            <pc:sldMk cId="148007012" sldId="353"/>
            <ac:spMk id="15" creationId="{10EACE72-8200-6C65-B1AC-F61FC5BBEC4E}"/>
          </ac:spMkLst>
        </pc:spChg>
      </pc:sldChg>
      <pc:sldChg chg="addSp delSp modSp add mod ord">
        <pc:chgData name="Nikki Masani" userId="9c05372d-bea7-440a-a115-fab93e2b10d7" providerId="ADAL" clId="{4EDBB286-D1F7-47C0-ABC3-11ED6A218307}" dt="2023-03-07T20:34:18.381" v="241" actId="255"/>
        <pc:sldMkLst>
          <pc:docMk/>
          <pc:sldMk cId="345594659" sldId="354"/>
        </pc:sldMkLst>
        <pc:spChg chg="mod">
          <ac:chgData name="Nikki Masani" userId="9c05372d-bea7-440a-a115-fab93e2b10d7" providerId="ADAL" clId="{4EDBB286-D1F7-47C0-ABC3-11ED6A218307}" dt="2023-03-07T20:33:59.336" v="237"/>
          <ac:spMkLst>
            <pc:docMk/>
            <pc:sldMk cId="345594659" sldId="354"/>
            <ac:spMk id="2" creationId="{69125542-D540-B766-0FA1-10DE2ED0495C}"/>
          </ac:spMkLst>
        </pc:spChg>
        <pc:graphicFrameChg chg="del">
          <ac:chgData name="Nikki Masani" userId="9c05372d-bea7-440a-a115-fab93e2b10d7" providerId="ADAL" clId="{4EDBB286-D1F7-47C0-ABC3-11ED6A218307}" dt="2023-03-07T20:34:02.129" v="238" actId="478"/>
          <ac:graphicFrameMkLst>
            <pc:docMk/>
            <pc:sldMk cId="345594659" sldId="354"/>
            <ac:graphicFrameMk id="3" creationId="{170E5159-0BD2-417C-BD0C-7D6FBB289975}"/>
          </ac:graphicFrameMkLst>
        </pc:graphicFrameChg>
        <pc:graphicFrameChg chg="add mod modGraphic">
          <ac:chgData name="Nikki Masani" userId="9c05372d-bea7-440a-a115-fab93e2b10d7" providerId="ADAL" clId="{4EDBB286-D1F7-47C0-ABC3-11ED6A218307}" dt="2023-03-07T20:34:18.381" v="241" actId="255"/>
          <ac:graphicFrameMkLst>
            <pc:docMk/>
            <pc:sldMk cId="345594659" sldId="354"/>
            <ac:graphicFrameMk id="4" creationId="{0E044A56-D529-631C-4CD1-8BB7BEBC06C5}"/>
          </ac:graphicFrameMkLst>
        </pc:graphicFrameChg>
      </pc:sldChg>
      <pc:sldChg chg="modSp add mod ord">
        <pc:chgData name="Nikki Masani" userId="9c05372d-bea7-440a-a115-fab93e2b10d7" providerId="ADAL" clId="{4EDBB286-D1F7-47C0-ABC3-11ED6A218307}" dt="2023-03-07T20:41:03.058" v="343" actId="21"/>
        <pc:sldMkLst>
          <pc:docMk/>
          <pc:sldMk cId="3920219870" sldId="355"/>
        </pc:sldMkLst>
        <pc:spChg chg="mod">
          <ac:chgData name="Nikki Masani" userId="9c05372d-bea7-440a-a115-fab93e2b10d7" providerId="ADAL" clId="{4EDBB286-D1F7-47C0-ABC3-11ED6A218307}" dt="2023-03-07T20:34:50.006" v="245"/>
          <ac:spMkLst>
            <pc:docMk/>
            <pc:sldMk cId="3920219870" sldId="355"/>
            <ac:spMk id="2" creationId="{69125542-D540-B766-0FA1-10DE2ED0495C}"/>
          </ac:spMkLst>
        </pc:spChg>
        <pc:spChg chg="mod">
          <ac:chgData name="Nikki Masani" userId="9c05372d-bea7-440a-a115-fab93e2b10d7" providerId="ADAL" clId="{4EDBB286-D1F7-47C0-ABC3-11ED6A218307}" dt="2023-03-07T20:41:03.058" v="343" actId="21"/>
          <ac:spMkLst>
            <pc:docMk/>
            <pc:sldMk cId="3920219870" sldId="355"/>
            <ac:spMk id="15" creationId="{10EACE72-8200-6C65-B1AC-F61FC5BBEC4E}"/>
          </ac:spMkLst>
        </pc:spChg>
      </pc:sldChg>
      <pc:sldChg chg="addSp delSp modSp add mod">
        <pc:chgData name="Nikki Masani" userId="9c05372d-bea7-440a-a115-fab93e2b10d7" providerId="ADAL" clId="{4EDBB286-D1F7-47C0-ABC3-11ED6A218307}" dt="2023-03-07T20:42:02.823" v="353" actId="255"/>
        <pc:sldMkLst>
          <pc:docMk/>
          <pc:sldMk cId="3080677237" sldId="356"/>
        </pc:sldMkLst>
        <pc:spChg chg="del">
          <ac:chgData name="Nikki Masani" userId="9c05372d-bea7-440a-a115-fab93e2b10d7" providerId="ADAL" clId="{4EDBB286-D1F7-47C0-ABC3-11ED6A218307}" dt="2023-03-07T20:41:28.130" v="349" actId="478"/>
          <ac:spMkLst>
            <pc:docMk/>
            <pc:sldMk cId="3080677237" sldId="356"/>
            <ac:spMk id="4" creationId="{13F94D68-F45A-608B-F107-5A526A95883C}"/>
          </ac:spMkLst>
        </pc:spChg>
        <pc:spChg chg="add del mod">
          <ac:chgData name="Nikki Masani" userId="9c05372d-bea7-440a-a115-fab93e2b10d7" providerId="ADAL" clId="{4EDBB286-D1F7-47C0-ABC3-11ED6A218307}" dt="2023-03-07T20:41:30.135" v="350" actId="478"/>
          <ac:spMkLst>
            <pc:docMk/>
            <pc:sldMk cId="3080677237" sldId="356"/>
            <ac:spMk id="5" creationId="{D4727F0D-7D4C-9929-21A8-97FC08D481B5}"/>
          </ac:spMkLst>
        </pc:spChg>
        <pc:spChg chg="mod">
          <ac:chgData name="Nikki Masani" userId="9c05372d-bea7-440a-a115-fab93e2b10d7" providerId="ADAL" clId="{4EDBB286-D1F7-47C0-ABC3-11ED6A218307}" dt="2023-03-07T20:41:22.604" v="348" actId="15"/>
          <ac:spMkLst>
            <pc:docMk/>
            <pc:sldMk cId="3080677237" sldId="356"/>
            <ac:spMk id="15" creationId="{10EACE72-8200-6C65-B1AC-F61FC5BBEC4E}"/>
          </ac:spMkLst>
        </pc:spChg>
        <pc:graphicFrameChg chg="add mod modGraphic">
          <ac:chgData name="Nikki Masani" userId="9c05372d-bea7-440a-a115-fab93e2b10d7" providerId="ADAL" clId="{4EDBB286-D1F7-47C0-ABC3-11ED6A218307}" dt="2023-03-07T20:42:02.823" v="353" actId="255"/>
          <ac:graphicFrameMkLst>
            <pc:docMk/>
            <pc:sldMk cId="3080677237" sldId="356"/>
            <ac:graphicFrameMk id="6" creationId="{22704A80-F7FD-DAA1-5656-D71BCCB31AF8}"/>
          </ac:graphicFrameMkLst>
        </pc:graphicFrameChg>
      </pc:sldChg>
      <pc:sldChg chg="modSp add mod ord">
        <pc:chgData name="Nikki Masani" userId="9c05372d-bea7-440a-a115-fab93e2b10d7" providerId="ADAL" clId="{4EDBB286-D1F7-47C0-ABC3-11ED6A218307}" dt="2023-03-07T20:43:58.607" v="418" actId="15"/>
        <pc:sldMkLst>
          <pc:docMk/>
          <pc:sldMk cId="3392761975" sldId="357"/>
        </pc:sldMkLst>
        <pc:spChg chg="mod">
          <ac:chgData name="Nikki Masani" userId="9c05372d-bea7-440a-a115-fab93e2b10d7" providerId="ADAL" clId="{4EDBB286-D1F7-47C0-ABC3-11ED6A218307}" dt="2023-03-07T20:42:25.095" v="357"/>
          <ac:spMkLst>
            <pc:docMk/>
            <pc:sldMk cId="3392761975" sldId="357"/>
            <ac:spMk id="2" creationId="{69125542-D540-B766-0FA1-10DE2ED0495C}"/>
          </ac:spMkLst>
        </pc:spChg>
        <pc:spChg chg="mod">
          <ac:chgData name="Nikki Masani" userId="9c05372d-bea7-440a-a115-fab93e2b10d7" providerId="ADAL" clId="{4EDBB286-D1F7-47C0-ABC3-11ED6A218307}" dt="2023-03-07T20:43:58.607" v="418" actId="15"/>
          <ac:spMkLst>
            <pc:docMk/>
            <pc:sldMk cId="3392761975" sldId="357"/>
            <ac:spMk id="15" creationId="{10EACE72-8200-6C65-B1AC-F61FC5BBEC4E}"/>
          </ac:spMkLst>
        </pc:spChg>
      </pc:sldChg>
      <pc:sldChg chg="modSp add mod">
        <pc:chgData name="Nikki Masani" userId="9c05372d-bea7-440a-a115-fab93e2b10d7" providerId="ADAL" clId="{4EDBB286-D1F7-47C0-ABC3-11ED6A218307}" dt="2023-03-07T20:50:20.079" v="513" actId="20577"/>
        <pc:sldMkLst>
          <pc:docMk/>
          <pc:sldMk cId="244325253" sldId="358"/>
        </pc:sldMkLst>
        <pc:spChg chg="mod">
          <ac:chgData name="Nikki Masani" userId="9c05372d-bea7-440a-a115-fab93e2b10d7" providerId="ADAL" clId="{4EDBB286-D1F7-47C0-ABC3-11ED6A218307}" dt="2023-03-07T20:50:20.079" v="513" actId="20577"/>
          <ac:spMkLst>
            <pc:docMk/>
            <pc:sldMk cId="244325253" sldId="358"/>
            <ac:spMk id="15" creationId="{10EACE72-8200-6C65-B1AC-F61FC5BBEC4E}"/>
          </ac:spMkLst>
        </pc:spChg>
      </pc:sldChg>
      <pc:sldChg chg="addSp delSp modSp add mod">
        <pc:chgData name="Nikki Masani" userId="9c05372d-bea7-440a-a115-fab93e2b10d7" providerId="ADAL" clId="{4EDBB286-D1F7-47C0-ABC3-11ED6A218307}" dt="2023-03-07T20:52:14.495" v="570" actId="478"/>
        <pc:sldMkLst>
          <pc:docMk/>
          <pc:sldMk cId="2703586326" sldId="359"/>
        </pc:sldMkLst>
        <pc:spChg chg="del">
          <ac:chgData name="Nikki Masani" userId="9c05372d-bea7-440a-a115-fab93e2b10d7" providerId="ADAL" clId="{4EDBB286-D1F7-47C0-ABC3-11ED6A218307}" dt="2023-03-07T20:52:10.555" v="569" actId="478"/>
          <ac:spMkLst>
            <pc:docMk/>
            <pc:sldMk cId="2703586326" sldId="359"/>
            <ac:spMk id="4" creationId="{13F94D68-F45A-608B-F107-5A526A95883C}"/>
          </ac:spMkLst>
        </pc:spChg>
        <pc:spChg chg="add del mod">
          <ac:chgData name="Nikki Masani" userId="9c05372d-bea7-440a-a115-fab93e2b10d7" providerId="ADAL" clId="{4EDBB286-D1F7-47C0-ABC3-11ED6A218307}" dt="2023-03-07T20:52:14.495" v="570" actId="478"/>
          <ac:spMkLst>
            <pc:docMk/>
            <pc:sldMk cId="2703586326" sldId="359"/>
            <ac:spMk id="6" creationId="{2176309F-10DB-42E6-B376-BFD19849F080}"/>
          </ac:spMkLst>
        </pc:spChg>
        <pc:spChg chg="mod">
          <ac:chgData name="Nikki Masani" userId="9c05372d-bea7-440a-a115-fab93e2b10d7" providerId="ADAL" clId="{4EDBB286-D1F7-47C0-ABC3-11ED6A218307}" dt="2023-03-07T20:51:39.273" v="564" actId="20577"/>
          <ac:spMkLst>
            <pc:docMk/>
            <pc:sldMk cId="2703586326" sldId="359"/>
            <ac:spMk id="15" creationId="{10EACE72-8200-6C65-B1AC-F61FC5BBEC4E}"/>
          </ac:spMkLst>
        </pc:spChg>
        <pc:graphicFrameChg chg="add mod modGraphic">
          <ac:chgData name="Nikki Masani" userId="9c05372d-bea7-440a-a115-fab93e2b10d7" providerId="ADAL" clId="{4EDBB286-D1F7-47C0-ABC3-11ED6A218307}" dt="2023-03-07T20:52:06.111" v="568" actId="1076"/>
          <ac:graphicFrameMkLst>
            <pc:docMk/>
            <pc:sldMk cId="2703586326" sldId="359"/>
            <ac:graphicFrameMk id="3" creationId="{A08CAA53-AC2C-3583-4762-D12571574C3F}"/>
          </ac:graphicFrameMkLst>
        </pc:graphicFrameChg>
      </pc:sldChg>
      <pc:sldChg chg="modSp add mod ord">
        <pc:chgData name="Nikki Masani" userId="9c05372d-bea7-440a-a115-fab93e2b10d7" providerId="ADAL" clId="{4EDBB286-D1F7-47C0-ABC3-11ED6A218307}" dt="2023-03-07T20:54:55.489" v="640" actId="20577"/>
        <pc:sldMkLst>
          <pc:docMk/>
          <pc:sldMk cId="3241389047" sldId="360"/>
        </pc:sldMkLst>
        <pc:spChg chg="mod">
          <ac:chgData name="Nikki Masani" userId="9c05372d-bea7-440a-a115-fab93e2b10d7" providerId="ADAL" clId="{4EDBB286-D1F7-47C0-ABC3-11ED6A218307}" dt="2023-03-07T20:52:35.917" v="576"/>
          <ac:spMkLst>
            <pc:docMk/>
            <pc:sldMk cId="3241389047" sldId="360"/>
            <ac:spMk id="2" creationId="{69125542-D540-B766-0FA1-10DE2ED0495C}"/>
          </ac:spMkLst>
        </pc:spChg>
        <pc:spChg chg="mod">
          <ac:chgData name="Nikki Masani" userId="9c05372d-bea7-440a-a115-fab93e2b10d7" providerId="ADAL" clId="{4EDBB286-D1F7-47C0-ABC3-11ED6A218307}" dt="2023-03-07T20:54:55.489" v="640" actId="20577"/>
          <ac:spMkLst>
            <pc:docMk/>
            <pc:sldMk cId="3241389047" sldId="360"/>
            <ac:spMk id="15" creationId="{10EACE72-8200-6C65-B1AC-F61FC5BBEC4E}"/>
          </ac:spMkLst>
        </pc:spChg>
      </pc:sldChg>
      <pc:sldChg chg="modSp add del mod">
        <pc:chgData name="Nikki Masani" userId="9c05372d-bea7-440a-a115-fab93e2b10d7" providerId="ADAL" clId="{4EDBB286-D1F7-47C0-ABC3-11ED6A218307}" dt="2023-03-07T20:55:10.586" v="642" actId="2696"/>
        <pc:sldMkLst>
          <pc:docMk/>
          <pc:sldMk cId="3402080860" sldId="361"/>
        </pc:sldMkLst>
        <pc:spChg chg="mod">
          <ac:chgData name="Nikki Masani" userId="9c05372d-bea7-440a-a115-fab93e2b10d7" providerId="ADAL" clId="{4EDBB286-D1F7-47C0-ABC3-11ED6A218307}" dt="2023-03-07T20:54:50.125" v="636" actId="21"/>
          <ac:spMkLst>
            <pc:docMk/>
            <pc:sldMk cId="3402080860" sldId="361"/>
            <ac:spMk id="15" creationId="{10EACE72-8200-6C65-B1AC-F61FC5BBEC4E}"/>
          </ac:spMkLst>
        </pc:spChg>
      </pc:sldChg>
      <pc:sldChg chg="addSp delSp modSp add mod">
        <pc:chgData name="Nikki Masani" userId="9c05372d-bea7-440a-a115-fab93e2b10d7" providerId="ADAL" clId="{4EDBB286-D1F7-47C0-ABC3-11ED6A218307}" dt="2023-03-07T20:56:46.497" v="666" actId="255"/>
        <pc:sldMkLst>
          <pc:docMk/>
          <pc:sldMk cId="2565564713" sldId="362"/>
        </pc:sldMkLst>
        <pc:spChg chg="del">
          <ac:chgData name="Nikki Masani" userId="9c05372d-bea7-440a-a115-fab93e2b10d7" providerId="ADAL" clId="{4EDBB286-D1F7-47C0-ABC3-11ED6A218307}" dt="2023-03-07T20:56:28.661" v="662" actId="478"/>
          <ac:spMkLst>
            <pc:docMk/>
            <pc:sldMk cId="2565564713" sldId="362"/>
            <ac:spMk id="4" creationId="{13F94D68-F45A-608B-F107-5A526A95883C}"/>
          </ac:spMkLst>
        </pc:spChg>
        <pc:spChg chg="add del mod">
          <ac:chgData name="Nikki Masani" userId="9c05372d-bea7-440a-a115-fab93e2b10d7" providerId="ADAL" clId="{4EDBB286-D1F7-47C0-ABC3-11ED6A218307}" dt="2023-03-07T20:56:31.173" v="663" actId="478"/>
          <ac:spMkLst>
            <pc:docMk/>
            <pc:sldMk cId="2565564713" sldId="362"/>
            <ac:spMk id="5" creationId="{DE6706C4-688C-9B1F-3774-71ACC12ABD4F}"/>
          </ac:spMkLst>
        </pc:spChg>
        <pc:spChg chg="mod">
          <ac:chgData name="Nikki Masani" userId="9c05372d-bea7-440a-a115-fab93e2b10d7" providerId="ADAL" clId="{4EDBB286-D1F7-47C0-ABC3-11ED6A218307}" dt="2023-03-07T20:56:23.237" v="661" actId="5793"/>
          <ac:spMkLst>
            <pc:docMk/>
            <pc:sldMk cId="2565564713" sldId="362"/>
            <ac:spMk id="15" creationId="{10EACE72-8200-6C65-B1AC-F61FC5BBEC4E}"/>
          </ac:spMkLst>
        </pc:spChg>
        <pc:graphicFrameChg chg="add mod modGraphic">
          <ac:chgData name="Nikki Masani" userId="9c05372d-bea7-440a-a115-fab93e2b10d7" providerId="ADAL" clId="{4EDBB286-D1F7-47C0-ABC3-11ED6A218307}" dt="2023-03-07T20:56:46.497" v="666" actId="255"/>
          <ac:graphicFrameMkLst>
            <pc:docMk/>
            <pc:sldMk cId="2565564713" sldId="362"/>
            <ac:graphicFrameMk id="6" creationId="{1B710399-49DC-8F18-5C84-97B1DFB1437E}"/>
          </ac:graphicFrameMkLst>
        </pc:graphicFrameChg>
      </pc:sldChg>
      <pc:sldChg chg="addSp delSp modSp add del mod">
        <pc:chgData name="Nikki Masani" userId="9c05372d-bea7-440a-a115-fab93e2b10d7" providerId="ADAL" clId="{4EDBB286-D1F7-47C0-ABC3-11ED6A218307}" dt="2023-03-07T20:56:49.906" v="667" actId="47"/>
        <pc:sldMkLst>
          <pc:docMk/>
          <pc:sldMk cId="3255504060" sldId="363"/>
        </pc:sldMkLst>
        <pc:spChg chg="add del mod">
          <ac:chgData name="Nikki Masani" userId="9c05372d-bea7-440a-a115-fab93e2b10d7" providerId="ADAL" clId="{4EDBB286-D1F7-47C0-ABC3-11ED6A218307}" dt="2023-03-07T20:55:45.263" v="650" actId="47"/>
          <ac:spMkLst>
            <pc:docMk/>
            <pc:sldMk cId="3255504060" sldId="363"/>
            <ac:spMk id="15" creationId="{10EACE72-8200-6C65-B1AC-F61FC5BBEC4E}"/>
          </ac:spMkLst>
        </pc:spChg>
      </pc:sldChg>
      <pc:sldChg chg="addSp modSp add mod modNotesTx">
        <pc:chgData name="Nikki Masani" userId="9c05372d-bea7-440a-a115-fab93e2b10d7" providerId="ADAL" clId="{4EDBB286-D1F7-47C0-ABC3-11ED6A218307}" dt="2023-03-08T00:06:16.733" v="4769" actId="14100"/>
        <pc:sldMkLst>
          <pc:docMk/>
          <pc:sldMk cId="3345947397" sldId="363"/>
        </pc:sldMkLst>
        <pc:spChg chg="mod">
          <ac:chgData name="Nikki Masani" userId="9c05372d-bea7-440a-a115-fab93e2b10d7" providerId="ADAL" clId="{4EDBB286-D1F7-47C0-ABC3-11ED6A218307}" dt="2023-03-08T00:06:10.825" v="4767" actId="113"/>
          <ac:spMkLst>
            <pc:docMk/>
            <pc:sldMk cId="3345947397" sldId="363"/>
            <ac:spMk id="4" creationId="{13F94D68-F45A-608B-F107-5A526A95883C}"/>
          </ac:spMkLst>
        </pc:spChg>
        <pc:picChg chg="add mod">
          <ac:chgData name="Nikki Masani" userId="9c05372d-bea7-440a-a115-fab93e2b10d7" providerId="ADAL" clId="{4EDBB286-D1F7-47C0-ABC3-11ED6A218307}" dt="2023-03-08T00:06:16.733" v="4769" actId="14100"/>
          <ac:picMkLst>
            <pc:docMk/>
            <pc:sldMk cId="3345947397" sldId="363"/>
            <ac:picMk id="5" creationId="{94372E42-D7D0-F749-95E9-63EB1081D3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171450" indent="-171450">
              <a:buFont typeface="Arial" panose="020B0604020202020204" pitchFamily="34" charset="0"/>
              <a:buChar char="•"/>
            </a:pPr>
            <a:r>
              <a:rPr lang="en-US" dirty="0"/>
              <a:t>We should just naturally have these morals (not necessarily a PMI requirement)</a:t>
            </a:r>
          </a:p>
          <a:p>
            <a:pPr marL="171450" indent="-171450">
              <a:buFont typeface="Arial" panose="020B0604020202020204" pitchFamily="34" charset="0"/>
              <a:buChar char="•"/>
            </a:pPr>
            <a:r>
              <a:rPr lang="en-US" dirty="0"/>
              <a:t>As project managers, you are generally expected to have these things.</a:t>
            </a:r>
          </a:p>
          <a:p>
            <a:pPr marL="171450" indent="-171450">
              <a:buFont typeface="Arial" panose="020B0604020202020204" pitchFamily="34" charset="0"/>
              <a:buChar char="•"/>
            </a:pPr>
            <a:r>
              <a:rPr lang="en-US" dirty="0"/>
              <a:t>Most operational managers will utilize these principles because they are so generic.</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480199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As a PM, the “something” you are taking care of is generally a project.</a:t>
            </a:r>
          </a:p>
          <a:p>
            <a:endParaRPr lang="en-US" dirty="0"/>
          </a:p>
        </p:txBody>
      </p:sp>
    </p:spTree>
    <p:extLst>
      <p:ext uri="{BB962C8B-B14F-4D97-AF65-F5344CB8AC3E}">
        <p14:creationId xmlns:p14="http://schemas.microsoft.com/office/powerpoint/2010/main" val="4051211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Who does the work on the project? Who creates the deliverable? The PROJECT TEAM DOES!</a:t>
            </a:r>
          </a:p>
          <a:p>
            <a:r>
              <a:rPr lang="en-US" dirty="0"/>
              <a:t>Need to build an environment where the team likes to work.’</a:t>
            </a:r>
          </a:p>
          <a:p>
            <a:r>
              <a:rPr lang="en-US" dirty="0"/>
              <a:t>Teams should work as a unit, not individually (siloed).</a:t>
            </a:r>
          </a:p>
          <a:p>
            <a:r>
              <a:rPr lang="en-US" dirty="0"/>
              <a:t>The deliverable is not a set of different work, it’s a set of collaborative work.</a:t>
            </a:r>
          </a:p>
          <a:p>
            <a:r>
              <a:rPr lang="en-US" dirty="0"/>
              <a:t>They need to work together to get the work done correctly and efficiently.</a:t>
            </a:r>
          </a:p>
          <a:p>
            <a:endParaRPr lang="en-US" dirty="0"/>
          </a:p>
          <a:p>
            <a:r>
              <a:rPr lang="en-US" dirty="0"/>
              <a:t>When your team is working sufficiently they still have to comply with organizational culture (whether that be </a:t>
            </a:r>
            <a:r>
              <a:rPr lang="en-US" dirty="0" err="1"/>
              <a:t>adhoc</a:t>
            </a:r>
            <a:r>
              <a:rPr lang="en-US" dirty="0"/>
              <a:t> or process oriented).</a:t>
            </a:r>
          </a:p>
          <a:p>
            <a:endParaRPr lang="en-US" dirty="0"/>
          </a:p>
        </p:txBody>
      </p:sp>
    </p:spTree>
    <p:extLst>
      <p:ext uri="{BB962C8B-B14F-4D97-AF65-F5344CB8AC3E}">
        <p14:creationId xmlns:p14="http://schemas.microsoft.com/office/powerpoint/2010/main" val="270419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The team should not feel like they are dependent on you the entire time (servant leadership)- they should feel like their opinion matters. </a:t>
            </a:r>
          </a:p>
          <a:p>
            <a:endParaRPr lang="en-US" dirty="0"/>
          </a:p>
        </p:txBody>
      </p:sp>
    </p:spTree>
    <p:extLst>
      <p:ext uri="{BB962C8B-B14F-4D97-AF65-F5344CB8AC3E}">
        <p14:creationId xmlns:p14="http://schemas.microsoft.com/office/powerpoint/2010/main" val="1845372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PMBOK-Stakeholder is usually referring to the customer. </a:t>
            </a:r>
          </a:p>
          <a:p>
            <a:endParaRPr lang="en-US" dirty="0"/>
          </a:p>
          <a:p>
            <a:endParaRPr lang="en-US" dirty="0"/>
          </a:p>
        </p:txBody>
      </p:sp>
    </p:spTree>
    <p:extLst>
      <p:ext uri="{BB962C8B-B14F-4D97-AF65-F5344CB8AC3E}">
        <p14:creationId xmlns:p14="http://schemas.microsoft.com/office/powerpoint/2010/main" val="1404110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latin typeface="Calibri" panose="020F0502020204030204" pitchFamily="34" charset="0"/>
              </a:rPr>
              <a:t>Why do you buy the things you buy? Because you perceive some value behind it. The output of a project will deliver some kind of value that the stakeholder wants. People purchase ON value. We as PMs need to ensure that the products and services and results coming out of our project has value to our customers.</a:t>
            </a:r>
          </a:p>
          <a:p>
            <a:endParaRPr lang="en-US" dirty="0"/>
          </a:p>
        </p:txBody>
      </p:sp>
    </p:spTree>
    <p:extLst>
      <p:ext uri="{BB962C8B-B14F-4D97-AF65-F5344CB8AC3E}">
        <p14:creationId xmlns:p14="http://schemas.microsoft.com/office/powerpoint/2010/main" val="1381454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811927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707288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2957442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3333263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1924731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679542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All projects have many individual components such as risk, quality, scope, schedule and costs. We need to " build the system that allows all the different components of a project to interact and be able to act in a unified way to produce those deliverables.</a:t>
            </a:r>
          </a:p>
          <a:p>
            <a:endParaRPr lang="en-US" dirty="0"/>
          </a:p>
        </p:txBody>
      </p:sp>
    </p:spTree>
    <p:extLst>
      <p:ext uri="{BB962C8B-B14F-4D97-AF65-F5344CB8AC3E}">
        <p14:creationId xmlns:p14="http://schemas.microsoft.com/office/powerpoint/2010/main" val="1636437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05060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88720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Principles Vs Performance Domains-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Principles are followed while your project is started, while it's going, and when your project is 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404040"/>
                </a:solidFill>
                <a:effectLst/>
                <a:latin typeface="Times New Roman" panose="02020603050405020304" pitchFamily="18" charset="0"/>
              </a:rPr>
              <a:t>Performance Domains are activities that you're going to do during the project to ensure the project is delivered effectively. AKA: what you do as the work is getting done. The principles will guide you. What you do during the project in unison with Principles to ensure deliverables are being met. </a:t>
            </a:r>
          </a:p>
          <a:p>
            <a:endParaRPr lang="en-US" dirty="0"/>
          </a:p>
        </p:txBody>
      </p:sp>
    </p:spTree>
    <p:extLst>
      <p:ext uri="{BB962C8B-B14F-4D97-AF65-F5344CB8AC3E}">
        <p14:creationId xmlns:p14="http://schemas.microsoft.com/office/powerpoint/2010/main" val="2234058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The Principles will be the guided behavior itself when doing these eight domains.</a:t>
            </a:r>
          </a:p>
          <a:p>
            <a:endParaRPr lang="en-US" dirty="0"/>
          </a:p>
          <a:p>
            <a:r>
              <a:rPr lang="en-US" dirty="0"/>
              <a:t>When you’re doing the work on an Agile Project project and managing the project, you’re engaging stakeholders, managing your team, choosing the right development approach, planning the actual work on the project, doing the project work, delivering the work to the customer after the deliverables have been built, measuring that the work that has gotten done, and asking yourself- “are we on plan?” “Are we following the right budget?”</a:t>
            </a:r>
          </a:p>
        </p:txBody>
      </p:sp>
    </p:spTree>
    <p:extLst>
      <p:ext uri="{BB962C8B-B14F-4D97-AF65-F5344CB8AC3E}">
        <p14:creationId xmlns:p14="http://schemas.microsoft.com/office/powerpoint/2010/main" val="1925501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You cannot have a project with out stakeholders. Stakeholders is anyone who is impacted by the project, people that are positively impacted, such as customers, or people that are negatively impacted, such as people losing their job because your project is optimized as the processes in the businesses.</a:t>
            </a:r>
          </a:p>
          <a:p>
            <a:endParaRPr lang="en-US" dirty="0"/>
          </a:p>
          <a:p>
            <a:r>
              <a:rPr lang="en-US" dirty="0"/>
              <a:t>This is what we’re going to be doing to deliver that product or service at the end. </a:t>
            </a:r>
          </a:p>
          <a:p>
            <a:endParaRPr lang="en-US" dirty="0"/>
          </a:p>
          <a:p>
            <a:r>
              <a:rPr lang="en-US" dirty="0"/>
              <a:t>You want to minimize the stakeholders with negative impact, and ensure that the people who are negatively impacted do not negatively impact the project outcome. </a:t>
            </a:r>
          </a:p>
          <a:p>
            <a:endParaRPr lang="en-US" dirty="0"/>
          </a:p>
        </p:txBody>
      </p:sp>
    </p:spTree>
    <p:extLst>
      <p:ext uri="{BB962C8B-B14F-4D97-AF65-F5344CB8AC3E}">
        <p14:creationId xmlns:p14="http://schemas.microsoft.com/office/powerpoint/2010/main" val="1696138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Identify- Stakeholders will be identified THROUGHOUT the project. Examples, a stakeholder that was identified at the beginning of the project can leave in the middle and replaced with a different stakeholder, who will have to be reanalyzed. Stakeholders come and go- not static.</a:t>
            </a:r>
          </a:p>
          <a:p>
            <a:endParaRPr lang="en-US" dirty="0"/>
          </a:p>
          <a:p>
            <a:r>
              <a:rPr lang="en-US" dirty="0"/>
              <a:t>Understand and Analyze- Are you stakeholders being negatively or positively impacted on the project? If negative, they will be very hesitant to talk to you and often push back.</a:t>
            </a:r>
          </a:p>
          <a:p>
            <a:endParaRPr lang="en-US" dirty="0"/>
          </a:p>
          <a:p>
            <a:r>
              <a:rPr lang="en-US" dirty="0"/>
              <a:t>Prioritize -There will be stakeholders that will give you a lot of requirements and will bear more weight on what requirements they tell you need to get done, than when others tell you what needs to get done. EX: When the CEO says this when and how a requirement should be done, it will more likely hold more weight and be prioritized first. </a:t>
            </a:r>
          </a:p>
          <a:p>
            <a:endParaRPr lang="en-US" dirty="0"/>
          </a:p>
          <a:p>
            <a:r>
              <a:rPr lang="en-US" dirty="0"/>
              <a:t>Engage- ALWAYS ENGAGE THE STAKEHOLDER! You get requirements and how they are expected to be managed by engaging with the stakeholder.</a:t>
            </a:r>
          </a:p>
          <a:p>
            <a:endParaRPr lang="en-US" dirty="0"/>
          </a:p>
          <a:p>
            <a:r>
              <a:rPr lang="en-US" dirty="0"/>
              <a:t>Monitor- Back to point number 1!</a:t>
            </a:r>
          </a:p>
        </p:txBody>
      </p:sp>
    </p:spTree>
    <p:extLst>
      <p:ext uri="{BB962C8B-B14F-4D97-AF65-F5344CB8AC3E}">
        <p14:creationId xmlns:p14="http://schemas.microsoft.com/office/powerpoint/2010/main" val="436186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This chart is a tool used to identify what we want to see out of the performance domain (Outcome) and how to check it (Check).</a:t>
            </a:r>
          </a:p>
        </p:txBody>
      </p:sp>
    </p:spTree>
    <p:extLst>
      <p:ext uri="{BB962C8B-B14F-4D97-AF65-F5344CB8AC3E}">
        <p14:creationId xmlns:p14="http://schemas.microsoft.com/office/powerpoint/2010/main" val="799167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One of the indicators of whether a project is going to be successful is a high performance team. How do you get a high performance team with good leadership skills? </a:t>
            </a:r>
          </a:p>
          <a:p>
            <a:endParaRPr lang="en-US" dirty="0"/>
          </a:p>
        </p:txBody>
      </p:sp>
    </p:spTree>
    <p:extLst>
      <p:ext uri="{BB962C8B-B14F-4D97-AF65-F5344CB8AC3E}">
        <p14:creationId xmlns:p14="http://schemas.microsoft.com/office/powerpoint/2010/main" val="1310741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Is there a difference between Managers and Leaders? There are points in the project where you will have to be both.</a:t>
            </a:r>
          </a:p>
          <a:p>
            <a:endParaRPr lang="en-US" dirty="0"/>
          </a:p>
        </p:txBody>
      </p:sp>
    </p:spTree>
    <p:extLst>
      <p:ext uri="{BB962C8B-B14F-4D97-AF65-F5344CB8AC3E}">
        <p14:creationId xmlns:p14="http://schemas.microsoft.com/office/powerpoint/2010/main" val="2581658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Distributed: An agile team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800" dirty="0">
              <a:solidFill>
                <a:schemeClr val="accent6"/>
              </a:solidFill>
              <a:latin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A team must grow individually to grow as a whole. </a:t>
            </a:r>
          </a:p>
          <a:p>
            <a:endParaRPr lang="en-US" dirty="0"/>
          </a:p>
        </p:txBody>
      </p:sp>
    </p:spTree>
    <p:extLst>
      <p:ext uri="{BB962C8B-B14F-4D97-AF65-F5344CB8AC3E}">
        <p14:creationId xmlns:p14="http://schemas.microsoft.com/office/powerpoint/2010/main" val="1855502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Common Aspects of Team Development: How do we develop as a team?</a:t>
            </a:r>
          </a:p>
          <a:p>
            <a:endParaRPr lang="en-US" dirty="0"/>
          </a:p>
        </p:txBody>
      </p:sp>
    </p:spTree>
    <p:extLst>
      <p:ext uri="{BB962C8B-B14F-4D97-AF65-F5344CB8AC3E}">
        <p14:creationId xmlns:p14="http://schemas.microsoft.com/office/powerpoint/2010/main" val="26238080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About 60% of the exam questions are based on resolving problems within a team (conflict management methods). </a:t>
            </a:r>
          </a:p>
          <a:p>
            <a:endParaRPr lang="en-US" dirty="0"/>
          </a:p>
        </p:txBody>
      </p:sp>
    </p:spTree>
    <p:extLst>
      <p:ext uri="{BB962C8B-B14F-4D97-AF65-F5344CB8AC3E}">
        <p14:creationId xmlns:p14="http://schemas.microsoft.com/office/powerpoint/2010/main" val="3207490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267744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Iterative- keep building the deliverable until it’s complete, but there’s only one delivery. </a:t>
            </a:r>
            <a:endParaRPr lang="en-US" dirty="0"/>
          </a:p>
        </p:txBody>
      </p:sp>
    </p:spTree>
    <p:extLst>
      <p:ext uri="{BB962C8B-B14F-4D97-AF65-F5344CB8AC3E}">
        <p14:creationId xmlns:p14="http://schemas.microsoft.com/office/powerpoint/2010/main" val="2662868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Figure 2-10 shows a life cycle with an incremental development approach. There are three iterations of plan, design, and build shown in this example. Each subsequent build would add functionality to the initial build.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Figure 2-11 shows a life cycle using an adaptive development approach. At the end of each iteration (sometimes known as a sprint ), the customer reviews a functional deliverable. At the review, the key stakeholders provide feedback, and the project team updates the project backlog of features and functions to prioritize for the next iteration.</a:t>
            </a:r>
          </a:p>
        </p:txBody>
      </p:sp>
    </p:spTree>
    <p:extLst>
      <p:ext uri="{BB962C8B-B14F-4D97-AF65-F5344CB8AC3E}">
        <p14:creationId xmlns:p14="http://schemas.microsoft.com/office/powerpoint/2010/main" val="1056681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Figure 2-11 shows a life cycle using an adaptive development approach. At the end of each iteration (sometimes known as a sprint ), the customer reviews a functional deliverable. At the review, the key stakeholders provide feedback, and the project team updates the project backlog of features and functions to prioritize for the next iteration.</a:t>
            </a:r>
          </a:p>
        </p:txBody>
      </p:sp>
    </p:spTree>
    <p:extLst>
      <p:ext uri="{BB962C8B-B14F-4D97-AF65-F5344CB8AC3E}">
        <p14:creationId xmlns:p14="http://schemas.microsoft.com/office/powerpoint/2010/main" val="1927952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594199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You must ensure adequate planning has been done before starting the work.</a:t>
            </a:r>
          </a:p>
          <a:p>
            <a:endParaRPr lang="en-US" dirty="0"/>
          </a:p>
        </p:txBody>
      </p:sp>
    </p:spTree>
    <p:extLst>
      <p:ext uri="{BB962C8B-B14F-4D97-AF65-F5344CB8AC3E}">
        <p14:creationId xmlns:p14="http://schemas.microsoft.com/office/powerpoint/2010/main" val="3793285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accent6"/>
                </a:solidFill>
                <a:latin typeface="Calibri" panose="020F0502020204030204" pitchFamily="34" charset="0"/>
              </a:rPr>
              <a:t>Every project has changes. </a:t>
            </a:r>
          </a:p>
          <a:p>
            <a:endParaRPr lang="en-US" dirty="0"/>
          </a:p>
        </p:txBody>
      </p:sp>
    </p:spTree>
    <p:extLst>
      <p:ext uri="{BB962C8B-B14F-4D97-AF65-F5344CB8AC3E}">
        <p14:creationId xmlns:p14="http://schemas.microsoft.com/office/powerpoint/2010/main" val="2847903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IF YOU FAIL TO PLAN, YOU PLAN TO FAIL!!</a:t>
            </a:r>
          </a:p>
        </p:txBody>
      </p:sp>
    </p:spTree>
    <p:extLst>
      <p:ext uri="{BB962C8B-B14F-4D97-AF65-F5344CB8AC3E}">
        <p14:creationId xmlns:p14="http://schemas.microsoft.com/office/powerpoint/2010/main" val="30777447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a:spcBef>
                <a:spcPts val="0"/>
              </a:spcBef>
              <a:spcAft>
                <a:spcPts val="0"/>
              </a:spcAft>
            </a:pPr>
            <a:r>
              <a:rPr lang="en-US" sz="1800" dirty="0">
                <a:solidFill>
                  <a:srgbClr val="404040"/>
                </a:solidFill>
                <a:effectLst/>
                <a:latin typeface="Times New Roman" panose="02020603050405020304" pitchFamily="18" charset="0"/>
              </a:rPr>
              <a:t>When finished planning, you have to do the work… so how do you manage the work to drive the expected deliverables and the expected outcome?</a:t>
            </a:r>
          </a:p>
          <a:p>
            <a:endParaRPr lang="en-US" dirty="0"/>
          </a:p>
          <a:p>
            <a:endParaRPr lang="en-US" dirty="0"/>
          </a:p>
          <a:p>
            <a:r>
              <a:rPr lang="en-US" dirty="0"/>
              <a:t>WHO DOES THE WORK? The team!</a:t>
            </a:r>
          </a:p>
        </p:txBody>
      </p:sp>
    </p:spTree>
    <p:extLst>
      <p:ext uri="{BB962C8B-B14F-4D97-AF65-F5344CB8AC3E}">
        <p14:creationId xmlns:p14="http://schemas.microsoft.com/office/powerpoint/2010/main" val="42917602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94272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974209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14047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70859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0655416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855326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190415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078836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69059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hyperlink" Target="https://miro.com/welcomeonboard/TXgza1g0azBvSkF3V3g5QUZQZlYyb3BEUlU4RHdpeHBIYUZlV1FZeUxjdGd1V1dsNGxvdk9sbGU4SGVxOG8zRnwzMDc0NDU3MzQ4ODYyMzk0MTk1fDI=?share_link_id=425593114922"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hemeOverride" Target="../theme/themeOverride3.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hemeOverride" Target="../theme/themeOverride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hemeOverride" Target="../theme/themeOverride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hemeOverride" Target="../theme/themeOverride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hemeOverride" Target="../theme/themeOverride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hemeOverride" Target="../theme/themeOverride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hemeOverride" Target="../theme/themeOverride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hemeOverride" Target="../theme/themeOverride1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hemeOverride" Target="../theme/themeOverride13.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hemeOverride" Target="../theme/themeOverride1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hemeOverride" Target="../theme/themeOverride1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hemeOverride" Target="../theme/themeOverride1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hemeOverride" Target="../theme/themeOverride1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hemeOverride" Target="../theme/themeOverride1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hemeOverride" Target="../theme/themeOverride1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hemeOverride" Target="../theme/themeOverride2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hemeOverride" Target="../theme/themeOverride2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hemeOverride" Target="../theme/themeOverride2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hemeOverride" Target="../theme/themeOverride2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hemeOverride" Target="../theme/themeOverride2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hemeOverride" Target="../theme/themeOverride2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hemeOverride" Target="../theme/themeOverride2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hemeOverride" Target="../theme/themeOverr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r>
              <a:rPr lang="en-US" dirty="0" err="1"/>
              <a:t>Pmp</a:t>
            </a:r>
            <a:r>
              <a:rPr lang="en-US" dirty="0"/>
              <a:t> study group</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p:txBody>
          <a:bodyPr/>
          <a:lstStyle/>
          <a:p>
            <a:r>
              <a:rPr lang="en-US" dirty="0"/>
              <a:t>Week 2</a:t>
            </a:r>
          </a:p>
          <a:p>
            <a:r>
              <a:rPr lang="en-US" dirty="0"/>
              <a:t>Concept Review​</a:t>
            </a:r>
          </a:p>
          <a:p>
            <a:endParaRPr lang="en-US" dirty="0"/>
          </a:p>
        </p:txBody>
      </p:sp>
      <p:sp>
        <p:nvSpPr>
          <p:cNvPr id="4" name="TextBox 3">
            <a:extLst>
              <a:ext uri="{FF2B5EF4-FFF2-40B4-BE49-F238E27FC236}">
                <a16:creationId xmlns:a16="http://schemas.microsoft.com/office/drawing/2014/main" id="{4B368763-A103-D834-692F-B42B592ECEBD}"/>
              </a:ext>
            </a:extLst>
          </p:cNvPr>
          <p:cNvSpPr txBox="1"/>
          <p:nvPr/>
        </p:nvSpPr>
        <p:spPr>
          <a:xfrm>
            <a:off x="4985632" y="6298250"/>
            <a:ext cx="2856872" cy="369332"/>
          </a:xfrm>
          <a:prstGeom prst="rect">
            <a:avLst/>
          </a:prstGeom>
          <a:noFill/>
        </p:spPr>
        <p:txBody>
          <a:bodyPr wrap="none" rtlCol="0">
            <a:spAutoFit/>
          </a:bodyPr>
          <a:lstStyle/>
          <a:p>
            <a:r>
              <a:rPr lang="en-US" dirty="0"/>
              <a:t>Presented by: Nikki Masani</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0A5BFC-C134-C072-C14D-9E51A94C8E7E}"/>
              </a:ext>
            </a:extLst>
          </p:cNvPr>
          <p:cNvSpPr>
            <a:spLocks noGrp="1"/>
          </p:cNvSpPr>
          <p:nvPr>
            <p:ph type="title"/>
          </p:nvPr>
        </p:nvSpPr>
        <p:spPr/>
        <p:txBody>
          <a:bodyPr/>
          <a:lstStyle/>
          <a:p>
            <a:r>
              <a:rPr lang="en-US" dirty="0"/>
              <a:t>Study Group Session Plan</a:t>
            </a:r>
            <a:br>
              <a:rPr lang="en-US" dirty="0"/>
            </a:br>
            <a:r>
              <a:rPr lang="en-US" sz="1600" dirty="0"/>
              <a:t>Wednesdays @ 6:30 PM- Hosted on discord</a:t>
            </a:r>
          </a:p>
        </p:txBody>
      </p:sp>
      <p:sp>
        <p:nvSpPr>
          <p:cNvPr id="373" name="Footer Placeholder 372">
            <a:extLst>
              <a:ext uri="{FF2B5EF4-FFF2-40B4-BE49-F238E27FC236}">
                <a16:creationId xmlns:a16="http://schemas.microsoft.com/office/drawing/2014/main" id="{EC015AD8-FC03-181D-1A34-AD00F66C42C2}"/>
              </a:ext>
            </a:extLst>
          </p:cNvPr>
          <p:cNvSpPr>
            <a:spLocks noGrp="1"/>
          </p:cNvSpPr>
          <p:nvPr>
            <p:ph type="ftr" sz="quarter" idx="11"/>
          </p:nvPr>
        </p:nvSpPr>
        <p:spPr/>
        <p:txBody>
          <a:bodyPr/>
          <a:lstStyle/>
          <a:p>
            <a:endParaRPr lang="en-US" dirty="0"/>
          </a:p>
        </p:txBody>
      </p:sp>
      <p:sp>
        <p:nvSpPr>
          <p:cNvPr id="374" name="Slide Number Placeholder 373">
            <a:extLst>
              <a:ext uri="{FF2B5EF4-FFF2-40B4-BE49-F238E27FC236}">
                <a16:creationId xmlns:a16="http://schemas.microsoft.com/office/drawing/2014/main" id="{049B2870-98EC-2977-8CE4-A7AA3009991A}"/>
              </a:ext>
            </a:extLst>
          </p:cNvPr>
          <p:cNvSpPr>
            <a:spLocks noGrp="1"/>
          </p:cNvSpPr>
          <p:nvPr>
            <p:ph type="sldNum" sz="quarter" idx="12"/>
          </p:nvPr>
        </p:nvSpPr>
        <p:spPr/>
        <p:txBody>
          <a:bodyPr/>
          <a:lstStyle/>
          <a:p>
            <a:fld id="{48F63A3B-78C7-47BE-AE5E-E10140E04643}" type="slidenum">
              <a:rPr lang="en-US" smtClean="0"/>
              <a:pPr/>
              <a:t>2</a:t>
            </a:fld>
            <a:endParaRPr lang="en-US" dirty="0"/>
          </a:p>
        </p:txBody>
      </p:sp>
      <p:sp>
        <p:nvSpPr>
          <p:cNvPr id="19" name="Text Placeholder 18">
            <a:extLst>
              <a:ext uri="{FF2B5EF4-FFF2-40B4-BE49-F238E27FC236}">
                <a16:creationId xmlns:a16="http://schemas.microsoft.com/office/drawing/2014/main" id="{270C77AB-7E91-84A6-3E62-DAB80E1E4481}"/>
              </a:ext>
            </a:extLst>
          </p:cNvPr>
          <p:cNvSpPr>
            <a:spLocks noGrp="1"/>
          </p:cNvSpPr>
          <p:nvPr>
            <p:ph type="body" idx="1"/>
          </p:nvPr>
        </p:nvSpPr>
        <p:spPr/>
        <p:txBody>
          <a:bodyPr/>
          <a:lstStyle/>
          <a:p>
            <a:pPr lvl="0"/>
            <a:r>
              <a:rPr lang="en-US" dirty="0"/>
              <a:t>Week 1</a:t>
            </a:r>
          </a:p>
          <a:p>
            <a:pPr lvl="0"/>
            <a:r>
              <a:rPr lang="en-US" dirty="0"/>
              <a:t>Concept Review</a:t>
            </a:r>
          </a:p>
        </p:txBody>
      </p:sp>
      <p:pic>
        <p:nvPicPr>
          <p:cNvPr id="292" name="Picture Placeholder 291" descr="checklist icon">
            <a:extLst>
              <a:ext uri="{FF2B5EF4-FFF2-40B4-BE49-F238E27FC236}">
                <a16:creationId xmlns:a16="http://schemas.microsoft.com/office/drawing/2014/main" id="{8167DB44-EDED-0971-E35D-A5FA1E47C215}"/>
              </a:ext>
            </a:extLst>
          </p:cNvPr>
          <p:cNvPicPr>
            <a:picLocks noGrp="1" noChangeAspect="1"/>
          </p:cNvPicPr>
          <p:nvPr>
            <p:ph type="pic" sz="quarter" idx="23"/>
          </p:nvPr>
        </p:nvPicPr>
        <p:blipFill rotWithShape="1">
          <a:blip r:embed="rId2"/>
          <a:srcRect/>
          <a:stretch/>
        </p:blipFill>
        <p:spPr/>
      </p:pic>
      <p:sp>
        <p:nvSpPr>
          <p:cNvPr id="24" name="Text Placeholder 23">
            <a:extLst>
              <a:ext uri="{FF2B5EF4-FFF2-40B4-BE49-F238E27FC236}">
                <a16:creationId xmlns:a16="http://schemas.microsoft.com/office/drawing/2014/main" id="{A3BF8E55-B2B9-104D-F277-08902534735D}"/>
              </a:ext>
            </a:extLst>
          </p:cNvPr>
          <p:cNvSpPr>
            <a:spLocks noGrp="1"/>
          </p:cNvSpPr>
          <p:nvPr>
            <p:ph type="body" sz="quarter" idx="18"/>
          </p:nvPr>
        </p:nvSpPr>
        <p:spPr>
          <a:xfrm>
            <a:off x="731058" y="4030378"/>
            <a:ext cx="1920240" cy="1371600"/>
          </a:xfrm>
        </p:spPr>
        <p:txBody>
          <a:bodyPr/>
          <a:lstStyle/>
          <a:p>
            <a:pPr lvl="0"/>
            <a:r>
              <a:rPr lang="en-US" dirty="0"/>
              <a:t>Will use Andrew’s Udemy course to structure out what concepts will be covered. </a:t>
            </a:r>
          </a:p>
        </p:txBody>
      </p:sp>
      <p:sp>
        <p:nvSpPr>
          <p:cNvPr id="20" name="Text Placeholder 19">
            <a:extLst>
              <a:ext uri="{FF2B5EF4-FFF2-40B4-BE49-F238E27FC236}">
                <a16:creationId xmlns:a16="http://schemas.microsoft.com/office/drawing/2014/main" id="{15DD9AC8-4A5F-70DB-AA68-C461059D81A1}"/>
              </a:ext>
            </a:extLst>
          </p:cNvPr>
          <p:cNvSpPr>
            <a:spLocks noGrp="1"/>
          </p:cNvSpPr>
          <p:nvPr>
            <p:ph type="body" sz="quarter" idx="3"/>
          </p:nvPr>
        </p:nvSpPr>
        <p:spPr/>
        <p:txBody>
          <a:bodyPr/>
          <a:lstStyle/>
          <a:p>
            <a:r>
              <a:rPr lang="en-US" dirty="0"/>
              <a:t>Week 2</a:t>
            </a:r>
          </a:p>
          <a:p>
            <a:pPr lvl="0"/>
            <a:r>
              <a:rPr lang="en-US" dirty="0"/>
              <a:t>Concept Review</a:t>
            </a:r>
          </a:p>
          <a:p>
            <a:endParaRPr lang="en-US" dirty="0"/>
          </a:p>
        </p:txBody>
      </p:sp>
      <p:pic>
        <p:nvPicPr>
          <p:cNvPr id="290" name="Picture Placeholder 289" descr="person with loud speaker icon">
            <a:extLst>
              <a:ext uri="{FF2B5EF4-FFF2-40B4-BE49-F238E27FC236}">
                <a16:creationId xmlns:a16="http://schemas.microsoft.com/office/drawing/2014/main" id="{E63515FB-9439-CCAE-C220-6F0E5ECB75E8}"/>
              </a:ext>
            </a:extLst>
          </p:cNvPr>
          <p:cNvPicPr>
            <a:picLocks noGrp="1" noChangeAspect="1"/>
          </p:cNvPicPr>
          <p:nvPr>
            <p:ph type="pic" sz="quarter" idx="27"/>
          </p:nvPr>
        </p:nvPicPr>
        <p:blipFill rotWithShape="1">
          <a:blip r:embed="rId3"/>
          <a:srcRect t="113" b="113"/>
          <a:stretch/>
        </p:blipFill>
        <p:spPr/>
      </p:pic>
      <p:sp>
        <p:nvSpPr>
          <p:cNvPr id="25" name="Text Placeholder 24">
            <a:extLst>
              <a:ext uri="{FF2B5EF4-FFF2-40B4-BE49-F238E27FC236}">
                <a16:creationId xmlns:a16="http://schemas.microsoft.com/office/drawing/2014/main" id="{BCE9DA14-62AB-A857-6387-1F5D330B3F36}"/>
              </a:ext>
            </a:extLst>
          </p:cNvPr>
          <p:cNvSpPr>
            <a:spLocks noGrp="1"/>
          </p:cNvSpPr>
          <p:nvPr>
            <p:ph type="body" sz="quarter" idx="19"/>
          </p:nvPr>
        </p:nvSpPr>
        <p:spPr/>
        <p:txBody>
          <a:bodyPr/>
          <a:lstStyle/>
          <a:p>
            <a:pPr lvl="0"/>
            <a:r>
              <a:rPr lang="en-US" dirty="0"/>
              <a:t>Will use Andrew’s Udemy course to structure out what concepts will be covered. </a:t>
            </a:r>
          </a:p>
        </p:txBody>
      </p:sp>
      <p:sp>
        <p:nvSpPr>
          <p:cNvPr id="21" name="Text Placeholder 20">
            <a:extLst>
              <a:ext uri="{FF2B5EF4-FFF2-40B4-BE49-F238E27FC236}">
                <a16:creationId xmlns:a16="http://schemas.microsoft.com/office/drawing/2014/main" id="{A28A203B-0CF0-2AB0-5F54-07C8E3003918}"/>
              </a:ext>
            </a:extLst>
          </p:cNvPr>
          <p:cNvSpPr>
            <a:spLocks noGrp="1"/>
          </p:cNvSpPr>
          <p:nvPr>
            <p:ph type="body" sz="quarter" idx="13"/>
          </p:nvPr>
        </p:nvSpPr>
        <p:spPr/>
        <p:txBody>
          <a:bodyPr/>
          <a:lstStyle/>
          <a:p>
            <a:r>
              <a:rPr lang="en-US" dirty="0"/>
              <a:t>Week 3</a:t>
            </a:r>
          </a:p>
          <a:p>
            <a:r>
              <a:rPr lang="en-US" dirty="0"/>
              <a:t>Mock</a:t>
            </a:r>
          </a:p>
          <a:p>
            <a:r>
              <a:rPr lang="en-US" dirty="0"/>
              <a:t>Exam/Review</a:t>
            </a:r>
          </a:p>
          <a:p>
            <a:endParaRPr lang="en-US" dirty="0"/>
          </a:p>
        </p:txBody>
      </p:sp>
      <p:pic>
        <p:nvPicPr>
          <p:cNvPr id="288" name="Picture Placeholder 287" descr="blueprint icon">
            <a:extLst>
              <a:ext uri="{FF2B5EF4-FFF2-40B4-BE49-F238E27FC236}">
                <a16:creationId xmlns:a16="http://schemas.microsoft.com/office/drawing/2014/main" id="{A5707D4A-497A-679A-3ACA-721E8D0E2699}"/>
              </a:ext>
            </a:extLst>
          </p:cNvPr>
          <p:cNvPicPr>
            <a:picLocks noGrp="1" noChangeAspect="1"/>
          </p:cNvPicPr>
          <p:nvPr>
            <p:ph type="pic" sz="quarter" idx="26"/>
          </p:nvPr>
        </p:nvPicPr>
        <p:blipFill rotWithShape="1">
          <a:blip r:embed="rId4"/>
          <a:srcRect t="431" b="431"/>
          <a:stretch/>
        </p:blipFill>
        <p:spPr/>
      </p:pic>
      <p:sp>
        <p:nvSpPr>
          <p:cNvPr id="26" name="Text Placeholder 25">
            <a:extLst>
              <a:ext uri="{FF2B5EF4-FFF2-40B4-BE49-F238E27FC236}">
                <a16:creationId xmlns:a16="http://schemas.microsoft.com/office/drawing/2014/main" id="{710CB940-D45B-59F1-06E5-9CC94100EF05}"/>
              </a:ext>
            </a:extLst>
          </p:cNvPr>
          <p:cNvSpPr>
            <a:spLocks noGrp="1"/>
          </p:cNvSpPr>
          <p:nvPr>
            <p:ph type="body" sz="quarter" idx="20"/>
          </p:nvPr>
        </p:nvSpPr>
        <p:spPr>
          <a:xfrm>
            <a:off x="5162204" y="4030378"/>
            <a:ext cx="1920240" cy="1371600"/>
          </a:xfrm>
        </p:spPr>
        <p:txBody>
          <a:bodyPr/>
          <a:lstStyle/>
          <a:p>
            <a:pPr lvl="0"/>
            <a:r>
              <a:rPr lang="en-US" dirty="0"/>
              <a:t>I will choose a Mock Exam to purchase, and we will take it in real time together.</a:t>
            </a:r>
            <a:br>
              <a:rPr lang="en-US" dirty="0"/>
            </a:br>
            <a:r>
              <a:rPr lang="en-US" dirty="0"/>
              <a:t>Or I will prepare a fun review game.</a:t>
            </a:r>
          </a:p>
        </p:txBody>
      </p:sp>
      <p:sp>
        <p:nvSpPr>
          <p:cNvPr id="22" name="Text Placeholder 21">
            <a:extLst>
              <a:ext uri="{FF2B5EF4-FFF2-40B4-BE49-F238E27FC236}">
                <a16:creationId xmlns:a16="http://schemas.microsoft.com/office/drawing/2014/main" id="{05BC0115-F702-2E0A-61A4-4A6CE33FD775}"/>
              </a:ext>
            </a:extLst>
          </p:cNvPr>
          <p:cNvSpPr>
            <a:spLocks noGrp="1"/>
          </p:cNvSpPr>
          <p:nvPr>
            <p:ph type="body" sz="quarter" idx="15"/>
          </p:nvPr>
        </p:nvSpPr>
        <p:spPr/>
        <p:txBody>
          <a:bodyPr/>
          <a:lstStyle/>
          <a:p>
            <a:r>
              <a:rPr lang="en-US" dirty="0"/>
              <a:t>Week 4</a:t>
            </a:r>
          </a:p>
          <a:p>
            <a:r>
              <a:rPr lang="en-US" dirty="0"/>
              <a:t>Quiz </a:t>
            </a:r>
          </a:p>
          <a:p>
            <a:r>
              <a:rPr lang="en-US" dirty="0"/>
              <a:t>Challenge</a:t>
            </a:r>
          </a:p>
          <a:p>
            <a:endParaRPr lang="en-US" dirty="0"/>
          </a:p>
        </p:txBody>
      </p:sp>
      <p:pic>
        <p:nvPicPr>
          <p:cNvPr id="270" name="Picture Placeholder 269" descr="target icon">
            <a:extLst>
              <a:ext uri="{FF2B5EF4-FFF2-40B4-BE49-F238E27FC236}">
                <a16:creationId xmlns:a16="http://schemas.microsoft.com/office/drawing/2014/main" id="{DE7A4D25-3CA5-F92A-988A-F913C367D593}"/>
              </a:ext>
            </a:extLst>
          </p:cNvPr>
          <p:cNvPicPr>
            <a:picLocks noGrp="1" noChangeAspect="1"/>
          </p:cNvPicPr>
          <p:nvPr>
            <p:ph type="pic" sz="quarter" idx="25"/>
          </p:nvPr>
        </p:nvPicPr>
        <p:blipFill rotWithShape="1">
          <a:blip r:embed="rId5"/>
          <a:srcRect t="113" b="113"/>
          <a:stretch/>
        </p:blipFill>
        <p:spPr/>
      </p:pic>
      <p:sp>
        <p:nvSpPr>
          <p:cNvPr id="27" name="Text Placeholder 26">
            <a:extLst>
              <a:ext uri="{FF2B5EF4-FFF2-40B4-BE49-F238E27FC236}">
                <a16:creationId xmlns:a16="http://schemas.microsoft.com/office/drawing/2014/main" id="{A0DA38E3-68A2-4FF9-022B-BA0DF832B1DB}"/>
              </a:ext>
            </a:extLst>
          </p:cNvPr>
          <p:cNvSpPr>
            <a:spLocks noGrp="1"/>
          </p:cNvSpPr>
          <p:nvPr>
            <p:ph type="body" sz="quarter" idx="21"/>
          </p:nvPr>
        </p:nvSpPr>
        <p:spPr/>
        <p:txBody>
          <a:bodyPr/>
          <a:lstStyle/>
          <a:p>
            <a:pPr lvl="0"/>
            <a:r>
              <a:rPr lang="en-US" dirty="0"/>
              <a:t>Will create a timed quiz challenge based on concepts covered in week 1. Winner will receive a gift car.</a:t>
            </a:r>
          </a:p>
        </p:txBody>
      </p:sp>
      <p:sp>
        <p:nvSpPr>
          <p:cNvPr id="9" name="TextBox 8">
            <a:extLst>
              <a:ext uri="{FF2B5EF4-FFF2-40B4-BE49-F238E27FC236}">
                <a16:creationId xmlns:a16="http://schemas.microsoft.com/office/drawing/2014/main" id="{8EE33709-9035-55A6-7647-754A3A988A80}"/>
              </a:ext>
            </a:extLst>
          </p:cNvPr>
          <p:cNvSpPr txBox="1"/>
          <p:nvPr/>
        </p:nvSpPr>
        <p:spPr>
          <a:xfrm>
            <a:off x="9630623" y="3812151"/>
            <a:ext cx="1953202" cy="1246495"/>
          </a:xfrm>
          <a:prstGeom prst="rect">
            <a:avLst/>
          </a:prstGeom>
          <a:noFill/>
        </p:spPr>
        <p:txBody>
          <a:bodyPr wrap="square" rtlCol="0">
            <a:spAutoFit/>
          </a:bodyPr>
          <a:lstStyle/>
          <a:p>
            <a:r>
              <a:rPr lang="en-US" sz="1500" b="1" dirty="0">
                <a:solidFill>
                  <a:schemeClr val="accent6"/>
                </a:solidFill>
              </a:rPr>
              <a:t>Looking For:</a:t>
            </a:r>
          </a:p>
          <a:p>
            <a:pPr marL="285750" indent="-285750">
              <a:buFont typeface="Arial" panose="020B0604020202020204" pitchFamily="34" charset="0"/>
              <a:buChar char="•"/>
            </a:pPr>
            <a:r>
              <a:rPr lang="en-US" sz="1500" dirty="0">
                <a:solidFill>
                  <a:schemeClr val="accent6"/>
                </a:solidFill>
              </a:rPr>
              <a:t>Suggestions</a:t>
            </a:r>
          </a:p>
          <a:p>
            <a:pPr marL="285750" indent="-285750">
              <a:buFont typeface="Arial" panose="020B0604020202020204" pitchFamily="34" charset="0"/>
              <a:buChar char="•"/>
            </a:pPr>
            <a:r>
              <a:rPr lang="en-US" sz="1500" dirty="0">
                <a:solidFill>
                  <a:schemeClr val="accent6"/>
                </a:solidFill>
              </a:rPr>
              <a:t>Volunteers to host</a:t>
            </a:r>
          </a:p>
          <a:p>
            <a:pPr marL="285750" indent="-285750">
              <a:buFont typeface="Arial" panose="020B0604020202020204" pitchFamily="34" charset="0"/>
              <a:buChar char="•"/>
            </a:pPr>
            <a:r>
              <a:rPr lang="en-US" sz="1500" dirty="0">
                <a:solidFill>
                  <a:schemeClr val="accent6"/>
                </a:solidFill>
              </a:rPr>
              <a:t>Champions for in-person sessions</a:t>
            </a:r>
          </a:p>
        </p:txBody>
      </p:sp>
    </p:spTree>
    <p:extLst>
      <p:ext uri="{BB962C8B-B14F-4D97-AF65-F5344CB8AC3E}">
        <p14:creationId xmlns:p14="http://schemas.microsoft.com/office/powerpoint/2010/main" val="1600494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787307" y="935736"/>
            <a:ext cx="10009324" cy="768096"/>
          </a:xfrm>
        </p:spPr>
        <p:txBody>
          <a:bodyPr/>
          <a:lstStyle/>
          <a:p>
            <a:r>
              <a:rPr lang="en-US" dirty="0"/>
              <a:t>Study Group White Board</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3</a:t>
            </a:fld>
            <a:endParaRPr lang="en-US" dirty="0"/>
          </a:p>
        </p:txBody>
      </p:sp>
      <p:sp>
        <p:nvSpPr>
          <p:cNvPr id="7" name="Content Placeholder 6">
            <a:extLst>
              <a:ext uri="{FF2B5EF4-FFF2-40B4-BE49-F238E27FC236}">
                <a16:creationId xmlns:a16="http://schemas.microsoft.com/office/drawing/2014/main" id="{144518A1-A478-7073-9D7E-B9547B20E845}"/>
              </a:ext>
            </a:extLst>
          </p:cNvPr>
          <p:cNvSpPr>
            <a:spLocks noGrp="1"/>
          </p:cNvSpPr>
          <p:nvPr>
            <p:ph idx="1"/>
          </p:nvPr>
        </p:nvSpPr>
        <p:spPr>
          <a:xfrm>
            <a:off x="4637853" y="1703832"/>
            <a:ext cx="1894374" cy="415703"/>
          </a:xfrm>
        </p:spPr>
        <p:txBody>
          <a:bodyPr/>
          <a:lstStyle/>
          <a:p>
            <a:r>
              <a:rPr lang="en-US" dirty="0">
                <a:hlinkClick r:id="rId2"/>
              </a:rPr>
              <a:t>Click Here to Access</a:t>
            </a:r>
            <a:endParaRPr lang="en-US" dirty="0"/>
          </a:p>
        </p:txBody>
      </p:sp>
    </p:spTree>
    <p:extLst>
      <p:ext uri="{BB962C8B-B14F-4D97-AF65-F5344CB8AC3E}">
        <p14:creationId xmlns:p14="http://schemas.microsoft.com/office/powerpoint/2010/main" val="94818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p:txBody>
          <a:bodyPr/>
          <a:lstStyle/>
          <a:p>
            <a:pPr algn="ctr"/>
            <a:r>
              <a:rPr lang="en-US" dirty="0">
                <a:latin typeface="Arial Black" panose="020B0604020202020204" pitchFamily="34" charset="0"/>
                <a:ea typeface="Arial Regular" pitchFamily="34" charset="-122"/>
                <a:cs typeface="Arial Black" panose="020B0604020202020204" pitchFamily="34" charset="0"/>
              </a:rPr>
              <a:t>Concepts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770632"/>
            <a:ext cx="6943048" cy="1952370"/>
          </a:xfrm>
        </p:spPr>
        <p:txBody>
          <a:bodyPr/>
          <a:lstStyle/>
          <a:p>
            <a:pPr algn="ctr"/>
            <a:r>
              <a:rPr lang="en-US" dirty="0"/>
              <a:t>Project Management Principles</a:t>
            </a:r>
          </a:p>
          <a:p>
            <a:pPr algn="ctr"/>
            <a:r>
              <a:rPr lang="en-US" dirty="0"/>
              <a:t>Project Management Performance Domains</a:t>
            </a:r>
          </a:p>
        </p:txBody>
      </p:sp>
    </p:spTree>
    <p:extLst>
      <p:ext uri="{BB962C8B-B14F-4D97-AF65-F5344CB8AC3E}">
        <p14:creationId xmlns:p14="http://schemas.microsoft.com/office/powerpoint/2010/main" val="3855531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643930" y="2039951"/>
            <a:ext cx="6400800"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Management </a:t>
            </a:r>
            <a:br>
              <a:rPr lang="en-US" dirty="0">
                <a:latin typeface="Arial Black" panose="020B0604020202020204" pitchFamily="34" charset="0"/>
                <a:cs typeface="Arial Black" panose="020B0604020202020204" pitchFamily="34" charset="0"/>
              </a:rPr>
            </a:br>
            <a:r>
              <a:rPr lang="en-US" dirty="0">
                <a:latin typeface="Arial Black" panose="020B0604020202020204" pitchFamily="34" charset="0"/>
                <a:cs typeface="Arial Black" panose="020B0604020202020204" pitchFamily="34" charset="0"/>
              </a:rPr>
              <a:t>Principles</a:t>
            </a:r>
            <a:endParaRPr lang="en-US" sz="4400" b="1" dirty="0">
              <a:solidFill>
                <a:schemeClr val="accent6"/>
              </a:solidFill>
              <a:latin typeface="Arial Black" panose="020B0604020202020204" pitchFamily="34" charset="0"/>
              <a:cs typeface="Arial Black" panose="020B0604020202020204" pitchFamily="34" charset="0"/>
            </a:endParaRPr>
          </a:p>
        </p:txBody>
      </p:sp>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Principles</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6</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a:spcBef>
                <a:spcPts val="0"/>
              </a:spcBef>
              <a:spcAft>
                <a:spcPts val="1100"/>
              </a:spcAft>
            </a:pPr>
            <a:r>
              <a:rPr lang="en-US" sz="2000" b="1" dirty="0">
                <a:latin typeface="Calibri" panose="020F0502020204030204" pitchFamily="34" charset="0"/>
              </a:rPr>
              <a:t>Principles serves as foundational guidelines for strategy, decision making, and problem solving. </a:t>
            </a:r>
          </a:p>
          <a:p>
            <a:pPr lvl="1">
              <a:spcBef>
                <a:spcPts val="0"/>
              </a:spcBef>
              <a:spcAft>
                <a:spcPts val="1100"/>
              </a:spcAft>
            </a:pPr>
            <a:r>
              <a:rPr lang="en-US" sz="1800" i="1" dirty="0">
                <a:latin typeface="Calibri" panose="020F0502020204030204" pitchFamily="34" charset="0"/>
              </a:rPr>
              <a:t>Guideline- not necessary to follow, but they are best practices that you can follow.</a:t>
            </a:r>
            <a:endParaRPr lang="en-US" sz="1800" dirty="0">
              <a:latin typeface="Calibri" panose="020F0502020204030204" pitchFamily="34" charset="0"/>
            </a:endParaRPr>
          </a:p>
          <a:p>
            <a:pPr lvl="1">
              <a:spcBef>
                <a:spcPts val="0"/>
              </a:spcBef>
              <a:spcAft>
                <a:spcPts val="1100"/>
              </a:spcAft>
            </a:pPr>
            <a:r>
              <a:rPr lang="en-US" sz="1800" dirty="0">
                <a:latin typeface="Calibri" panose="020F0502020204030204" pitchFamily="34" charset="0"/>
              </a:rPr>
              <a:t>Will be important throughout entire project (think scheduling,  budgeting, creating a net scope statement, managing the quality of the project output, engaging the stakeholder, etc.)</a:t>
            </a:r>
          </a:p>
          <a:p>
            <a:pPr lvl="1">
              <a:spcBef>
                <a:spcPts val="0"/>
              </a:spcBef>
              <a:spcAft>
                <a:spcPts val="1100"/>
              </a:spcAft>
            </a:pPr>
            <a:r>
              <a:rPr lang="en-US" sz="1800" dirty="0">
                <a:latin typeface="Calibri" panose="020F0502020204030204" pitchFamily="34" charset="0"/>
              </a:rPr>
              <a:t>Foundational methods of doing things.</a:t>
            </a:r>
          </a:p>
          <a:p>
            <a:pPr>
              <a:spcBef>
                <a:spcPts val="0"/>
              </a:spcBef>
              <a:spcAft>
                <a:spcPts val="1100"/>
              </a:spcAft>
            </a:pPr>
            <a:r>
              <a:rPr lang="en-US" sz="2000" b="1" dirty="0">
                <a:latin typeface="Calibri" panose="020F0502020204030204" pitchFamily="34" charset="0"/>
              </a:rPr>
              <a:t>Professional standards and methodologies are often based on principles.</a:t>
            </a:r>
          </a:p>
          <a:p>
            <a:pPr>
              <a:spcBef>
                <a:spcPts val="0"/>
              </a:spcBef>
              <a:spcAft>
                <a:spcPts val="1100"/>
              </a:spcAft>
            </a:pPr>
            <a:r>
              <a:rPr lang="en-US" sz="2000" b="1" dirty="0">
                <a:latin typeface="Calibri" panose="020F0502020204030204" pitchFamily="34" charset="0"/>
              </a:rPr>
              <a:t>Principles for project management provide guidance for the behavior of people involved in projects</a:t>
            </a:r>
          </a:p>
          <a:p>
            <a:pPr lvl="1">
              <a:spcBef>
                <a:spcPts val="0"/>
              </a:spcBef>
              <a:spcAft>
                <a:spcPts val="1100"/>
              </a:spcAft>
            </a:pPr>
            <a:r>
              <a:rPr lang="en-US" sz="1800" dirty="0">
                <a:latin typeface="Calibri" panose="020F0502020204030204" pitchFamily="34" charset="0"/>
              </a:rPr>
              <a:t>Everyone in the project involved from the Project Manager to the Project Sponsor, to the Agile coach should be guided by these principles to ensure the project is successful. Principles such as to be caring, to have integrity, to focus on value, and always engage your stakeholders. </a:t>
            </a:r>
          </a:p>
          <a:p>
            <a:pPr>
              <a:spcBef>
                <a:spcPts val="0"/>
              </a:spcBef>
              <a:spcAft>
                <a:spcPts val="1100"/>
              </a:spcAft>
            </a:pPr>
            <a:r>
              <a:rPr lang="en-US" sz="2000" dirty="0">
                <a:latin typeface="Calibri" panose="020F0502020204030204" pitchFamily="34" charset="0"/>
              </a:rPr>
              <a:t>For your exam, there are 12 Principles that you must know (not memorize)**</a:t>
            </a:r>
          </a:p>
          <a:p>
            <a:pPr lvl="1">
              <a:spcBef>
                <a:spcPts val="0"/>
              </a:spcBef>
              <a:spcAft>
                <a:spcPts val="1100"/>
              </a:spcAft>
            </a:pPr>
            <a:r>
              <a:rPr lang="en-US" sz="1800" dirty="0">
                <a:latin typeface="Calibri" panose="020F0502020204030204" pitchFamily="34" charset="0"/>
              </a:rPr>
              <a:t>If you’ve worked on a project before, you’re more than likely already following these principles. </a:t>
            </a:r>
          </a:p>
          <a:p>
            <a:pPr>
              <a:spcBef>
                <a:spcPts val="0"/>
              </a:spcBef>
            </a:pPr>
            <a:endParaRPr lang="en-US" sz="2000" dirty="0">
              <a:effectLst/>
              <a:latin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290384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PMI Code of ethics and professional conduct</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7</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695839" y="2390861"/>
            <a:ext cx="11119104" cy="3867325"/>
          </a:xfrm>
        </p:spPr>
        <p:txBody>
          <a:bodyPr/>
          <a:lstStyle/>
          <a:p>
            <a:pPr>
              <a:spcBef>
                <a:spcPts val="0"/>
              </a:spcBef>
            </a:pPr>
            <a:r>
              <a:rPr lang="en-US" sz="2000" dirty="0">
                <a:latin typeface="Calibri" panose="020F0502020204030204" pitchFamily="34" charset="0"/>
              </a:rPr>
              <a:t>Different than Principles, but can have areas of overlap.</a:t>
            </a:r>
          </a:p>
          <a:p>
            <a:pPr marL="681228" lvl="1">
              <a:spcBef>
                <a:spcPts val="0"/>
              </a:spcBef>
              <a:spcAft>
                <a:spcPts val="1100"/>
              </a:spcAft>
            </a:pPr>
            <a:r>
              <a:rPr lang="en-US" sz="1800" dirty="0">
                <a:latin typeface="Calibri" panose="020F0502020204030204" pitchFamily="34" charset="0"/>
              </a:rPr>
              <a:t>Principles can, but do not necessarily, reflect morals. </a:t>
            </a:r>
          </a:p>
          <a:p>
            <a:pPr marL="342900">
              <a:spcBef>
                <a:spcPts val="0"/>
              </a:spcBef>
              <a:spcAft>
                <a:spcPts val="1100"/>
              </a:spcAft>
            </a:pPr>
            <a:r>
              <a:rPr lang="en-US" sz="2000" dirty="0">
                <a:latin typeface="Calibri" panose="020F0502020204030204" pitchFamily="34" charset="0"/>
              </a:rPr>
              <a:t>A code of ethics is related to morals. </a:t>
            </a:r>
          </a:p>
          <a:p>
            <a:pPr marL="342900">
              <a:spcBef>
                <a:spcPts val="0"/>
              </a:spcBef>
              <a:spcAft>
                <a:spcPts val="200"/>
              </a:spcAft>
            </a:pPr>
            <a:r>
              <a:rPr lang="en-US" sz="2000" dirty="0">
                <a:latin typeface="Calibri" panose="020F0502020204030204" pitchFamily="34" charset="0"/>
              </a:rPr>
              <a:t>A code of ethics for a profession can be adopted by an individual or profession to establish expectations for moral conduct. PMI is based on four values:</a:t>
            </a:r>
          </a:p>
          <a:p>
            <a:pPr marL="681228" lvl="1">
              <a:spcBef>
                <a:spcPts val="0"/>
              </a:spcBef>
              <a:spcAft>
                <a:spcPts val="500"/>
              </a:spcAft>
            </a:pPr>
            <a:r>
              <a:rPr lang="en-US" sz="1800" b="1" dirty="0">
                <a:latin typeface="Calibri" panose="020F0502020204030204" pitchFamily="34" charset="0"/>
              </a:rPr>
              <a:t>Responsibility-</a:t>
            </a:r>
            <a:r>
              <a:rPr lang="en-US" sz="1800" dirty="0">
                <a:latin typeface="Calibri" panose="020F0502020204030204" pitchFamily="34" charset="0"/>
              </a:rPr>
              <a:t> Responsible for taking on the weight of the project. People on the project depend on you to ensure that all the work is coordinated, and all the communication done is right. </a:t>
            </a:r>
          </a:p>
          <a:p>
            <a:pPr marL="681228" lvl="1">
              <a:spcBef>
                <a:spcPts val="0"/>
              </a:spcBef>
              <a:spcAft>
                <a:spcPts val="500"/>
              </a:spcAft>
            </a:pPr>
            <a:r>
              <a:rPr lang="en-US" sz="1800" b="1" dirty="0">
                <a:latin typeface="Calibri" panose="020F0502020204030204" pitchFamily="34" charset="0"/>
              </a:rPr>
              <a:t>Respect</a:t>
            </a:r>
            <a:r>
              <a:rPr lang="en-US" sz="1800" dirty="0">
                <a:latin typeface="Calibri" panose="020F0502020204030204" pitchFamily="34" charset="0"/>
              </a:rPr>
              <a:t> –As a PM, you will be talking to and managing a lot of people, so you should be respectful to those.</a:t>
            </a:r>
          </a:p>
          <a:p>
            <a:pPr marL="681228" lvl="1">
              <a:spcBef>
                <a:spcPts val="0"/>
              </a:spcBef>
              <a:spcAft>
                <a:spcPts val="500"/>
              </a:spcAft>
            </a:pPr>
            <a:r>
              <a:rPr lang="en-US" sz="1800" b="1" dirty="0">
                <a:latin typeface="Calibri" panose="020F0502020204030204" pitchFamily="34" charset="0"/>
              </a:rPr>
              <a:t>Fairness-</a:t>
            </a:r>
            <a:r>
              <a:rPr lang="en-US" sz="1800" dirty="0">
                <a:latin typeface="Calibri" panose="020F0502020204030204" pitchFamily="34" charset="0"/>
              </a:rPr>
              <a:t> Always do the right thing, but also the fair thing.</a:t>
            </a:r>
          </a:p>
          <a:p>
            <a:pPr marL="681228" lvl="1">
              <a:spcBef>
                <a:spcPts val="0"/>
              </a:spcBef>
              <a:spcAft>
                <a:spcPts val="1100"/>
              </a:spcAft>
            </a:pPr>
            <a:r>
              <a:rPr lang="en-US" sz="1800" b="1" dirty="0">
                <a:latin typeface="Calibri" panose="020F0502020204030204" pitchFamily="34" charset="0"/>
              </a:rPr>
              <a:t>Honesty-</a:t>
            </a:r>
            <a:r>
              <a:rPr lang="en-US" sz="1800" dirty="0">
                <a:latin typeface="Calibri" panose="020F0502020204030204" pitchFamily="34" charset="0"/>
              </a:rPr>
              <a:t> Never lie to anyone on a project, as your team and others involved in your project are trusting you.</a:t>
            </a:r>
          </a:p>
          <a:p>
            <a:pPr>
              <a:spcBef>
                <a:spcPts val="0"/>
              </a:spcBef>
            </a:pPr>
            <a:endParaRPr lang="en-US" sz="2000" dirty="0">
              <a:effectLst/>
              <a:latin typeface="Calibri" panose="020F0502020204030204" pitchFamily="34" charset="0"/>
            </a:endParaRPr>
          </a:p>
          <a:p>
            <a:endParaRPr lang="en-US" dirty="0"/>
          </a:p>
        </p:txBody>
      </p:sp>
      <p:pic>
        <p:nvPicPr>
          <p:cNvPr id="6" name="Picture 5">
            <a:extLst>
              <a:ext uri="{FF2B5EF4-FFF2-40B4-BE49-F238E27FC236}">
                <a16:creationId xmlns:a16="http://schemas.microsoft.com/office/drawing/2014/main" id="{EA1778B5-5583-B0FA-F105-F60C51827F0B}"/>
              </a:ext>
            </a:extLst>
          </p:cNvPr>
          <p:cNvPicPr>
            <a:picLocks noChangeAspect="1"/>
          </p:cNvPicPr>
          <p:nvPr/>
        </p:nvPicPr>
        <p:blipFill>
          <a:blip r:embed="rId3"/>
          <a:stretch>
            <a:fillRect/>
          </a:stretch>
        </p:blipFill>
        <p:spPr>
          <a:xfrm>
            <a:off x="7155401" y="1776089"/>
            <a:ext cx="3231473" cy="1806084"/>
          </a:xfrm>
          <a:prstGeom prst="rect">
            <a:avLst/>
          </a:prstGeom>
        </p:spPr>
      </p:pic>
    </p:spTree>
    <p:extLst>
      <p:ext uri="{BB962C8B-B14F-4D97-AF65-F5344CB8AC3E}">
        <p14:creationId xmlns:p14="http://schemas.microsoft.com/office/powerpoint/2010/main" val="162748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Principles of Project Management</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8</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44328" y="1899821"/>
            <a:ext cx="11119104" cy="4722921"/>
          </a:xfrm>
        </p:spPr>
        <p:txBody>
          <a:bodyPr/>
          <a:lstStyle/>
          <a:p>
            <a:pPr rtl="0" fontAlgn="ctr">
              <a:spcBef>
                <a:spcPts val="0"/>
              </a:spcBef>
              <a:buFont typeface="+mj-lt"/>
              <a:buAutoNum type="arabicPeriod"/>
            </a:pPr>
            <a:r>
              <a:rPr lang="en-US" sz="1200" b="1" dirty="0">
                <a:latin typeface="Calibri" panose="020F0502020204030204" pitchFamily="34" charset="0"/>
              </a:rPr>
              <a:t>Be a diligent, respectful, and caring steward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Be a good person with good integrity.</a:t>
            </a:r>
          </a:p>
          <a:p>
            <a:pPr rtl="0" fontAlgn="ctr">
              <a:spcBef>
                <a:spcPts val="0"/>
              </a:spcBef>
              <a:buFont typeface="+mj-lt"/>
              <a:buAutoNum type="arabicPeriod"/>
            </a:pPr>
            <a:r>
              <a:rPr lang="en-US" sz="1200" b="1" dirty="0">
                <a:latin typeface="Calibri" panose="020F0502020204030204" pitchFamily="34" charset="0"/>
              </a:rPr>
              <a:t>Create a collaborative project team environment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Build an environment that the team feels comfortable working in.</a:t>
            </a:r>
          </a:p>
          <a:p>
            <a:pPr rtl="0" fontAlgn="ctr">
              <a:spcBef>
                <a:spcPts val="0"/>
              </a:spcBef>
              <a:buFont typeface="+mj-lt"/>
              <a:buAutoNum type="arabicPeriod"/>
            </a:pPr>
            <a:r>
              <a:rPr lang="en-US" sz="1200" b="1" dirty="0">
                <a:latin typeface="Calibri" panose="020F0502020204030204" pitchFamily="34" charset="0"/>
              </a:rPr>
              <a:t>Effectively engage with stakeholders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Keep your stakeholders engaged, informed, and actively participating in the project.</a:t>
            </a:r>
          </a:p>
          <a:p>
            <a:pPr rtl="0" fontAlgn="ctr">
              <a:spcBef>
                <a:spcPts val="0"/>
              </a:spcBef>
              <a:buFont typeface="+mj-lt"/>
              <a:buAutoNum type="arabicPeriod"/>
            </a:pPr>
            <a:r>
              <a:rPr lang="en-US" sz="1200" b="1" dirty="0">
                <a:latin typeface="Calibri" panose="020F0502020204030204" pitchFamily="34" charset="0"/>
              </a:rPr>
              <a:t>Focus on value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Whatever value was recognized at the start is returned at the end of the project.</a:t>
            </a:r>
          </a:p>
          <a:p>
            <a:pPr rtl="0" fontAlgn="ctr">
              <a:spcBef>
                <a:spcPts val="0"/>
              </a:spcBef>
              <a:buFont typeface="+mj-lt"/>
              <a:buAutoNum type="arabicPeriod"/>
            </a:pPr>
            <a:r>
              <a:rPr lang="en-US" sz="1200" b="1" dirty="0">
                <a:latin typeface="Calibri" panose="020F0502020204030204" pitchFamily="34" charset="0"/>
              </a:rPr>
              <a:t>Recognize, evaluate, and respond to system interactions</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Components must interact in order for the project to be successful (ex: Scope depends on Cost) and product the correct deliverables.</a:t>
            </a:r>
          </a:p>
          <a:p>
            <a:pPr rtl="0" fontAlgn="ctr">
              <a:spcBef>
                <a:spcPts val="0"/>
              </a:spcBef>
              <a:buFont typeface="+mj-lt"/>
              <a:buAutoNum type="arabicPeriod"/>
            </a:pPr>
            <a:r>
              <a:rPr lang="en-US" sz="1200" b="1" dirty="0">
                <a:latin typeface="Calibri" panose="020F0502020204030204" pitchFamily="34" charset="0"/>
              </a:rPr>
              <a:t>Demonstrate leadership behaviors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You will be looked to for guidance to complete project deliverables successfully.</a:t>
            </a:r>
          </a:p>
          <a:p>
            <a:pPr rtl="0" fontAlgn="ctr">
              <a:spcBef>
                <a:spcPts val="0"/>
              </a:spcBef>
              <a:buFont typeface="+mj-lt"/>
              <a:buAutoNum type="arabicPeriod"/>
            </a:pPr>
            <a:r>
              <a:rPr lang="en-US" sz="1200" b="1" dirty="0">
                <a:latin typeface="Calibri" panose="020F0502020204030204" pitchFamily="34" charset="0"/>
              </a:rPr>
              <a:t>Tailor based on context </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As the project progresses, the approach may need to change.</a:t>
            </a:r>
          </a:p>
          <a:p>
            <a:pPr rtl="0" fontAlgn="ctr">
              <a:spcBef>
                <a:spcPts val="0"/>
              </a:spcBef>
              <a:buFont typeface="+mj-lt"/>
              <a:buAutoNum type="arabicPeriod"/>
            </a:pPr>
            <a:r>
              <a:rPr lang="en-US" sz="1200" b="1" dirty="0">
                <a:latin typeface="Calibri" panose="020F0502020204030204" pitchFamily="34" charset="0"/>
              </a:rPr>
              <a:t>Build quality into processes and deliverables</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No one wants a low quality product. So build quality processes. Poor quality should not be acceptable.</a:t>
            </a:r>
          </a:p>
          <a:p>
            <a:pPr rtl="0" fontAlgn="ctr">
              <a:spcBef>
                <a:spcPts val="0"/>
              </a:spcBef>
              <a:buFont typeface="+mj-lt"/>
              <a:buAutoNum type="arabicPeriod"/>
            </a:pPr>
            <a:r>
              <a:rPr lang="en-US" sz="1200" b="1" dirty="0">
                <a:latin typeface="Calibri" panose="020F0502020204030204" pitchFamily="34" charset="0"/>
              </a:rPr>
              <a:t>Navigate complexity</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So many moving components and different people involved in managing projects you must know how to navigate.</a:t>
            </a:r>
          </a:p>
          <a:p>
            <a:pPr rtl="0" fontAlgn="ctr">
              <a:spcBef>
                <a:spcPts val="0"/>
              </a:spcBef>
              <a:buFont typeface="+mj-lt"/>
              <a:buAutoNum type="arabicPeriod"/>
            </a:pPr>
            <a:r>
              <a:rPr lang="en-US" sz="1200" b="1" dirty="0">
                <a:latin typeface="Calibri" panose="020F0502020204030204" pitchFamily="34" charset="0"/>
              </a:rPr>
              <a:t>Optimize risk responses</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Everything you do in life has a risk. You will need to know how to respond to the risks in an effective manner so it doesn't derail the project. </a:t>
            </a:r>
          </a:p>
          <a:p>
            <a:pPr rtl="0" fontAlgn="ctr">
              <a:spcBef>
                <a:spcPts val="0"/>
              </a:spcBef>
              <a:buFont typeface="+mj-lt"/>
              <a:buAutoNum type="arabicPeriod"/>
            </a:pPr>
            <a:r>
              <a:rPr lang="en-US" sz="1200" b="1" dirty="0">
                <a:latin typeface="Calibri" panose="020F0502020204030204" pitchFamily="34" charset="0"/>
              </a:rPr>
              <a:t>Embrace adaptability and resiliency</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Be prepared for unforeseen circumstances so you know to adapt and keep projects moving forward. Not "if" but "when"</a:t>
            </a:r>
          </a:p>
          <a:p>
            <a:pPr rtl="0" fontAlgn="ctr">
              <a:spcBef>
                <a:spcPts val="0"/>
              </a:spcBef>
              <a:buFont typeface="+mj-lt"/>
              <a:buAutoNum type="arabicPeriod"/>
            </a:pPr>
            <a:r>
              <a:rPr lang="en-US" sz="1200" b="1" dirty="0">
                <a:latin typeface="Calibri" panose="020F0502020204030204" pitchFamily="34" charset="0"/>
              </a:rPr>
              <a:t>Enable change to achieve the envisioned future state</a:t>
            </a:r>
          </a:p>
          <a:p>
            <a:pPr marL="742950" lvl="1" indent="-285750" rtl="0" fontAlgn="ctr">
              <a:spcBef>
                <a:spcPts val="0"/>
              </a:spcBef>
              <a:buFont typeface="Arial" panose="020B0604020202020204" pitchFamily="34" charset="0"/>
              <a:buChar char="•"/>
            </a:pPr>
            <a:r>
              <a:rPr lang="en-US" sz="1200" dirty="0">
                <a:latin typeface="Calibri" panose="020F0502020204030204" pitchFamily="34" charset="0"/>
              </a:rPr>
              <a:t>Every time you create a project, you're probably changing something. Manage these changes correctly. </a:t>
            </a:r>
          </a:p>
          <a:p>
            <a:pPr marL="0" marR="0" indent="0">
              <a:spcBef>
                <a:spcPts val="0"/>
              </a:spcBef>
              <a:spcAft>
                <a:spcPts val="0"/>
              </a:spcAft>
              <a:buNone/>
            </a:pPr>
            <a:endParaRPr lang="en-US" sz="1200" dirty="0">
              <a:latin typeface="Calibri" panose="020F0502020204030204" pitchFamily="34" charset="0"/>
            </a:endParaRPr>
          </a:p>
          <a:p>
            <a:endParaRPr lang="en-US" sz="1200" dirty="0"/>
          </a:p>
        </p:txBody>
      </p:sp>
    </p:spTree>
    <p:extLst>
      <p:ext uri="{BB962C8B-B14F-4D97-AF65-F5344CB8AC3E}">
        <p14:creationId xmlns:p14="http://schemas.microsoft.com/office/powerpoint/2010/main" val="57606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b="1" dirty="0">
                <a:solidFill>
                  <a:schemeClr val="accent6"/>
                </a:solidFill>
                <a:latin typeface="Arial Black" panose="020B0604020202020204" pitchFamily="34" charset="0"/>
                <a:cs typeface="Arial Black" panose="020B0604020202020204" pitchFamily="34" charset="0"/>
              </a:rPr>
              <a:t>1. Be a diligent, respectful, and caring steward</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9</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7000"/>
            <a:ext cx="11119104" cy="5653800"/>
          </a:xfrm>
        </p:spPr>
        <p:txBody>
          <a:bodyPr/>
          <a:lstStyle/>
          <a:p>
            <a:pPr marL="342900" indent="0">
              <a:spcBef>
                <a:spcPts val="0"/>
              </a:spcBef>
              <a:spcAft>
                <a:spcPts val="0"/>
              </a:spcAft>
            </a:pPr>
            <a:r>
              <a:rPr lang="en-US" sz="1600" b="1" dirty="0">
                <a:latin typeface="Calibri" panose="020F0502020204030204" pitchFamily="34" charset="0"/>
              </a:rPr>
              <a:t>STEWARDSHIP</a:t>
            </a:r>
            <a:r>
              <a:rPr lang="en-US" sz="1600" dirty="0">
                <a:latin typeface="Calibri" panose="020F0502020204030204" pitchFamily="34" charset="0"/>
              </a:rPr>
              <a:t>: “The act of taking care of or managing something, for example property, an organization, money or valuable objects.”</a:t>
            </a:r>
          </a:p>
          <a:p>
            <a:pPr marL="681228" lvl="1" indent="0">
              <a:spcBef>
                <a:spcPts val="0"/>
              </a:spcBef>
            </a:pPr>
            <a:r>
              <a:rPr lang="en-US" sz="1400" dirty="0">
                <a:latin typeface="Calibri" panose="020F0502020204030204" pitchFamily="34" charset="0"/>
              </a:rPr>
              <a:t>Stewards act sensibly to carry out actions with integrity, care, and trustworthiness while keeping compliance with internal and external guidelines. </a:t>
            </a:r>
          </a:p>
          <a:p>
            <a:pPr marL="681228" lvl="1" indent="0">
              <a:spcBef>
                <a:spcPts val="0"/>
              </a:spcBef>
            </a:pPr>
            <a:r>
              <a:rPr lang="en-US" sz="1400" dirty="0">
                <a:latin typeface="Calibri" panose="020F0502020204030204" pitchFamily="34" charset="0"/>
              </a:rPr>
              <a:t>They demonstrate a broad commitment to financial, social, and environmental impacts of the projects they support.</a:t>
            </a:r>
          </a:p>
          <a:p>
            <a:pPr marL="681228" lvl="1" indent="0">
              <a:spcBef>
                <a:spcPts val="0"/>
              </a:spcBef>
            </a:pPr>
            <a:r>
              <a:rPr lang="en-US" sz="1400" dirty="0">
                <a:latin typeface="Calibri" panose="020F0502020204030204" pitchFamily="34" charset="0"/>
              </a:rPr>
              <a:t>Don't overspend! Be aware of social integrity. Don't harm the environment.</a:t>
            </a:r>
          </a:p>
          <a:p>
            <a:pPr marL="681228" lvl="1" indent="0">
              <a:spcBef>
                <a:spcPts val="0"/>
              </a:spcBef>
              <a:buNone/>
            </a:pPr>
            <a:endParaRPr lang="en-US" sz="1400" dirty="0">
              <a:latin typeface="Calibri" panose="020F0502020204030204" pitchFamily="34" charset="0"/>
            </a:endParaRPr>
          </a:p>
          <a:p>
            <a:pPr marL="342900" indent="0">
              <a:spcBef>
                <a:spcPts val="0"/>
              </a:spcBef>
              <a:spcAft>
                <a:spcPts val="1100"/>
              </a:spcAft>
            </a:pPr>
            <a:r>
              <a:rPr lang="en-US" sz="1600" dirty="0">
                <a:latin typeface="Calibri" panose="020F0502020204030204" pitchFamily="34" charset="0"/>
              </a:rPr>
              <a:t>Stewardship has responsibilities both within and external to the company.</a:t>
            </a:r>
          </a:p>
          <a:p>
            <a:pPr marL="342900" indent="0">
              <a:spcBef>
                <a:spcPts val="0"/>
              </a:spcBef>
              <a:spcAft>
                <a:spcPts val="200"/>
              </a:spcAft>
            </a:pPr>
            <a:r>
              <a:rPr lang="en-US" sz="1600" dirty="0">
                <a:latin typeface="Calibri" panose="020F0502020204030204" pitchFamily="34" charset="0"/>
              </a:rPr>
              <a:t>Stewardship includes:</a:t>
            </a:r>
          </a:p>
          <a:p>
            <a:pPr marL="685800" indent="0">
              <a:spcBef>
                <a:spcPts val="0"/>
              </a:spcBef>
              <a:spcAft>
                <a:spcPts val="200"/>
              </a:spcAft>
            </a:pPr>
            <a:r>
              <a:rPr lang="en-US" sz="1600" dirty="0">
                <a:latin typeface="Calibri" panose="020F0502020204030204" pitchFamily="34" charset="0"/>
              </a:rPr>
              <a:t> </a:t>
            </a:r>
            <a:r>
              <a:rPr lang="en-US" sz="1600" b="1" dirty="0">
                <a:latin typeface="Calibri" panose="020F0502020204030204" pitchFamily="34" charset="0"/>
              </a:rPr>
              <a:t>Integrity</a:t>
            </a:r>
          </a:p>
          <a:p>
            <a:pPr marL="1024128" lvl="1" indent="0">
              <a:spcBef>
                <a:spcPts val="0"/>
              </a:spcBef>
              <a:spcAft>
                <a:spcPts val="700"/>
              </a:spcAft>
            </a:pPr>
            <a:r>
              <a:rPr lang="en-US" sz="1400" dirty="0">
                <a:latin typeface="Calibri" panose="020F0502020204030204" pitchFamily="34" charset="0"/>
              </a:rPr>
              <a:t>Stewards behave honestly and ethically at all times</a:t>
            </a:r>
          </a:p>
          <a:p>
            <a:pPr marL="685800" indent="0">
              <a:spcBef>
                <a:spcPts val="0"/>
              </a:spcBef>
              <a:spcAft>
                <a:spcPts val="200"/>
              </a:spcAft>
            </a:pPr>
            <a:r>
              <a:rPr lang="en-US" sz="1600" dirty="0">
                <a:latin typeface="Calibri" panose="020F0502020204030204" pitchFamily="34" charset="0"/>
              </a:rPr>
              <a:t> </a:t>
            </a:r>
            <a:r>
              <a:rPr lang="en-US" sz="1600" b="1" dirty="0">
                <a:latin typeface="Calibri" panose="020F0502020204030204" pitchFamily="34" charset="0"/>
              </a:rPr>
              <a:t>Care</a:t>
            </a:r>
          </a:p>
          <a:p>
            <a:pPr marL="1024128" lvl="1" indent="0">
              <a:spcBef>
                <a:spcPts val="0"/>
              </a:spcBef>
              <a:spcAft>
                <a:spcPts val="500"/>
              </a:spcAft>
            </a:pPr>
            <a:r>
              <a:rPr lang="en-US" sz="1400" dirty="0">
                <a:latin typeface="Calibri" panose="020F0502020204030204" pitchFamily="34" charset="0"/>
              </a:rPr>
              <a:t>Stewards are fiduciaries of the organizational matters in their charge, and they diligently oversee them.</a:t>
            </a:r>
          </a:p>
          <a:p>
            <a:pPr marL="685800" indent="0">
              <a:spcBef>
                <a:spcPts val="0"/>
              </a:spcBef>
              <a:spcAft>
                <a:spcPts val="300"/>
              </a:spcAft>
            </a:pPr>
            <a:r>
              <a:rPr lang="en-US" sz="1600" b="1" dirty="0">
                <a:latin typeface="Calibri" panose="020F0502020204030204" pitchFamily="34" charset="0"/>
              </a:rPr>
              <a:t>Trustworthiness</a:t>
            </a:r>
          </a:p>
          <a:p>
            <a:pPr marL="1024128" lvl="1" indent="0">
              <a:spcBef>
                <a:spcPts val="0"/>
              </a:spcBef>
              <a:spcAft>
                <a:spcPts val="500"/>
              </a:spcAft>
            </a:pPr>
            <a:r>
              <a:rPr lang="en-US" sz="1400" dirty="0">
                <a:latin typeface="Calibri" panose="020F0502020204030204" pitchFamily="34" charset="0"/>
              </a:rPr>
              <a:t>Stewards represent themselves, their roles, their project team, and their authority accurately, both inside and outside of the organization.</a:t>
            </a:r>
          </a:p>
          <a:p>
            <a:pPr marL="685800" indent="0">
              <a:spcBef>
                <a:spcPts val="0"/>
              </a:spcBef>
              <a:spcAft>
                <a:spcPts val="300"/>
              </a:spcAft>
            </a:pPr>
            <a:r>
              <a:rPr lang="en-US" sz="1600" b="1" dirty="0">
                <a:latin typeface="Calibri" panose="020F0502020204030204" pitchFamily="34" charset="0"/>
              </a:rPr>
              <a:t>Compliance</a:t>
            </a:r>
          </a:p>
          <a:p>
            <a:pPr marL="1024128" lvl="1" indent="0">
              <a:spcBef>
                <a:spcPts val="0"/>
              </a:spcBef>
              <a:spcAft>
                <a:spcPts val="1400"/>
              </a:spcAft>
            </a:pPr>
            <a:r>
              <a:rPr lang="en-US" sz="1400" dirty="0">
                <a:latin typeface="Calibri" panose="020F0502020204030204" pitchFamily="34" charset="0"/>
              </a:rPr>
              <a:t>Stewards comply with laws, rules, regulations, and requirements.</a:t>
            </a:r>
          </a:p>
          <a:p>
            <a:pPr marL="342900" indent="0">
              <a:spcBef>
                <a:spcPts val="0"/>
              </a:spcBef>
              <a:spcAft>
                <a:spcPts val="1000"/>
              </a:spcAft>
            </a:pPr>
            <a:r>
              <a:rPr lang="en-US" sz="1600" dirty="0">
                <a:latin typeface="Calibri" panose="020F0502020204030204" pitchFamily="34" charset="0"/>
              </a:rPr>
              <a:t>A holistic view of stewardship considers financial, social, technical, and sustainable environmental awareness.</a:t>
            </a:r>
          </a:p>
          <a:p>
            <a:pPr>
              <a:spcBef>
                <a:spcPts val="0"/>
              </a:spcBef>
              <a:spcAft>
                <a:spcPts val="1100"/>
              </a:spcAft>
            </a:pPr>
            <a:endParaRPr lang="en-US" sz="1600" dirty="0">
              <a:solidFill>
                <a:srgbClr val="000000"/>
              </a:solidFill>
              <a:latin typeface="Times New Roman" panose="02020603050405020304" pitchFamily="18" charset="0"/>
            </a:endParaRPr>
          </a:p>
          <a:p>
            <a:pPr marL="0" indent="0">
              <a:spcBef>
                <a:spcPts val="0"/>
              </a:spcBef>
              <a:spcAft>
                <a:spcPts val="1100"/>
              </a:spcAft>
              <a:buNone/>
            </a:pPr>
            <a:endParaRPr lang="en-US" sz="1600" dirty="0">
              <a:effectLst/>
              <a:latin typeface="Times New Roman" panose="02020603050405020304" pitchFamily="18" charset="0"/>
            </a:endParaRPr>
          </a:p>
          <a:p>
            <a:pPr marL="0" marR="0" indent="0">
              <a:spcBef>
                <a:spcPts val="0"/>
              </a:spcBef>
              <a:spcAft>
                <a:spcPts val="0"/>
              </a:spcAft>
              <a:buNone/>
            </a:pPr>
            <a:endParaRPr lang="en-US" sz="16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413293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2. Create a collaborative project team environment </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10</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1048841"/>
            <a:ext cx="11119104" cy="5653800"/>
          </a:xfrm>
        </p:spPr>
        <p:txBody>
          <a:bodyPr/>
          <a:lstStyle/>
          <a:p>
            <a:pPr marL="342900">
              <a:spcBef>
                <a:spcPts val="0"/>
              </a:spcBef>
              <a:spcAft>
                <a:spcPts val="700"/>
              </a:spcAft>
            </a:pPr>
            <a:r>
              <a:rPr lang="en-US" sz="1600" b="1" dirty="0">
                <a:latin typeface="Calibri" panose="020F0502020204030204" pitchFamily="34" charset="0"/>
              </a:rPr>
              <a:t>TEAM</a:t>
            </a:r>
          </a:p>
          <a:p>
            <a:pPr marL="342900">
              <a:spcBef>
                <a:spcPts val="0"/>
              </a:spcBef>
              <a:spcAft>
                <a:spcPts val="1100"/>
              </a:spcAft>
            </a:pPr>
            <a:r>
              <a:rPr lang="en-US" sz="1600" dirty="0">
                <a:latin typeface="Calibri" panose="020F0502020204030204" pitchFamily="34" charset="0"/>
              </a:rPr>
              <a:t>Projects are done by project teams.</a:t>
            </a:r>
          </a:p>
          <a:p>
            <a:pPr lvl="1" fontAlgn="ctr">
              <a:spcBef>
                <a:spcPts val="0"/>
              </a:spcBef>
              <a:spcAft>
                <a:spcPts val="1100"/>
              </a:spcAft>
              <a:buFont typeface="Courier New" panose="02070309020205020404" pitchFamily="49" charset="0"/>
              <a:buChar char="o"/>
            </a:pPr>
            <a:r>
              <a:rPr lang="en-US" sz="1400" dirty="0">
                <a:latin typeface="Calibri" panose="020F0502020204030204" pitchFamily="34" charset="0"/>
              </a:rPr>
              <a:t>They create those deliverables that are defined by the those who accept it.</a:t>
            </a:r>
          </a:p>
          <a:p>
            <a:pPr marL="342900">
              <a:spcBef>
                <a:spcPts val="0"/>
              </a:spcBef>
              <a:spcAft>
                <a:spcPts val="1100"/>
              </a:spcAft>
            </a:pPr>
            <a:r>
              <a:rPr lang="en-US" sz="1600" dirty="0">
                <a:latin typeface="Calibri" panose="020F0502020204030204" pitchFamily="34" charset="0"/>
              </a:rPr>
              <a:t>Project teams are made up of people who have diverse skills, knowledge, and experience. </a:t>
            </a:r>
          </a:p>
          <a:p>
            <a:pPr lvl="1" fontAlgn="ctr">
              <a:spcBef>
                <a:spcPts val="0"/>
              </a:spcBef>
              <a:spcAft>
                <a:spcPts val="1100"/>
              </a:spcAft>
              <a:buFont typeface="Courier New" panose="02070309020205020404" pitchFamily="49" charset="0"/>
              <a:buChar char="o"/>
            </a:pPr>
            <a:r>
              <a:rPr lang="en-US" sz="1400" dirty="0">
                <a:latin typeface="Calibri" panose="020F0502020204030204" pitchFamily="34" charset="0"/>
              </a:rPr>
              <a:t>Coders, painters, developers, etc.</a:t>
            </a:r>
          </a:p>
          <a:p>
            <a:pPr marL="342900">
              <a:spcBef>
                <a:spcPts val="0"/>
              </a:spcBef>
              <a:spcAft>
                <a:spcPts val="1100"/>
              </a:spcAft>
            </a:pPr>
            <a:r>
              <a:rPr lang="en-US" sz="1600" dirty="0">
                <a:latin typeface="Calibri" panose="020F0502020204030204" pitchFamily="34" charset="0"/>
              </a:rPr>
              <a:t>Project teams that work </a:t>
            </a:r>
            <a:r>
              <a:rPr lang="en-US" sz="1600" u="sng" dirty="0">
                <a:latin typeface="Calibri" panose="020F0502020204030204" pitchFamily="34" charset="0"/>
              </a:rPr>
              <a:t>collaboratively</a:t>
            </a:r>
            <a:r>
              <a:rPr lang="en-US" sz="1600" dirty="0">
                <a:latin typeface="Calibri" panose="020F0502020204030204" pitchFamily="34" charset="0"/>
              </a:rPr>
              <a:t> can finish a shared objective more effectively and efficiently than individuals working on their own.</a:t>
            </a:r>
          </a:p>
          <a:p>
            <a:pPr lvl="1" fontAlgn="ctr">
              <a:spcBef>
                <a:spcPts val="0"/>
              </a:spcBef>
              <a:spcAft>
                <a:spcPts val="1100"/>
              </a:spcAft>
              <a:buFont typeface="Courier New" panose="02070309020205020404" pitchFamily="49" charset="0"/>
              <a:buChar char="o"/>
            </a:pPr>
            <a:r>
              <a:rPr lang="en-US" sz="1400" dirty="0">
                <a:latin typeface="Calibri" panose="020F0502020204030204" pitchFamily="34" charset="0"/>
              </a:rPr>
              <a:t>Teams should work a unit- PREVENT SILOS! </a:t>
            </a:r>
          </a:p>
          <a:p>
            <a:pPr lvl="1" fontAlgn="ctr">
              <a:spcBef>
                <a:spcPts val="0"/>
              </a:spcBef>
              <a:spcAft>
                <a:spcPts val="1100"/>
              </a:spcAft>
              <a:buFont typeface="Courier New" panose="02070309020205020404" pitchFamily="49" charset="0"/>
              <a:buChar char="o"/>
            </a:pPr>
            <a:r>
              <a:rPr lang="en-US" sz="1400" dirty="0">
                <a:latin typeface="Calibri" panose="020F0502020204030204" pitchFamily="34" charset="0"/>
              </a:rPr>
              <a:t>This is how they can get the work done efficiently and effectively. </a:t>
            </a:r>
          </a:p>
          <a:p>
            <a:pPr marL="342900">
              <a:spcBef>
                <a:spcPts val="0"/>
              </a:spcBef>
              <a:spcAft>
                <a:spcPts val="1100"/>
              </a:spcAft>
            </a:pPr>
            <a:r>
              <a:rPr lang="en-US" sz="1600" dirty="0">
                <a:latin typeface="Calibri" panose="020F0502020204030204" pitchFamily="34" charset="0"/>
              </a:rPr>
              <a:t>Project teams work within organizational and professional cultures and guidelines, often establishing their own “local” culture.</a:t>
            </a:r>
          </a:p>
          <a:p>
            <a:pPr lvl="1" fontAlgn="ctr">
              <a:spcBef>
                <a:spcPts val="0"/>
              </a:spcBef>
              <a:spcAft>
                <a:spcPts val="1100"/>
              </a:spcAft>
              <a:buFont typeface="Courier New" panose="02070309020205020404" pitchFamily="49" charset="0"/>
              <a:buChar char="o"/>
            </a:pPr>
            <a:r>
              <a:rPr lang="en-US" sz="1400" dirty="0">
                <a:latin typeface="Calibri" panose="020F0502020204030204" pitchFamily="34" charset="0"/>
              </a:rPr>
              <a:t>When members from different backgrounds come together, they will promote and build their own culture. </a:t>
            </a:r>
          </a:p>
          <a:p>
            <a:pPr marL="342900">
              <a:spcBef>
                <a:spcPts val="0"/>
              </a:spcBef>
              <a:spcAft>
                <a:spcPts val="200"/>
              </a:spcAft>
            </a:pPr>
            <a:r>
              <a:rPr lang="en-US" sz="1600" dirty="0">
                <a:latin typeface="Calibri" panose="020F0502020204030204" pitchFamily="34" charset="0"/>
              </a:rPr>
              <a:t>A collaborative project team environment facilitates:</a:t>
            </a:r>
          </a:p>
          <a:p>
            <a:pPr lvl="1" fontAlgn="ctr">
              <a:spcBef>
                <a:spcPts val="0"/>
              </a:spcBef>
              <a:spcAft>
                <a:spcPts val="500"/>
              </a:spcAft>
              <a:buFont typeface="Courier New" panose="02070309020205020404" pitchFamily="49" charset="0"/>
              <a:buChar char="o"/>
            </a:pPr>
            <a:r>
              <a:rPr lang="en-US" sz="1400" dirty="0">
                <a:latin typeface="Calibri" panose="020F0502020204030204" pitchFamily="34" charset="0"/>
              </a:rPr>
              <a:t>Alignment with other organizational cultures and guidelines,</a:t>
            </a:r>
          </a:p>
          <a:p>
            <a:pPr lvl="1" fontAlgn="ctr">
              <a:spcBef>
                <a:spcPts val="0"/>
              </a:spcBef>
              <a:spcAft>
                <a:spcPts val="500"/>
              </a:spcAft>
              <a:buFont typeface="Courier New" panose="02070309020205020404" pitchFamily="49" charset="0"/>
              <a:buChar char="o"/>
            </a:pPr>
            <a:r>
              <a:rPr lang="en-US" sz="1400" dirty="0">
                <a:latin typeface="Calibri" panose="020F0502020204030204" pitchFamily="34" charset="0"/>
              </a:rPr>
              <a:t>Individual and team learning and development, and</a:t>
            </a:r>
          </a:p>
          <a:p>
            <a:pPr lvl="1" fontAlgn="ctr">
              <a:spcBef>
                <a:spcPts val="0"/>
              </a:spcBef>
              <a:spcAft>
                <a:spcPts val="1000"/>
              </a:spcAft>
              <a:buFont typeface="Courier New" panose="02070309020205020404" pitchFamily="49" charset="0"/>
              <a:buChar char="o"/>
            </a:pPr>
            <a:r>
              <a:rPr lang="en-US" sz="1400" dirty="0">
                <a:latin typeface="Calibri" panose="020F0502020204030204" pitchFamily="34" charset="0"/>
              </a:rPr>
              <a:t>Optimal contributions to deliver desired outcomes.</a:t>
            </a:r>
          </a:p>
          <a:p>
            <a:pPr>
              <a:spcBef>
                <a:spcPts val="0"/>
              </a:spcBef>
              <a:spcAft>
                <a:spcPts val="1100"/>
              </a:spcAft>
            </a:pPr>
            <a:endParaRPr lang="en-US" sz="1600" dirty="0">
              <a:solidFill>
                <a:srgbClr val="000000"/>
              </a:solidFill>
              <a:latin typeface="Times New Roman" panose="02020603050405020304" pitchFamily="18" charset="0"/>
            </a:endParaRPr>
          </a:p>
          <a:p>
            <a:pPr marL="0" indent="0">
              <a:spcBef>
                <a:spcPts val="0"/>
              </a:spcBef>
              <a:spcAft>
                <a:spcPts val="1100"/>
              </a:spcAft>
              <a:buNone/>
            </a:pPr>
            <a:endParaRPr lang="en-US" sz="1600" dirty="0">
              <a:effectLst/>
              <a:latin typeface="Times New Roman" panose="02020603050405020304" pitchFamily="18" charset="0"/>
            </a:endParaRPr>
          </a:p>
          <a:p>
            <a:pPr marL="0" marR="0" indent="0">
              <a:spcBef>
                <a:spcPts val="0"/>
              </a:spcBef>
              <a:spcAft>
                <a:spcPts val="0"/>
              </a:spcAft>
              <a:buNone/>
            </a:pPr>
            <a:endParaRPr lang="en-US" sz="16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2889489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2. Create a collaborative project team environment </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11</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1110984"/>
            <a:ext cx="11119104" cy="4866304"/>
          </a:xfrm>
        </p:spPr>
        <p:txBody>
          <a:bodyPr/>
          <a:lstStyle/>
          <a:p>
            <a:pPr marL="342900">
              <a:spcBef>
                <a:spcPts val="0"/>
              </a:spcBef>
              <a:spcAft>
                <a:spcPts val="900"/>
              </a:spcAft>
            </a:pPr>
            <a:r>
              <a:rPr lang="en-US" sz="1600" dirty="0">
                <a:latin typeface="Calibri" panose="020F0502020204030204" pitchFamily="34" charset="0"/>
              </a:rPr>
              <a:t>Project Teams will be affected by:</a:t>
            </a:r>
          </a:p>
          <a:p>
            <a:pPr marL="681228" lvl="1">
              <a:spcBef>
                <a:spcPts val="0"/>
              </a:spcBef>
            </a:pPr>
            <a:r>
              <a:rPr lang="en-US" sz="1400" b="1" dirty="0">
                <a:latin typeface="Calibri" panose="020F0502020204030204" pitchFamily="34" charset="0"/>
              </a:rPr>
              <a:t>Team agreements </a:t>
            </a:r>
            <a:r>
              <a:rPr lang="en-US" sz="1400" dirty="0">
                <a:latin typeface="Calibri" panose="020F0502020204030204" pitchFamily="34" charset="0"/>
              </a:rPr>
              <a:t>- A set of guidelines your team should follow in order to have good behaviors.</a:t>
            </a:r>
          </a:p>
          <a:p>
            <a:pPr marL="1138428" lvl="2">
              <a:spcBef>
                <a:spcPts val="0"/>
              </a:spcBef>
            </a:pPr>
            <a:r>
              <a:rPr lang="en-US" dirty="0">
                <a:latin typeface="Calibri" panose="020F0502020204030204" pitchFamily="34" charset="0"/>
              </a:rPr>
              <a:t>Team agreements represent a set of behavioral parameters.</a:t>
            </a:r>
          </a:p>
          <a:p>
            <a:pPr marL="681228" lvl="1">
              <a:spcBef>
                <a:spcPts val="0"/>
              </a:spcBef>
            </a:pPr>
            <a:r>
              <a:rPr lang="en-US" sz="1400" b="1" dirty="0">
                <a:latin typeface="Calibri" panose="020F0502020204030204" pitchFamily="34" charset="0"/>
              </a:rPr>
              <a:t>Organizational Structures</a:t>
            </a:r>
          </a:p>
          <a:p>
            <a:pPr marL="1138428" lvl="2">
              <a:spcBef>
                <a:spcPts val="0"/>
              </a:spcBef>
            </a:pPr>
            <a:r>
              <a:rPr lang="en-US" sz="1400" dirty="0">
                <a:latin typeface="Calibri" panose="020F0502020204030204" pitchFamily="34" charset="0"/>
              </a:rPr>
              <a:t>Project teams use, tailor, and implement structures that help.</a:t>
            </a:r>
            <a:endParaRPr lang="en-US" sz="1800" dirty="0">
              <a:latin typeface="Calibri" panose="020F0502020204030204" pitchFamily="34" charset="0"/>
            </a:endParaRPr>
          </a:p>
          <a:p>
            <a:pPr marL="681228" lvl="1">
              <a:spcBef>
                <a:spcPts val="0"/>
              </a:spcBef>
            </a:pPr>
            <a:r>
              <a:rPr lang="en-US" sz="1400" b="1" dirty="0">
                <a:latin typeface="Calibri" panose="020F0502020204030204" pitchFamily="34" charset="0"/>
              </a:rPr>
              <a:t>Processes</a:t>
            </a:r>
            <a:r>
              <a:rPr lang="en-US" sz="1400" dirty="0">
                <a:latin typeface="Calibri" panose="020F0502020204030204" pitchFamily="34" charset="0"/>
              </a:rPr>
              <a:t>-Be a good servant leader. Nurture the team to support the team and give them the right environment.</a:t>
            </a:r>
          </a:p>
          <a:p>
            <a:pPr marL="1138428" lvl="2">
              <a:spcBef>
                <a:spcPts val="0"/>
              </a:spcBef>
            </a:pPr>
            <a:r>
              <a:rPr lang="en-US" dirty="0">
                <a:latin typeface="Calibri" panose="020F0502020204030204" pitchFamily="34" charset="0"/>
              </a:rPr>
              <a:t>Project teams define processes that enable completion of tasks and work assignments.</a:t>
            </a:r>
            <a:endParaRPr lang="en-US" sz="1600" dirty="0">
              <a:latin typeface="Calibri" panose="020F0502020204030204" pitchFamily="34" charset="0"/>
            </a:endParaRPr>
          </a:p>
          <a:p>
            <a:pPr marL="681228" lvl="1">
              <a:spcBef>
                <a:spcPts val="0"/>
              </a:spcBef>
            </a:pPr>
            <a:r>
              <a:rPr lang="en-US" sz="1400" b="1" dirty="0">
                <a:latin typeface="Calibri" panose="020F0502020204030204" pitchFamily="34" charset="0"/>
              </a:rPr>
              <a:t>Transparency</a:t>
            </a:r>
            <a:r>
              <a:rPr lang="en-US" sz="1400" dirty="0">
                <a:latin typeface="Calibri" panose="020F0502020204030204" pitchFamily="34" charset="0"/>
              </a:rPr>
              <a:t> on roles and responsibilities can improve team cultures. </a:t>
            </a:r>
          </a:p>
          <a:p>
            <a:pPr marL="681228" lvl="1">
              <a:spcBef>
                <a:spcPts val="0"/>
              </a:spcBef>
            </a:pPr>
            <a:r>
              <a:rPr lang="en-US" sz="1400" b="1" dirty="0">
                <a:latin typeface="Calibri" panose="020F0502020204030204" pitchFamily="34" charset="0"/>
              </a:rPr>
              <a:t>Authority</a:t>
            </a:r>
            <a:r>
              <a:rPr lang="en-US" sz="1400" dirty="0">
                <a:latin typeface="Calibri" panose="020F0502020204030204" pitchFamily="34" charset="0"/>
              </a:rPr>
              <a:t>- The order of having the right, within a given context, to make relevant decisions, establish or improve procedures, apply project resources, expend funds, or give approvals.</a:t>
            </a:r>
          </a:p>
          <a:p>
            <a:pPr marL="1138428" lvl="2">
              <a:spcBef>
                <a:spcPts val="0"/>
              </a:spcBef>
            </a:pPr>
            <a:r>
              <a:rPr lang="en-US" dirty="0">
                <a:latin typeface="Calibri" panose="020F0502020204030204" pitchFamily="34" charset="0"/>
              </a:rPr>
              <a:t>Let the team make relevant decisions and be authoritative in their work.</a:t>
            </a:r>
          </a:p>
          <a:p>
            <a:pPr marL="681228" lvl="1">
              <a:spcBef>
                <a:spcPts val="0"/>
              </a:spcBef>
            </a:pPr>
            <a:r>
              <a:rPr lang="en-US" sz="1400" b="1" dirty="0">
                <a:latin typeface="Calibri" panose="020F0502020204030204" pitchFamily="34" charset="0"/>
              </a:rPr>
              <a:t>Accountability</a:t>
            </a:r>
            <a:r>
              <a:rPr lang="en-US" sz="1400" dirty="0">
                <a:latin typeface="Calibri" panose="020F0502020204030204" pitchFamily="34" charset="0"/>
              </a:rPr>
              <a:t>- The condition of being answerable for an outcome. Accountability </a:t>
            </a:r>
            <a:r>
              <a:rPr lang="en-US" sz="1400" b="1" dirty="0">
                <a:latin typeface="Calibri" panose="020F0502020204030204" pitchFamily="34" charset="0"/>
              </a:rPr>
              <a:t>is not shared</a:t>
            </a:r>
            <a:r>
              <a:rPr lang="en-US" sz="1400" dirty="0">
                <a:latin typeface="Calibri" panose="020F0502020204030204" pitchFamily="34" charset="0"/>
              </a:rPr>
              <a:t>.</a:t>
            </a:r>
            <a:endParaRPr lang="en-US" sz="1600" dirty="0">
              <a:latin typeface="Calibri" panose="020F0502020204030204" pitchFamily="34" charset="0"/>
            </a:endParaRPr>
          </a:p>
          <a:p>
            <a:pPr marL="681228" lvl="1">
              <a:spcBef>
                <a:spcPts val="0"/>
              </a:spcBef>
            </a:pPr>
            <a:r>
              <a:rPr lang="en-US" sz="1400" b="1" dirty="0">
                <a:latin typeface="Calibri" panose="020F0502020204030204" pitchFamily="34" charset="0"/>
              </a:rPr>
              <a:t>Responsibility-</a:t>
            </a:r>
            <a:r>
              <a:rPr lang="en-US" sz="1400" dirty="0">
                <a:latin typeface="Calibri" panose="020F0502020204030204" pitchFamily="34" charset="0"/>
              </a:rPr>
              <a:t>The condition of being obligated to do or fulfill something. Responsibility </a:t>
            </a:r>
            <a:r>
              <a:rPr lang="en-US" sz="1400" b="1" dirty="0">
                <a:latin typeface="Calibri" panose="020F0502020204030204" pitchFamily="34" charset="0"/>
              </a:rPr>
              <a:t>can be shared</a:t>
            </a:r>
            <a:r>
              <a:rPr lang="en-US" sz="1400" dirty="0">
                <a:latin typeface="Calibri" panose="020F0502020204030204" pitchFamily="34" charset="0"/>
              </a:rPr>
              <a:t>.</a:t>
            </a:r>
          </a:p>
          <a:p>
            <a:pPr marL="681228" lvl="1">
              <a:spcBef>
                <a:spcPts val="0"/>
              </a:spcBef>
            </a:pPr>
            <a:r>
              <a:rPr lang="en-US" sz="1400" b="1" dirty="0">
                <a:latin typeface="Calibri" panose="020F0502020204030204" pitchFamily="34" charset="0"/>
              </a:rPr>
              <a:t>Diversity-</a:t>
            </a:r>
            <a:r>
              <a:rPr lang="en-US" sz="1400" dirty="0">
                <a:latin typeface="Calibri" panose="020F0502020204030204" pitchFamily="34" charset="0"/>
              </a:rPr>
              <a:t> </a:t>
            </a:r>
            <a:r>
              <a:rPr lang="en-US" sz="1600" dirty="0">
                <a:latin typeface="Calibri" panose="020F0502020204030204" pitchFamily="34" charset="0"/>
              </a:rPr>
              <a:t>A diverse project team can develop the project atmosphere by bringing together different perspectives.</a:t>
            </a:r>
          </a:p>
          <a:p>
            <a:pPr marL="333756" lvl="1" indent="0">
              <a:spcBef>
                <a:spcPts val="0"/>
              </a:spcBef>
              <a:buNone/>
            </a:pPr>
            <a:endParaRPr lang="en-US" sz="1600" dirty="0">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600" dirty="0">
                <a:latin typeface="Calibri" panose="020F0502020204030204" pitchFamily="34" charset="0"/>
              </a:rPr>
              <a:t>Teams should incorporate practice standards, ethical codes, and other guidelines as part of the professional work within the project team and the organization.</a:t>
            </a:r>
          </a:p>
          <a:p>
            <a:pPr marL="0" indent="0">
              <a:spcBef>
                <a:spcPts val="0"/>
              </a:spcBef>
              <a:spcAft>
                <a:spcPts val="0"/>
              </a:spcAft>
              <a:buNone/>
            </a:pPr>
            <a:endParaRPr lang="en-US" sz="1600" dirty="0">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600" dirty="0">
                <a:latin typeface="Calibri" panose="020F0502020204030204" pitchFamily="34" charset="0"/>
              </a:rPr>
              <a:t>A collaborative project team environment promotes the free exchange of information and individual knowledge.</a:t>
            </a:r>
          </a:p>
          <a:p>
            <a:pPr>
              <a:spcBef>
                <a:spcPts val="0"/>
              </a:spcBef>
              <a:spcAft>
                <a:spcPts val="1100"/>
              </a:spcAft>
            </a:pPr>
            <a:endParaRPr lang="en-US" sz="1600" dirty="0">
              <a:latin typeface="Calibri" panose="020F0502020204030204" pitchFamily="34" charset="0"/>
            </a:endParaRPr>
          </a:p>
          <a:p>
            <a:pPr marL="0" indent="0">
              <a:spcBef>
                <a:spcPts val="0"/>
              </a:spcBef>
              <a:spcAft>
                <a:spcPts val="1100"/>
              </a:spcAft>
              <a:buNone/>
            </a:pPr>
            <a:endParaRPr lang="en-US" sz="1600" dirty="0">
              <a:latin typeface="Calibri" panose="020F0502020204030204" pitchFamily="34" charset="0"/>
            </a:endParaRPr>
          </a:p>
          <a:p>
            <a:pPr marL="0" marR="0" indent="0">
              <a:spcBef>
                <a:spcPts val="0"/>
              </a:spcBef>
              <a:spcAft>
                <a:spcPts val="0"/>
              </a:spcAft>
              <a:buNone/>
            </a:pPr>
            <a:endParaRPr lang="en-US" sz="1600" dirty="0">
              <a:latin typeface="Calibri" panose="020F0502020204030204" pitchFamily="34" charset="0"/>
            </a:endParaRPr>
          </a:p>
          <a:p>
            <a:endParaRPr lang="en-US" dirty="0"/>
          </a:p>
        </p:txBody>
      </p:sp>
    </p:spTree>
    <p:extLst>
      <p:ext uri="{BB962C8B-B14F-4D97-AF65-F5344CB8AC3E}">
        <p14:creationId xmlns:p14="http://schemas.microsoft.com/office/powerpoint/2010/main" val="3417018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3. Effectively engage with stakeholders </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12</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1474969"/>
            <a:ext cx="11119104" cy="5653800"/>
          </a:xfrm>
        </p:spPr>
        <p:txBody>
          <a:bodyPr/>
          <a:lstStyle/>
          <a:p>
            <a:pPr>
              <a:spcBef>
                <a:spcPts val="0"/>
              </a:spcBef>
              <a:spcAft>
                <a:spcPts val="900"/>
              </a:spcAft>
            </a:pPr>
            <a:r>
              <a:rPr lang="en-US" sz="1600" b="1" dirty="0">
                <a:latin typeface="Calibri" panose="020F0502020204030204" pitchFamily="34" charset="0"/>
              </a:rPr>
              <a:t>STAKEHOLDERS</a:t>
            </a:r>
          </a:p>
          <a:p>
            <a:pPr>
              <a:spcBef>
                <a:spcPts val="0"/>
              </a:spcBef>
              <a:spcAft>
                <a:spcPts val="1100"/>
              </a:spcAft>
            </a:pPr>
            <a:r>
              <a:rPr lang="en-US" sz="1600" dirty="0">
                <a:latin typeface="Calibri" panose="020F0502020204030204" pitchFamily="34" charset="0"/>
              </a:rPr>
              <a:t>Stakeholders impact projects, performance, and outcomes.</a:t>
            </a:r>
          </a:p>
          <a:p>
            <a:pPr>
              <a:spcBef>
                <a:spcPts val="0"/>
              </a:spcBef>
              <a:spcAft>
                <a:spcPts val="1100"/>
              </a:spcAft>
            </a:pPr>
            <a:r>
              <a:rPr lang="en-US" sz="1600" dirty="0">
                <a:latin typeface="Calibri" panose="020F0502020204030204" pitchFamily="34" charset="0"/>
              </a:rPr>
              <a:t>Engage stakeholders proactively and to the point needed to contribute to project success and customer satisfaction.</a:t>
            </a:r>
          </a:p>
          <a:p>
            <a:pPr lvl="1" fontAlgn="ctr">
              <a:spcBef>
                <a:spcPts val="0"/>
              </a:spcBef>
              <a:spcAft>
                <a:spcPts val="1100"/>
              </a:spcAft>
            </a:pPr>
            <a:r>
              <a:rPr lang="en-US" sz="1400" dirty="0">
                <a:latin typeface="Calibri" panose="020F0502020204030204" pitchFamily="34" charset="0"/>
              </a:rPr>
              <a:t>Don’t' wait for them to come to you, go to them first and ask them about the requirement. </a:t>
            </a:r>
          </a:p>
          <a:p>
            <a:pPr lvl="1" fontAlgn="ctr">
              <a:spcBef>
                <a:spcPts val="0"/>
              </a:spcBef>
              <a:spcAft>
                <a:spcPts val="1100"/>
              </a:spcAft>
            </a:pPr>
            <a:r>
              <a:rPr lang="en-US" sz="1400" dirty="0">
                <a:latin typeface="Calibri" panose="020F0502020204030204" pitchFamily="34" charset="0"/>
              </a:rPr>
              <a:t>They may slow the project down or speed it up, depending on the feedback.</a:t>
            </a:r>
          </a:p>
          <a:p>
            <a:pPr lvl="1" fontAlgn="ctr">
              <a:spcBef>
                <a:spcPts val="0"/>
              </a:spcBef>
              <a:spcAft>
                <a:spcPts val="1100"/>
              </a:spcAft>
            </a:pPr>
            <a:r>
              <a:rPr lang="en-US" sz="1400" dirty="0">
                <a:latin typeface="Calibri" panose="020F0502020204030204" pitchFamily="34" charset="0"/>
              </a:rPr>
              <a:t>Rework may be required.</a:t>
            </a:r>
          </a:p>
          <a:p>
            <a:pPr lvl="1" fontAlgn="ctr">
              <a:spcBef>
                <a:spcPts val="0"/>
              </a:spcBef>
              <a:spcAft>
                <a:spcPts val="1100"/>
              </a:spcAft>
            </a:pPr>
            <a:r>
              <a:rPr lang="en-US" sz="1400" dirty="0">
                <a:latin typeface="Calibri" panose="020F0502020204030204" pitchFamily="34" charset="0"/>
              </a:rPr>
              <a:t>This is done proactively and will help with delivery value.</a:t>
            </a:r>
          </a:p>
          <a:p>
            <a:pPr lvl="1">
              <a:spcBef>
                <a:spcPts val="0"/>
              </a:spcBef>
              <a:spcAft>
                <a:spcPts val="1100"/>
              </a:spcAft>
            </a:pPr>
            <a:r>
              <a:rPr lang="en-US" sz="1400" dirty="0">
                <a:latin typeface="Calibri" panose="020F0502020204030204" pitchFamily="34" charset="0"/>
              </a:rPr>
              <a:t>Project teams work for other stakeholders by engaging with them.</a:t>
            </a:r>
          </a:p>
          <a:p>
            <a:pPr lvl="1">
              <a:spcBef>
                <a:spcPts val="0"/>
              </a:spcBef>
              <a:spcAft>
                <a:spcPts val="1100"/>
              </a:spcAft>
            </a:pPr>
            <a:r>
              <a:rPr lang="en-US" sz="1400" dirty="0">
                <a:latin typeface="Calibri" panose="020F0502020204030204" pitchFamily="34" charset="0"/>
              </a:rPr>
              <a:t>Stakeholder engagement proactively improves value delivery.</a:t>
            </a:r>
          </a:p>
          <a:p>
            <a:pPr lvl="2" fontAlgn="ctr">
              <a:spcBef>
                <a:spcPts val="0"/>
              </a:spcBef>
              <a:spcAft>
                <a:spcPts val="1100"/>
              </a:spcAft>
            </a:pPr>
            <a:r>
              <a:rPr lang="en-US" sz="1200" dirty="0">
                <a:latin typeface="Calibri" panose="020F0502020204030204" pitchFamily="34" charset="0"/>
              </a:rPr>
              <a:t>Will influence many aspects of a project.</a:t>
            </a:r>
          </a:p>
          <a:p>
            <a:pPr>
              <a:spcBef>
                <a:spcPts val="0"/>
              </a:spcBef>
              <a:spcAft>
                <a:spcPts val="1100"/>
              </a:spcAft>
            </a:pPr>
            <a:endParaRPr lang="en-US" sz="1600" dirty="0">
              <a:latin typeface="Calibri" panose="020F0502020204030204" pitchFamily="34" charset="0"/>
            </a:endParaRPr>
          </a:p>
          <a:p>
            <a:pPr marL="0" indent="0">
              <a:spcBef>
                <a:spcPts val="0"/>
              </a:spcBef>
              <a:spcAft>
                <a:spcPts val="1100"/>
              </a:spcAft>
              <a:buNone/>
            </a:pPr>
            <a:endParaRPr lang="en-US" sz="1600" dirty="0">
              <a:latin typeface="Calibri" panose="020F0502020204030204" pitchFamily="34" charset="0"/>
            </a:endParaRPr>
          </a:p>
          <a:p>
            <a:pPr marL="0" marR="0" indent="0">
              <a:spcBef>
                <a:spcPts val="0"/>
              </a:spcBef>
              <a:spcAft>
                <a:spcPts val="0"/>
              </a:spcAft>
              <a:buNone/>
            </a:pPr>
            <a:endParaRPr lang="en-US" sz="1600" dirty="0">
              <a:latin typeface="Calibri" panose="020F0502020204030204" pitchFamily="34" charset="0"/>
            </a:endParaRPr>
          </a:p>
          <a:p>
            <a:endParaRPr lang="en-US" dirty="0"/>
          </a:p>
        </p:txBody>
      </p:sp>
    </p:spTree>
    <p:extLst>
      <p:ext uri="{BB962C8B-B14F-4D97-AF65-F5344CB8AC3E}">
        <p14:creationId xmlns:p14="http://schemas.microsoft.com/office/powerpoint/2010/main" val="3096449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3. Effectively engage with stakeholders </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13</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7000"/>
            <a:ext cx="11119104" cy="5971434"/>
          </a:xfrm>
        </p:spPr>
        <p:txBody>
          <a:bodyPr/>
          <a:lstStyle/>
          <a:p>
            <a:pPr>
              <a:spcBef>
                <a:spcPts val="0"/>
              </a:spcBef>
              <a:spcAft>
                <a:spcPts val="300"/>
              </a:spcAft>
            </a:pPr>
            <a:r>
              <a:rPr lang="en-US" sz="1600" b="1" dirty="0">
                <a:latin typeface="Calibri" panose="020F0502020204030204" pitchFamily="34" charset="0"/>
              </a:rPr>
              <a:t>Stakeholders</a:t>
            </a:r>
            <a:r>
              <a:rPr lang="en-US" sz="1600" dirty="0">
                <a:latin typeface="Calibri" panose="020F0502020204030204" pitchFamily="34" charset="0"/>
              </a:rPr>
              <a:t> can affect many aspects of a project, including but not limited to:</a:t>
            </a:r>
          </a:p>
          <a:p>
            <a:pPr marL="681228" lvl="1">
              <a:spcBef>
                <a:spcPts val="0"/>
              </a:spcBef>
            </a:pPr>
            <a:r>
              <a:rPr lang="en-US" sz="1400" dirty="0">
                <a:latin typeface="Calibri" panose="020F0502020204030204" pitchFamily="34" charset="0"/>
              </a:rPr>
              <a:t>Scope/requirements </a:t>
            </a:r>
          </a:p>
          <a:p>
            <a:pPr marL="681228" lvl="1">
              <a:spcBef>
                <a:spcPts val="0"/>
              </a:spcBef>
            </a:pPr>
            <a:r>
              <a:rPr lang="en-US" sz="1400" dirty="0">
                <a:latin typeface="Calibri" panose="020F0502020204030204" pitchFamily="34" charset="0"/>
              </a:rPr>
              <a:t>Schedule</a:t>
            </a:r>
          </a:p>
          <a:p>
            <a:pPr marL="681228" lvl="1">
              <a:spcBef>
                <a:spcPts val="0"/>
              </a:spcBef>
            </a:pPr>
            <a:r>
              <a:rPr lang="en-US" sz="1400" dirty="0">
                <a:latin typeface="Calibri" panose="020F0502020204030204" pitchFamily="34" charset="0"/>
              </a:rPr>
              <a:t>Cost </a:t>
            </a:r>
          </a:p>
          <a:p>
            <a:pPr marL="681228" lvl="1">
              <a:spcBef>
                <a:spcPts val="0"/>
              </a:spcBef>
            </a:pPr>
            <a:r>
              <a:rPr lang="en-US" sz="1400" dirty="0">
                <a:latin typeface="Calibri" panose="020F0502020204030204" pitchFamily="34" charset="0"/>
              </a:rPr>
              <a:t>Project team </a:t>
            </a:r>
          </a:p>
          <a:p>
            <a:pPr marL="681228" lvl="1">
              <a:spcBef>
                <a:spcPts val="0"/>
              </a:spcBef>
            </a:pPr>
            <a:r>
              <a:rPr lang="en-US" sz="1400" dirty="0">
                <a:latin typeface="Calibri" panose="020F0502020204030204" pitchFamily="34" charset="0"/>
              </a:rPr>
              <a:t>Plans</a:t>
            </a:r>
          </a:p>
          <a:p>
            <a:pPr marL="681228" lvl="1">
              <a:spcBef>
                <a:spcPts val="0"/>
              </a:spcBef>
            </a:pPr>
            <a:r>
              <a:rPr lang="en-US" sz="1400" dirty="0">
                <a:latin typeface="Calibri" panose="020F0502020204030204" pitchFamily="34" charset="0"/>
              </a:rPr>
              <a:t>Outcomes </a:t>
            </a:r>
          </a:p>
          <a:p>
            <a:pPr marL="681228" lvl="1">
              <a:spcBef>
                <a:spcPts val="0"/>
              </a:spcBef>
            </a:pPr>
            <a:r>
              <a:rPr lang="en-US" sz="1400" dirty="0">
                <a:latin typeface="Calibri" panose="020F0502020204030204" pitchFamily="34" charset="0"/>
              </a:rPr>
              <a:t>Culture</a:t>
            </a:r>
          </a:p>
          <a:p>
            <a:pPr marL="681228" lvl="1">
              <a:spcBef>
                <a:spcPts val="0"/>
              </a:spcBef>
            </a:pPr>
            <a:r>
              <a:rPr lang="en-US" sz="1400" dirty="0">
                <a:latin typeface="Calibri" panose="020F0502020204030204" pitchFamily="34" charset="0"/>
              </a:rPr>
              <a:t>Benefits realization- at the end, does the result provide value?</a:t>
            </a:r>
          </a:p>
          <a:p>
            <a:pPr marL="681228" lvl="1">
              <a:spcBef>
                <a:spcPts val="0"/>
              </a:spcBef>
            </a:pPr>
            <a:r>
              <a:rPr lang="en-US" sz="1400" dirty="0">
                <a:latin typeface="Calibri" panose="020F0502020204030204" pitchFamily="34" charset="0"/>
              </a:rPr>
              <a:t>Risk</a:t>
            </a:r>
          </a:p>
          <a:p>
            <a:pPr marL="681228" lvl="1">
              <a:spcBef>
                <a:spcPts val="0"/>
              </a:spcBef>
            </a:pPr>
            <a:r>
              <a:rPr lang="en-US" sz="1400" dirty="0">
                <a:latin typeface="Calibri" panose="020F0502020204030204" pitchFamily="34" charset="0"/>
              </a:rPr>
              <a:t>Quality</a:t>
            </a:r>
          </a:p>
          <a:p>
            <a:pPr marL="681228" lvl="1">
              <a:spcBef>
                <a:spcPts val="0"/>
              </a:spcBef>
            </a:pPr>
            <a:r>
              <a:rPr lang="en-US" sz="1400" dirty="0">
                <a:latin typeface="Calibri" panose="020F0502020204030204" pitchFamily="34" charset="0"/>
              </a:rPr>
              <a:t>Success</a:t>
            </a:r>
          </a:p>
          <a:p>
            <a:pPr marL="333756" lvl="1" indent="0">
              <a:spcBef>
                <a:spcPts val="0"/>
              </a:spcBef>
              <a:buNone/>
            </a:pPr>
            <a:endParaRPr lang="en-US" sz="1400" dirty="0">
              <a:latin typeface="Calibri" panose="020F0502020204030204" pitchFamily="34" charset="0"/>
            </a:endParaRPr>
          </a:p>
          <a:p>
            <a:pPr>
              <a:spcBef>
                <a:spcPts val="0"/>
              </a:spcBef>
            </a:pPr>
            <a:r>
              <a:rPr lang="en-US" sz="1600" dirty="0">
                <a:latin typeface="Calibri" panose="020F0502020204030204" pitchFamily="34" charset="0"/>
              </a:rPr>
              <a:t>Identifying, analyzing, and proactively engaging with stakeholders from the start to the end of the project </a:t>
            </a:r>
          </a:p>
          <a:p>
            <a:pPr marL="0" indent="0">
              <a:spcBef>
                <a:spcPts val="0"/>
              </a:spcBef>
              <a:buNone/>
            </a:pPr>
            <a:endParaRPr lang="en-US" sz="1600" dirty="0">
              <a:latin typeface="Calibri" panose="020F0502020204030204" pitchFamily="34" charset="0"/>
            </a:endParaRPr>
          </a:p>
          <a:p>
            <a:pPr>
              <a:spcBef>
                <a:spcPts val="0"/>
              </a:spcBef>
            </a:pPr>
            <a:r>
              <a:rPr lang="en-US" sz="1600" dirty="0">
                <a:latin typeface="Calibri" panose="020F0502020204030204" pitchFamily="34" charset="0"/>
              </a:rPr>
              <a:t>Project teams are a group of stakeholders. </a:t>
            </a:r>
          </a:p>
          <a:p>
            <a:pPr marL="0" indent="0">
              <a:spcBef>
                <a:spcPts val="0"/>
              </a:spcBef>
              <a:buNone/>
            </a:pPr>
            <a:endParaRPr lang="en-US" sz="1600" dirty="0">
              <a:latin typeface="Calibri" panose="020F0502020204030204" pitchFamily="34" charset="0"/>
            </a:endParaRPr>
          </a:p>
          <a:p>
            <a:pPr>
              <a:spcBef>
                <a:spcPts val="0"/>
              </a:spcBef>
            </a:pPr>
            <a:r>
              <a:rPr lang="en-US" sz="1600" dirty="0">
                <a:latin typeface="Calibri" panose="020F0502020204030204" pitchFamily="34" charset="0"/>
              </a:rPr>
              <a:t>Consist of defining how, when, how often, and under what situations stakeholders want to be and should be engaged.</a:t>
            </a:r>
          </a:p>
          <a:p>
            <a:pPr lvl="1" fontAlgn="ctr">
              <a:spcBef>
                <a:spcPts val="0"/>
              </a:spcBef>
            </a:pPr>
            <a:r>
              <a:rPr lang="en-US" sz="1400" dirty="0">
                <a:latin typeface="Calibri" panose="020F0502020204030204" pitchFamily="34" charset="0"/>
              </a:rPr>
              <a:t>You will have to define how to engage someone and when to engage someone.</a:t>
            </a:r>
          </a:p>
          <a:p>
            <a:pPr lvl="1" fontAlgn="ctr">
              <a:spcBef>
                <a:spcPts val="0"/>
              </a:spcBef>
            </a:pPr>
            <a:r>
              <a:rPr lang="en-US" sz="1400" dirty="0">
                <a:latin typeface="Calibri" panose="020F0502020204030204" pitchFamily="34" charset="0"/>
              </a:rPr>
              <a:t>This relies on interpersonal skills, including taking initiative, integrity, honesty, collaboration, respect, empathy, and confidence.</a:t>
            </a:r>
          </a:p>
          <a:p>
            <a:pPr marL="338328" lvl="1" indent="0" fontAlgn="ctr">
              <a:spcBef>
                <a:spcPts val="0"/>
              </a:spcBef>
              <a:buNone/>
            </a:pPr>
            <a:endParaRPr lang="en-US" sz="1400" dirty="0">
              <a:latin typeface="Calibri" panose="020F0502020204030204" pitchFamily="34" charset="0"/>
            </a:endParaRPr>
          </a:p>
          <a:p>
            <a:pPr>
              <a:spcBef>
                <a:spcPts val="0"/>
              </a:spcBef>
            </a:pPr>
            <a:r>
              <a:rPr lang="en-US" sz="1600" dirty="0">
                <a:latin typeface="Calibri" panose="020F0502020204030204" pitchFamily="34" charset="0"/>
              </a:rPr>
              <a:t>Engagement helps project teams detect, collect, and evaluate information, data, and opinions.</a:t>
            </a:r>
          </a:p>
          <a:p>
            <a:pPr>
              <a:spcBef>
                <a:spcPts val="0"/>
              </a:spcBef>
            </a:pPr>
            <a:r>
              <a:rPr lang="en-US" sz="1600" dirty="0">
                <a:latin typeface="Calibri" panose="020F0502020204030204" pitchFamily="34" charset="0"/>
              </a:rPr>
              <a:t>Project teams actively engage other stakeholders throughout the project to minimize potential negative impacts and maximize positive impacts.</a:t>
            </a:r>
          </a:p>
          <a:p>
            <a:pPr>
              <a:spcBef>
                <a:spcPts val="0"/>
              </a:spcBef>
            </a:pPr>
            <a:r>
              <a:rPr lang="en-US" sz="1600" dirty="0">
                <a:latin typeface="Calibri" panose="020F0502020204030204" pitchFamily="34" charset="0"/>
              </a:rPr>
              <a:t>For the exam: Stakeholder is usually referring to the customer. **</a:t>
            </a:r>
          </a:p>
          <a:p>
            <a:pPr>
              <a:spcBef>
                <a:spcPts val="0"/>
              </a:spcBef>
              <a:spcAft>
                <a:spcPts val="1100"/>
              </a:spcAft>
            </a:pPr>
            <a:endParaRPr lang="en-US" sz="1600" dirty="0">
              <a:latin typeface="Calibri" panose="020F0502020204030204" pitchFamily="34" charset="0"/>
            </a:endParaRPr>
          </a:p>
          <a:p>
            <a:pPr marL="0" indent="0">
              <a:spcBef>
                <a:spcPts val="0"/>
              </a:spcBef>
              <a:spcAft>
                <a:spcPts val="1100"/>
              </a:spcAft>
              <a:buNone/>
            </a:pPr>
            <a:endParaRPr lang="en-US" sz="1600" dirty="0">
              <a:latin typeface="Calibri" panose="020F0502020204030204" pitchFamily="34" charset="0"/>
            </a:endParaRPr>
          </a:p>
          <a:p>
            <a:pPr marL="0" marR="0" indent="0">
              <a:spcBef>
                <a:spcPts val="0"/>
              </a:spcBef>
              <a:spcAft>
                <a:spcPts val="0"/>
              </a:spcAft>
              <a:buNone/>
            </a:pPr>
            <a:endParaRPr lang="en-US" sz="1600" dirty="0">
              <a:latin typeface="Calibri" panose="020F0502020204030204" pitchFamily="34" charset="0"/>
            </a:endParaRPr>
          </a:p>
          <a:p>
            <a:endParaRPr lang="en-US" dirty="0"/>
          </a:p>
        </p:txBody>
      </p:sp>
    </p:spTree>
    <p:extLst>
      <p:ext uri="{BB962C8B-B14F-4D97-AF65-F5344CB8AC3E}">
        <p14:creationId xmlns:p14="http://schemas.microsoft.com/office/powerpoint/2010/main" val="67871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229275"/>
            <a:ext cx="10671048" cy="275327"/>
          </a:xfrm>
        </p:spPr>
        <p:txBody>
          <a:bodyPr/>
          <a:lstStyle/>
          <a:p>
            <a:r>
              <a:rPr lang="en-US" sz="1600" dirty="0">
                <a:latin typeface="Arial Black" panose="020B0604020202020204" pitchFamily="34" charset="0"/>
              </a:rPr>
              <a:t>4. Focus on value</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14</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433424"/>
            <a:ext cx="11119104" cy="5991151"/>
          </a:xfrm>
        </p:spPr>
        <p:txBody>
          <a:bodyPr/>
          <a:lstStyle/>
          <a:p>
            <a:pPr>
              <a:spcBef>
                <a:spcPts val="0"/>
              </a:spcBef>
            </a:pPr>
            <a:r>
              <a:rPr lang="en-US" sz="1200" b="1" dirty="0">
                <a:latin typeface="Calibri" panose="020F0502020204030204" pitchFamily="34" charset="0"/>
              </a:rPr>
              <a:t>VALUE</a:t>
            </a:r>
          </a:p>
          <a:p>
            <a:pPr>
              <a:spcBef>
                <a:spcPts val="0"/>
              </a:spcBef>
            </a:pPr>
            <a:r>
              <a:rPr lang="en-US" sz="1200" dirty="0">
                <a:latin typeface="Calibri" panose="020F0502020204030204" pitchFamily="34" charset="0"/>
              </a:rPr>
              <a:t>Continually evaluate and adjust project alignment to business objectives and intended benefits and value.</a:t>
            </a:r>
          </a:p>
          <a:p>
            <a:pPr marL="505206" lvl="1" indent="-171450">
              <a:spcBef>
                <a:spcPts val="0"/>
              </a:spcBef>
            </a:pPr>
            <a:r>
              <a:rPr lang="en-US" sz="1200" dirty="0">
                <a:latin typeface="Calibri" panose="020F0502020204030204" pitchFamily="34" charset="0"/>
              </a:rPr>
              <a:t>Is this project still delivering value in the way the customer intended?</a:t>
            </a:r>
          </a:p>
          <a:p>
            <a:pPr marL="333756" lvl="1" indent="0">
              <a:spcBef>
                <a:spcPts val="0"/>
              </a:spcBef>
              <a:buNone/>
            </a:pPr>
            <a:endParaRPr lang="en-US" sz="1000" dirty="0">
              <a:latin typeface="Calibri" panose="020F0502020204030204" pitchFamily="34" charset="0"/>
            </a:endParaRPr>
          </a:p>
          <a:p>
            <a:pPr>
              <a:spcBef>
                <a:spcPts val="0"/>
              </a:spcBef>
            </a:pPr>
            <a:r>
              <a:rPr lang="en-US" sz="1200" dirty="0">
                <a:latin typeface="Calibri" panose="020F0502020204030204" pitchFamily="34" charset="0"/>
              </a:rPr>
              <a:t>Value is the ultimate indicator of project success.</a:t>
            </a:r>
          </a:p>
          <a:p>
            <a:pPr lvl="1">
              <a:spcBef>
                <a:spcPts val="0"/>
              </a:spcBef>
            </a:pPr>
            <a:r>
              <a:rPr lang="en-US" sz="1200" dirty="0">
                <a:latin typeface="Calibri" panose="020F0502020204030204" pitchFamily="34" charset="0"/>
              </a:rPr>
              <a:t>Every project will deliver value of some sort that your customer wants. Did it increase revenue and decrease expenses the way they wanted? If yes, it's a success. If not, it's a failure. </a:t>
            </a:r>
          </a:p>
          <a:p>
            <a:pPr marL="338328" lvl="1" indent="0" fontAlgn="ctr">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Value can be realized throughout the project, at the end of the project, or after the project is complete.</a:t>
            </a:r>
          </a:p>
          <a:p>
            <a:pPr lvl="1" fontAlgn="ctr">
              <a:spcBef>
                <a:spcPts val="0"/>
              </a:spcBef>
            </a:pPr>
            <a:r>
              <a:rPr lang="en-US" sz="1200" dirty="0">
                <a:latin typeface="Calibri" panose="020F0502020204030204" pitchFamily="34" charset="0"/>
              </a:rPr>
              <a:t>In a waterfall method, the stakeholder may not see it until the project is done. In an agile method, they will see value throughout.</a:t>
            </a:r>
          </a:p>
          <a:p>
            <a:pPr marL="795528" lvl="2" indent="0" fontAlgn="ctr">
              <a:spcBef>
                <a:spcPts val="0"/>
              </a:spcBef>
              <a:buNone/>
            </a:pPr>
            <a:endParaRPr lang="en-US" sz="1000" dirty="0">
              <a:latin typeface="Calibri" panose="020F0502020204030204" pitchFamily="34" charset="0"/>
            </a:endParaRPr>
          </a:p>
          <a:p>
            <a:pPr>
              <a:spcBef>
                <a:spcPts val="0"/>
              </a:spcBef>
            </a:pPr>
            <a:r>
              <a:rPr lang="en-US" sz="1200" dirty="0">
                <a:latin typeface="Calibri" panose="020F0502020204030204" pitchFamily="34" charset="0"/>
              </a:rPr>
              <a:t>Value, and the benefits that contribute to value, can be defined in quantitative and/or qualitative terms.</a:t>
            </a:r>
          </a:p>
          <a:p>
            <a:pPr lvl="1" fontAlgn="ctr">
              <a:spcBef>
                <a:spcPts val="0"/>
              </a:spcBef>
            </a:pPr>
            <a:r>
              <a:rPr lang="en-US" sz="1200" dirty="0">
                <a:latin typeface="Calibri" panose="020F0502020204030204" pitchFamily="34" charset="0"/>
              </a:rPr>
              <a:t>Quantitative = monetary value gain</a:t>
            </a:r>
          </a:p>
          <a:p>
            <a:pPr lvl="1" fontAlgn="ctr">
              <a:spcBef>
                <a:spcPts val="0"/>
              </a:spcBef>
            </a:pPr>
            <a:r>
              <a:rPr lang="en-US" sz="1200" dirty="0">
                <a:latin typeface="Calibri" panose="020F0502020204030204" pitchFamily="34" charset="0"/>
              </a:rPr>
              <a:t>Qualitative = value gain that cannot be defined by a numerical value.</a:t>
            </a:r>
          </a:p>
          <a:p>
            <a:pPr marL="338328" lvl="1" indent="0" fontAlgn="ctr">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A focus on outcomes allows project teams to support the intended benefits that lead to value creation.</a:t>
            </a:r>
          </a:p>
          <a:p>
            <a:pPr lvl="1" fontAlgn="ctr">
              <a:spcBef>
                <a:spcPts val="0"/>
              </a:spcBef>
            </a:pPr>
            <a:r>
              <a:rPr lang="en-US" sz="1200" dirty="0">
                <a:latin typeface="Calibri" panose="020F0502020204030204" pitchFamily="34" charset="0"/>
              </a:rPr>
              <a:t>A lot of times, the team is just focused on making the deliverable. But if the team changes its focus from just creating deliverables to the value, then the team can see they're not just building the deliverable per requirement, they're building to meet the value.</a:t>
            </a:r>
          </a:p>
          <a:p>
            <a:pPr marL="338328" lvl="1" indent="0" fontAlgn="ctr">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Project teams evaluate progress and adapt to maximize the expected value.</a:t>
            </a:r>
          </a:p>
          <a:p>
            <a:pPr lvl="1" fontAlgn="ctr">
              <a:spcBef>
                <a:spcPts val="0"/>
              </a:spcBef>
            </a:pPr>
            <a:r>
              <a:rPr lang="en-US" sz="1200" dirty="0">
                <a:latin typeface="Calibri" panose="020F0502020204030204" pitchFamily="34" charset="0"/>
              </a:rPr>
              <a:t>Changes will be made throughout to enhance the value.</a:t>
            </a:r>
          </a:p>
          <a:p>
            <a:pPr marL="338328" lvl="1" indent="0" fontAlgn="ctr">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Includes outcomes from the perspective of the customer or end user, is the ultimate success indicator and driver of projects.</a:t>
            </a:r>
          </a:p>
          <a:p>
            <a:pPr marL="0" indent="0">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Is there is a business case that leads to value? Why do we need it? Can we justify why we need this? </a:t>
            </a:r>
          </a:p>
          <a:p>
            <a:pPr lvl="1">
              <a:spcBef>
                <a:spcPts val="0"/>
              </a:spcBef>
            </a:pPr>
            <a:r>
              <a:rPr lang="en-US" sz="1000" dirty="0">
                <a:latin typeface="Calibri" panose="020F0502020204030204" pitchFamily="34" charset="0"/>
              </a:rPr>
              <a:t>A business case contains at least these supporting and interrelated elements:</a:t>
            </a:r>
          </a:p>
          <a:p>
            <a:pPr marL="848106" lvl="1" indent="-171450">
              <a:spcBef>
                <a:spcPts val="0"/>
              </a:spcBef>
            </a:pPr>
            <a:r>
              <a:rPr lang="en-US" sz="1000" dirty="0">
                <a:latin typeface="Calibri" panose="020F0502020204030204" pitchFamily="34" charset="0"/>
              </a:rPr>
              <a:t>Business need</a:t>
            </a:r>
          </a:p>
          <a:p>
            <a:pPr marL="848106" lvl="1" indent="-171450">
              <a:spcBef>
                <a:spcPts val="0"/>
              </a:spcBef>
            </a:pPr>
            <a:r>
              <a:rPr lang="en-US" sz="1000" dirty="0">
                <a:latin typeface="Calibri" panose="020F0502020204030204" pitchFamily="34" charset="0"/>
              </a:rPr>
              <a:t>Project justification</a:t>
            </a:r>
          </a:p>
          <a:p>
            <a:pPr marL="848106" lvl="1" indent="-171450">
              <a:spcBef>
                <a:spcPts val="0"/>
              </a:spcBef>
            </a:pPr>
            <a:r>
              <a:rPr lang="en-US" sz="1000" dirty="0">
                <a:latin typeface="Calibri" panose="020F0502020204030204" pitchFamily="34" charset="0"/>
              </a:rPr>
              <a:t>Business strategy</a:t>
            </a:r>
          </a:p>
          <a:p>
            <a:pPr marL="338328" indent="0">
              <a:spcBef>
                <a:spcPts val="0"/>
              </a:spcBef>
              <a:buNone/>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Value is the worth, importance, or usefulness of something. Value is subjective, in the sense that the same concept can have different values for different people and organizations.</a:t>
            </a:r>
          </a:p>
          <a:p>
            <a:pPr>
              <a:spcBef>
                <a:spcPts val="0"/>
              </a:spcBef>
            </a:pPr>
            <a:endParaRPr lang="en-US" sz="1200" dirty="0">
              <a:latin typeface="Calibri" panose="020F0502020204030204" pitchFamily="34" charset="0"/>
            </a:endParaRPr>
          </a:p>
          <a:p>
            <a:pPr>
              <a:spcBef>
                <a:spcPts val="0"/>
              </a:spcBef>
            </a:pPr>
            <a:r>
              <a:rPr lang="en-US" sz="1200" dirty="0">
                <a:latin typeface="Calibri" panose="020F0502020204030204" pitchFamily="34" charset="0"/>
              </a:rPr>
              <a:t>To support value realization from projects, project teams shift focus from deliverables to the intended outcomes. Doing so allows project teams to deliver on the vision or purpose of the project, rather than simply creating a specific deliverable.</a:t>
            </a:r>
          </a:p>
          <a:p>
            <a:pPr>
              <a:spcBef>
                <a:spcPts val="0"/>
              </a:spcBef>
              <a:spcAft>
                <a:spcPts val="1100"/>
              </a:spcAft>
            </a:pPr>
            <a:endParaRPr lang="en-US" sz="1200" dirty="0">
              <a:latin typeface="Calibri" panose="020F0502020204030204" pitchFamily="34" charset="0"/>
            </a:endParaRPr>
          </a:p>
          <a:p>
            <a:pPr marL="0" indent="0">
              <a:spcBef>
                <a:spcPts val="0"/>
              </a:spcBef>
              <a:spcAft>
                <a:spcPts val="1100"/>
              </a:spcAft>
              <a:buNone/>
            </a:pPr>
            <a:endParaRPr lang="en-US" sz="1200" dirty="0">
              <a:latin typeface="Calibri" panose="020F0502020204030204" pitchFamily="34" charset="0"/>
            </a:endParaRPr>
          </a:p>
          <a:p>
            <a:pPr marL="0" marR="0" indent="0">
              <a:spcBef>
                <a:spcPts val="0"/>
              </a:spcBef>
              <a:spcAft>
                <a:spcPts val="0"/>
              </a:spcAft>
              <a:buNone/>
            </a:pPr>
            <a:endParaRPr lang="en-US" sz="1200" dirty="0">
              <a:latin typeface="Calibri" panose="020F0502020204030204" pitchFamily="34" charset="0"/>
            </a:endParaRPr>
          </a:p>
          <a:p>
            <a:endParaRPr lang="en-US" sz="1200" dirty="0"/>
          </a:p>
        </p:txBody>
      </p:sp>
    </p:spTree>
    <p:extLst>
      <p:ext uri="{BB962C8B-B14F-4D97-AF65-F5344CB8AC3E}">
        <p14:creationId xmlns:p14="http://schemas.microsoft.com/office/powerpoint/2010/main" val="772434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5. Recognize, evaluate, and respond to system interactions</a:t>
            </a:r>
            <a:br>
              <a:rPr lang="en-US" sz="1800" dirty="0">
                <a:solidFill>
                  <a:srgbClr val="404040"/>
                </a:solidFill>
                <a:effectLst/>
                <a:latin typeface="Times New Roman" panose="02020603050405020304" pitchFamily="18" charset="0"/>
              </a:rPr>
            </a:br>
            <a:endParaRPr lang="en-US" sz="1600" dirty="0">
              <a:latin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15</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1091244"/>
            <a:ext cx="11119104" cy="4997585"/>
          </a:xfrm>
        </p:spPr>
        <p:txBody>
          <a:bodyPr/>
          <a:lstStyle/>
          <a:p>
            <a:pPr>
              <a:spcBef>
                <a:spcPts val="0"/>
              </a:spcBef>
            </a:pPr>
            <a:r>
              <a:rPr lang="en-US" sz="1400" b="1" dirty="0">
                <a:latin typeface="Calibri" panose="020F0502020204030204" pitchFamily="34" charset="0"/>
              </a:rPr>
              <a:t>SYSTEMS THINKING</a:t>
            </a:r>
          </a:p>
          <a:p>
            <a:pPr>
              <a:spcBef>
                <a:spcPts val="0"/>
              </a:spcBef>
            </a:pPr>
            <a:r>
              <a:rPr lang="en-US" sz="1400" dirty="0">
                <a:latin typeface="Calibri" panose="020F0502020204030204" pitchFamily="34" charset="0"/>
              </a:rPr>
              <a:t>A system is a set of interacting and interdependent components that function as a unified whole. </a:t>
            </a:r>
          </a:p>
          <a:p>
            <a:pPr>
              <a:spcBef>
                <a:spcPts val="0"/>
              </a:spcBef>
            </a:pPr>
            <a:r>
              <a:rPr lang="en-US" sz="1400" dirty="0">
                <a:latin typeface="Calibri" panose="020F0502020204030204" pitchFamily="34" charset="0"/>
              </a:rPr>
              <a:t>	• A set of independent components that need to interact together to function in order to get the project done.  </a:t>
            </a:r>
          </a:p>
          <a:p>
            <a:pPr>
              <a:spcBef>
                <a:spcPts val="0"/>
              </a:spcBef>
            </a:pPr>
            <a:r>
              <a:rPr lang="en-US" sz="1400" dirty="0">
                <a:latin typeface="Calibri" panose="020F0502020204030204" pitchFamily="34" charset="0"/>
              </a:rPr>
              <a:t>A project is a system of interdependent and interacting domains of activity.</a:t>
            </a:r>
          </a:p>
          <a:p>
            <a:pPr>
              <a:spcBef>
                <a:spcPts val="0"/>
              </a:spcBef>
            </a:pPr>
            <a:r>
              <a:rPr lang="en-US" sz="1400" dirty="0">
                <a:latin typeface="Calibri" panose="020F0502020204030204" pitchFamily="34" charset="0"/>
              </a:rPr>
              <a:t>	• Must ensure we manage our scope right, or quality, or schedule or cost to make this project complete successfully.</a:t>
            </a:r>
          </a:p>
          <a:p>
            <a:pPr>
              <a:spcBef>
                <a:spcPts val="0"/>
              </a:spcBef>
            </a:pPr>
            <a:r>
              <a:rPr lang="en-US" sz="1400" dirty="0">
                <a:latin typeface="Calibri" panose="020F0502020204030204" pitchFamily="34" charset="0"/>
              </a:rPr>
              <a:t>Recognize, evaluate, and respond to the dynamic circumstances within and surrounding the project in a holistic way to positively affect project performance.</a:t>
            </a:r>
          </a:p>
          <a:p>
            <a:pPr>
              <a:spcBef>
                <a:spcPts val="0"/>
              </a:spcBef>
            </a:pPr>
            <a:r>
              <a:rPr lang="en-US" sz="1400" dirty="0">
                <a:latin typeface="Calibri" panose="020F0502020204030204" pitchFamily="34" charset="0"/>
              </a:rPr>
              <a:t>	• A project manager doesn't see a project as a single component, they see it as a series of components or a set of components that act together. </a:t>
            </a:r>
          </a:p>
          <a:p>
            <a:pPr>
              <a:spcBef>
                <a:spcPts val="0"/>
              </a:spcBef>
            </a:pPr>
            <a:r>
              <a:rPr lang="en-US" sz="1400" dirty="0">
                <a:latin typeface="Calibri" panose="020F0502020204030204" pitchFamily="34" charset="0"/>
              </a:rPr>
              <a:t>Systems thinking entails taking a holistic view of how project parts interact with each other and with external systems.</a:t>
            </a:r>
          </a:p>
          <a:p>
            <a:pPr>
              <a:spcBef>
                <a:spcPts val="0"/>
              </a:spcBef>
            </a:pPr>
            <a:r>
              <a:rPr lang="en-US" sz="1400" dirty="0">
                <a:latin typeface="Calibri" panose="020F0502020204030204" pitchFamily="34" charset="0"/>
              </a:rPr>
              <a:t>	• Projects will use external support (IT support)</a:t>
            </a:r>
          </a:p>
          <a:p>
            <a:pPr>
              <a:spcBef>
                <a:spcPts val="0"/>
              </a:spcBef>
            </a:pPr>
            <a:r>
              <a:rPr lang="en-US" sz="1400" dirty="0">
                <a:latin typeface="Calibri" panose="020F0502020204030204" pitchFamily="34" charset="0"/>
              </a:rPr>
              <a:t>Systems are constantly changing, requiring consistent attention to internal and external conditions.</a:t>
            </a:r>
          </a:p>
          <a:p>
            <a:pPr>
              <a:spcBef>
                <a:spcPts val="0"/>
              </a:spcBef>
            </a:pPr>
            <a:r>
              <a:rPr lang="en-US" sz="1400" dirty="0">
                <a:latin typeface="Calibri" panose="020F0502020204030204" pitchFamily="34" charset="0"/>
              </a:rPr>
              <a:t>	• Organizational changes, budget changes, etc.</a:t>
            </a:r>
          </a:p>
          <a:p>
            <a:pPr>
              <a:spcBef>
                <a:spcPts val="0"/>
              </a:spcBef>
            </a:pPr>
            <a:r>
              <a:rPr lang="en-US" sz="1400" dirty="0">
                <a:latin typeface="Calibri" panose="020F0502020204030204" pitchFamily="34" charset="0"/>
              </a:rPr>
              <a:t>Being responsive to system interactions allows project teams to leverage positive outcomes.</a:t>
            </a:r>
          </a:p>
          <a:p>
            <a:pPr>
              <a:spcBef>
                <a:spcPts val="0"/>
              </a:spcBef>
            </a:pPr>
            <a:r>
              <a:rPr lang="en-US" sz="1400" dirty="0">
                <a:latin typeface="Calibri" panose="020F0502020204030204" pitchFamily="34" charset="0"/>
              </a:rPr>
              <a:t>	• If you add more scope, you're going to increase time and scope- how to react?</a:t>
            </a:r>
          </a:p>
          <a:p>
            <a:pPr>
              <a:spcBef>
                <a:spcPts val="0"/>
              </a:spcBef>
            </a:pPr>
            <a:r>
              <a:rPr lang="en-US" sz="1400" dirty="0">
                <a:latin typeface="Calibri" panose="020F0502020204030204" pitchFamily="34" charset="0"/>
              </a:rPr>
              <a:t>Project teams should acknowledge this holistic view of a project, seeing the project as a system with its own working parts.</a:t>
            </a:r>
          </a:p>
          <a:p>
            <a:pPr>
              <a:spcBef>
                <a:spcPts val="0"/>
              </a:spcBef>
            </a:pPr>
            <a:r>
              <a:rPr lang="en-US" sz="1400" dirty="0">
                <a:latin typeface="Calibri" panose="020F0502020204030204" pitchFamily="34" charset="0"/>
              </a:rPr>
              <a:t>	• A system doesn't just focus on one component.</a:t>
            </a:r>
          </a:p>
          <a:p>
            <a:pPr>
              <a:spcBef>
                <a:spcPts val="0"/>
              </a:spcBef>
            </a:pPr>
            <a:r>
              <a:rPr lang="en-US" sz="1400" dirty="0">
                <a:latin typeface="Calibri" panose="020F0502020204030204" pitchFamily="34" charset="0"/>
              </a:rPr>
              <a:t>A project works within other larger systems, and a project deliverable may become part of a larger system to realize benefits.</a:t>
            </a:r>
          </a:p>
          <a:p>
            <a:pPr>
              <a:spcBef>
                <a:spcPts val="0"/>
              </a:spcBef>
            </a:pPr>
            <a:r>
              <a:rPr lang="en-US" sz="1400" dirty="0">
                <a:latin typeface="Calibri" panose="020F0502020204030204" pitchFamily="34" charset="0"/>
              </a:rPr>
              <a:t>	• Every company has a system of how it produces its deliverables.</a:t>
            </a:r>
          </a:p>
          <a:p>
            <a:pPr>
              <a:spcBef>
                <a:spcPts val="0"/>
              </a:spcBef>
            </a:pPr>
            <a:r>
              <a:rPr lang="en-US" sz="1400" dirty="0">
                <a:latin typeface="Calibri" panose="020F0502020204030204" pitchFamily="34" charset="0"/>
              </a:rPr>
              <a:t>As projects unfold, internal and external conditions are continuously changing. A single change can create several impacts</a:t>
            </a:r>
          </a:p>
          <a:p>
            <a:pPr>
              <a:spcBef>
                <a:spcPts val="0"/>
              </a:spcBef>
            </a:pPr>
            <a:r>
              <a:rPr lang="en-US" sz="1400" dirty="0">
                <a:latin typeface="Calibri" panose="020F0502020204030204" pitchFamily="34" charset="0"/>
              </a:rPr>
              <a:t>Systems thinking also applies to how the project team views itself and its interactions within the project system. </a:t>
            </a:r>
          </a:p>
          <a:p>
            <a:pPr>
              <a:spcBef>
                <a:spcPts val="0"/>
              </a:spcBef>
            </a:pPr>
            <a:r>
              <a:rPr lang="en-US" sz="1400" dirty="0">
                <a:latin typeface="Calibri" panose="020F0502020204030204" pitchFamily="34" charset="0"/>
              </a:rPr>
              <a:t>The project system often brings together a diverse project team engaged in working for a common objective</a:t>
            </a:r>
            <a:r>
              <a:rPr lang="en-US" sz="1200" b="1" dirty="0">
                <a:latin typeface="Calibri" panose="020F0502020204030204" pitchFamily="34" charset="0"/>
              </a:rPr>
              <a:t>.</a:t>
            </a:r>
            <a:endParaRPr lang="en-US" sz="1200" dirty="0"/>
          </a:p>
        </p:txBody>
      </p:sp>
    </p:spTree>
    <p:extLst>
      <p:ext uri="{BB962C8B-B14F-4D97-AF65-F5344CB8AC3E}">
        <p14:creationId xmlns:p14="http://schemas.microsoft.com/office/powerpoint/2010/main" val="2686925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6. Demonstrate leadership behaviors</a:t>
            </a:r>
            <a:br>
              <a:rPr lang="en-US" sz="1600" dirty="0">
                <a:latin typeface="Arial Black" panose="020B0604020202020204" pitchFamily="34" charset="0"/>
              </a:rPr>
            </a:br>
            <a:endParaRPr lang="en-US" sz="1600" dirty="0">
              <a:latin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16</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991151"/>
          </a:xfrm>
        </p:spPr>
        <p:txBody>
          <a:bodyPr/>
          <a:lstStyle/>
          <a:p>
            <a:pPr>
              <a:spcBef>
                <a:spcPts val="0"/>
              </a:spcBef>
            </a:pPr>
            <a:r>
              <a:rPr lang="en-US" sz="1400" b="1" dirty="0">
                <a:latin typeface="Calibri" panose="020F0502020204030204" pitchFamily="34" charset="0"/>
              </a:rPr>
              <a:t>LEADERSHIP</a:t>
            </a:r>
          </a:p>
          <a:p>
            <a:pPr>
              <a:spcBef>
                <a:spcPts val="0"/>
              </a:spcBef>
            </a:pPr>
            <a:r>
              <a:rPr lang="en-US" sz="1400" dirty="0">
                <a:latin typeface="Calibri" panose="020F0502020204030204" pitchFamily="34" charset="0"/>
              </a:rPr>
              <a:t>Demonstrate and adapt leadership behaviors to support individual and team needs.</a:t>
            </a:r>
          </a:p>
          <a:p>
            <a:pPr marL="0" indent="0">
              <a:spcBef>
                <a:spcPts val="0"/>
              </a:spcBef>
              <a:buNone/>
            </a:pPr>
            <a:r>
              <a:rPr lang="en-US" sz="1400" dirty="0">
                <a:latin typeface="Calibri" panose="020F0502020204030204" pitchFamily="34" charset="0"/>
              </a:rPr>
              <a:t>	• Different leadership and techniques to keep the team motivated which you must adapt to.</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Effective leadership promotes project success and contributes to positive project outcomes.</a:t>
            </a:r>
          </a:p>
          <a:p>
            <a:pPr marL="0" indent="0">
              <a:spcBef>
                <a:spcPts val="0"/>
              </a:spcBef>
              <a:buNone/>
            </a:pPr>
            <a:r>
              <a:rPr lang="en-US" sz="1400" dirty="0">
                <a:latin typeface="Calibri" panose="020F0502020204030204" pitchFamily="34" charset="0"/>
              </a:rPr>
              <a:t>	• Projects can fail due to poor leadership.</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Any project team member can demonstrate leadership behaviors.</a:t>
            </a:r>
          </a:p>
          <a:p>
            <a:pPr marL="0" indent="0">
              <a:spcBef>
                <a:spcPts val="0"/>
              </a:spcBef>
              <a:buNone/>
            </a:pPr>
            <a:r>
              <a:rPr lang="en-US" sz="1400" dirty="0">
                <a:latin typeface="Calibri" panose="020F0502020204030204" pitchFamily="34" charset="0"/>
              </a:rPr>
              <a:t>	• Promote good leadership within the product team.</a:t>
            </a:r>
          </a:p>
          <a:p>
            <a:pPr marL="0" indent="0">
              <a:spcBef>
                <a:spcPts val="0"/>
              </a:spcBef>
              <a:buNone/>
            </a:pPr>
            <a:r>
              <a:rPr lang="en-US" sz="1400" dirty="0">
                <a:latin typeface="Calibri" panose="020F0502020204030204" pitchFamily="34" charset="0"/>
              </a:rPr>
              <a:t>	• Leadership = motivating people.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Leadership is different than authority.</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Modify your leadership method based on the team.</a:t>
            </a:r>
          </a:p>
          <a:p>
            <a:pPr lvl="1">
              <a:spcBef>
                <a:spcPts val="0"/>
              </a:spcBef>
            </a:pPr>
            <a:r>
              <a:rPr lang="en-US" sz="1200" dirty="0">
                <a:latin typeface="Calibri" panose="020F0502020204030204" pitchFamily="34" charset="0"/>
              </a:rPr>
              <a:t>Effective leaders adapt their style to the situation.</a:t>
            </a:r>
          </a:p>
          <a:p>
            <a:pPr lvl="1">
              <a:spcBef>
                <a:spcPts val="0"/>
              </a:spcBef>
            </a:pPr>
            <a:r>
              <a:rPr lang="en-US" sz="1200" dirty="0">
                <a:latin typeface="Calibri" panose="020F0502020204030204" pitchFamily="34" charset="0"/>
              </a:rPr>
              <a:t>Effective leaders recognize differences in motivation among project team members.</a:t>
            </a:r>
          </a:p>
          <a:p>
            <a:pPr lvl="1">
              <a:spcBef>
                <a:spcPts val="0"/>
              </a:spcBef>
            </a:pPr>
            <a:endParaRPr lang="en-US" sz="1200" dirty="0">
              <a:latin typeface="Calibri" panose="020F0502020204030204" pitchFamily="34" charset="0"/>
            </a:endParaRPr>
          </a:p>
          <a:p>
            <a:pPr>
              <a:spcBef>
                <a:spcPts val="0"/>
              </a:spcBef>
            </a:pPr>
            <a:r>
              <a:rPr lang="en-US" sz="1400" dirty="0">
                <a:latin typeface="Calibri" panose="020F0502020204030204" pitchFamily="34" charset="0"/>
              </a:rPr>
              <a:t>Leaders demonstrate desired behavior in areas of honesty, integrity, and ethical conduct.</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On a high-performing project multiple people may exhibit effective leadership skills including the project </a:t>
            </a:r>
          </a:p>
          <a:p>
            <a:pPr lvl="2">
              <a:spcBef>
                <a:spcPts val="0"/>
              </a:spcBef>
            </a:pPr>
            <a:r>
              <a:rPr lang="en-US" dirty="0">
                <a:latin typeface="Calibri" panose="020F0502020204030204" pitchFamily="34" charset="0"/>
              </a:rPr>
              <a:t>You are not the only leader on the team. </a:t>
            </a:r>
          </a:p>
          <a:p>
            <a:pPr marL="795528" lvl="2" indent="0">
              <a:spcBef>
                <a:spcPts val="0"/>
              </a:spcBef>
              <a:buNone/>
            </a:pPr>
            <a:endParaRPr lang="en-US" dirty="0">
              <a:latin typeface="Calibri" panose="020F0502020204030204" pitchFamily="34" charset="0"/>
            </a:endParaRPr>
          </a:p>
          <a:p>
            <a:pPr>
              <a:spcBef>
                <a:spcPts val="0"/>
              </a:spcBef>
              <a:spcAft>
                <a:spcPts val="1000"/>
              </a:spcAft>
            </a:pPr>
            <a:r>
              <a:rPr lang="en-US" sz="1400" dirty="0">
                <a:latin typeface="Calibri" panose="020F0502020204030204" pitchFamily="34" charset="0"/>
              </a:rPr>
              <a:t>It is important to remember that more conflict and misunderstanding can emerge when too many participants attempt to employ project influence in multiple, misaligned directions.</a:t>
            </a:r>
          </a:p>
          <a:p>
            <a:pPr>
              <a:spcBef>
                <a:spcPts val="0"/>
              </a:spcBef>
              <a:spcAft>
                <a:spcPts val="1000"/>
              </a:spcAft>
            </a:pPr>
            <a:r>
              <a:rPr lang="en-US" sz="1400" dirty="0">
                <a:latin typeface="Calibri" panose="020F0502020204030204" pitchFamily="34" charset="0"/>
              </a:rPr>
              <a:t>Leadership should not be confused with authority. Authority is the right to exercise power and control individuals.</a:t>
            </a:r>
          </a:p>
          <a:p>
            <a:pPr>
              <a:spcBef>
                <a:spcPts val="0"/>
              </a:spcBef>
              <a:spcAft>
                <a:spcPts val="1100"/>
              </a:spcAft>
            </a:pPr>
            <a:r>
              <a:rPr lang="en-US" sz="1400" dirty="0">
                <a:latin typeface="Calibri" panose="020F0502020204030204" pitchFamily="34" charset="0"/>
              </a:rPr>
              <a:t>It takes leadership to motivate a people toward a common goal, inspire them to align their individual interests in favor of collective effort, and achieve success as a project team rather than as individuals.</a:t>
            </a:r>
          </a:p>
          <a:p>
            <a:pPr>
              <a:spcBef>
                <a:spcPts val="0"/>
              </a:spcBef>
            </a:pPr>
            <a:endParaRPr lang="en-US" sz="1400" dirty="0">
              <a:latin typeface="Calibri" panose="020F0502020204030204" pitchFamily="34" charset="0"/>
            </a:endParaRPr>
          </a:p>
        </p:txBody>
      </p:sp>
    </p:spTree>
    <p:extLst>
      <p:ext uri="{BB962C8B-B14F-4D97-AF65-F5344CB8AC3E}">
        <p14:creationId xmlns:p14="http://schemas.microsoft.com/office/powerpoint/2010/main" val="1533458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6. Demonstrate leadership behaviors</a:t>
            </a:r>
            <a:br>
              <a:rPr lang="en-US" sz="1600" dirty="0">
                <a:latin typeface="Arial Black" panose="020B0604020202020204" pitchFamily="34" charset="0"/>
              </a:rPr>
            </a:br>
            <a:endParaRPr lang="en-US" sz="1600" dirty="0">
              <a:latin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17</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991151"/>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dirty="0">
                <a:latin typeface="Calibri" panose="020F0502020204030204" pitchFamily="34" charset="0"/>
              </a:rPr>
              <a:t>Team members develops leadership wisdom by adding or practicing a combination of various skills or techniques, including but not limited to:</a:t>
            </a:r>
          </a:p>
          <a:p>
            <a:pPr lvl="1">
              <a:spcBef>
                <a:spcPts val="0"/>
              </a:spcBef>
            </a:pPr>
            <a:r>
              <a:rPr lang="en-US" sz="1400" dirty="0">
                <a:latin typeface="Calibri" panose="020F0502020204030204" pitchFamily="34" charset="0"/>
              </a:rPr>
              <a:t>Focusing a project team around agreed goals</a:t>
            </a:r>
          </a:p>
          <a:p>
            <a:pPr lvl="1">
              <a:spcBef>
                <a:spcPts val="0"/>
              </a:spcBef>
            </a:pPr>
            <a:r>
              <a:rPr lang="en-US" sz="1400" dirty="0">
                <a:latin typeface="Calibri" panose="020F0502020204030204" pitchFamily="34" charset="0"/>
              </a:rPr>
              <a:t>Articulating a motivating vision for the project </a:t>
            </a:r>
          </a:p>
          <a:p>
            <a:pPr lvl="1">
              <a:spcBef>
                <a:spcPts val="0"/>
              </a:spcBef>
            </a:pPr>
            <a:r>
              <a:rPr lang="en-US" sz="1400" dirty="0">
                <a:latin typeface="Calibri" panose="020F0502020204030204" pitchFamily="34" charset="0"/>
              </a:rPr>
              <a:t>Generating consensus on the best way forward</a:t>
            </a:r>
          </a:p>
          <a:p>
            <a:pPr lvl="1">
              <a:spcBef>
                <a:spcPts val="0"/>
              </a:spcBef>
            </a:pPr>
            <a:r>
              <a:rPr lang="en-US" sz="1400" dirty="0">
                <a:latin typeface="Calibri" panose="020F0502020204030204" pitchFamily="34" charset="0"/>
              </a:rPr>
              <a:t>Overcoming obstacles to project progress</a:t>
            </a:r>
          </a:p>
          <a:p>
            <a:pPr lvl="1">
              <a:spcBef>
                <a:spcPts val="0"/>
              </a:spcBef>
            </a:pPr>
            <a:r>
              <a:rPr lang="en-US" sz="1400" dirty="0">
                <a:latin typeface="Calibri" panose="020F0502020204030204" pitchFamily="34" charset="0"/>
              </a:rPr>
              <a:t>Negotiating and resolving conflict</a:t>
            </a:r>
          </a:p>
          <a:p>
            <a:pPr lvl="1">
              <a:spcBef>
                <a:spcPts val="0"/>
              </a:spcBef>
            </a:pPr>
            <a:r>
              <a:rPr lang="en-US" sz="1400" dirty="0">
                <a:latin typeface="Calibri" panose="020F0502020204030204" pitchFamily="34" charset="0"/>
              </a:rPr>
              <a:t>Adapting communication style and messaging to stakeholders</a:t>
            </a:r>
          </a:p>
          <a:p>
            <a:pPr lvl="1">
              <a:spcBef>
                <a:spcPts val="0"/>
              </a:spcBef>
            </a:pPr>
            <a:r>
              <a:rPr lang="en-US" sz="1400" dirty="0">
                <a:latin typeface="Calibri" panose="020F0502020204030204" pitchFamily="34" charset="0"/>
              </a:rPr>
              <a:t>Coaching and mentoring fellow project team members</a:t>
            </a:r>
          </a:p>
          <a:p>
            <a:pPr lvl="1">
              <a:spcBef>
                <a:spcPts val="0"/>
              </a:spcBef>
            </a:pPr>
            <a:r>
              <a:rPr lang="en-US" sz="1400" dirty="0">
                <a:latin typeface="Calibri" panose="020F0502020204030204" pitchFamily="34" charset="0"/>
              </a:rPr>
              <a:t>Having self-awareness of one’s own bias and behaviors</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Projects work best when leaders understand what motivates people.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can flourish when project team members use suitable leadership traits, skills, and characteristics that match the specific needs and expectations of stakeholders.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Effective leadership promotes project success and contributes to positive project outcomes.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By mixing styles and leveraging motivators, any project team member or stakeholder can motivate or influence and in turn grow the project team, regardless of role or position.</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Managing and adapting to change during the project </a:t>
            </a:r>
          </a:p>
          <a:p>
            <a:pPr marL="0" indent="0">
              <a:spcBef>
                <a:spcPts val="0"/>
              </a:spcBef>
              <a:buNone/>
            </a:pPr>
            <a:endParaRPr lang="en-US" sz="1400" dirty="0">
              <a:latin typeface="Calibri" panose="020F0502020204030204" pitchFamily="34" charset="0"/>
            </a:endParaRPr>
          </a:p>
        </p:txBody>
      </p:sp>
    </p:spTree>
    <p:extLst>
      <p:ext uri="{BB962C8B-B14F-4D97-AF65-F5344CB8AC3E}">
        <p14:creationId xmlns:p14="http://schemas.microsoft.com/office/powerpoint/2010/main" val="1627366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7. Tailor based on context</a:t>
            </a:r>
            <a:br>
              <a:rPr lang="en-US" sz="1600" dirty="0">
                <a:latin typeface="Arial Black" panose="020B0604020202020204" pitchFamily="34" charset="0"/>
              </a:rPr>
            </a:br>
            <a:endParaRPr lang="en-US" sz="1600" dirty="0">
              <a:latin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18</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991151"/>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dirty="0">
                <a:latin typeface="Calibri" panose="020F0502020204030204" pitchFamily="34" charset="0"/>
              </a:rPr>
              <a:t>There are a different approaches you can use to develop your deliverable (Waterfall, Agile with iterations, etc.). Tailor the approach to the actual project.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Each project is unique.</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Design the project development methods based on the needs of the project and its objectives, stakeholders, governance, and the environment.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Using “just enough” process to accomplish the desired outcome while maximizing value, managing cost, and enhancing speed.</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success is based on adapting to the unique context of the project</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Tailoring the method is iterative, and therefore is a continuous process throughout the project.</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tailor the proper framework that will enable the flexibility to consistently produce positive outcomes.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discuss and decide on the delivery approach and resources on a project-by-project basis.</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Tailoring the project approach to suit the unique characteristics of the project and its environment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 tailored project approach can produce benefits, such as:</a:t>
            </a:r>
          </a:p>
          <a:p>
            <a:pPr lvl="1">
              <a:spcBef>
                <a:spcPts val="0"/>
              </a:spcBef>
            </a:pPr>
            <a:r>
              <a:rPr lang="en-US" sz="1200" dirty="0">
                <a:latin typeface="Calibri" panose="020F0502020204030204" pitchFamily="34" charset="0"/>
              </a:rPr>
              <a:t>Deeper commitment from project team members</a:t>
            </a:r>
          </a:p>
          <a:p>
            <a:pPr lvl="1">
              <a:spcBef>
                <a:spcPts val="0"/>
              </a:spcBef>
            </a:pPr>
            <a:r>
              <a:rPr lang="en-US" sz="1400" dirty="0">
                <a:latin typeface="Calibri" panose="020F0502020204030204" pitchFamily="34" charset="0"/>
              </a:rPr>
              <a:t>Reduction in waste in terms of actions or resources</a:t>
            </a:r>
          </a:p>
          <a:p>
            <a:pPr lvl="1">
              <a:spcBef>
                <a:spcPts val="0"/>
              </a:spcBef>
            </a:pPr>
            <a:r>
              <a:rPr lang="en-US" sz="1400" dirty="0">
                <a:latin typeface="Calibri" panose="020F0502020204030204" pitchFamily="34" charset="0"/>
              </a:rPr>
              <a:t>Customer-oriented focus</a:t>
            </a:r>
          </a:p>
          <a:p>
            <a:pPr lvl="1">
              <a:spcBef>
                <a:spcPts val="0"/>
              </a:spcBef>
            </a:pPr>
            <a:r>
              <a:rPr lang="en-US" sz="1400" dirty="0">
                <a:latin typeface="Calibri" panose="020F0502020204030204" pitchFamily="34" charset="0"/>
              </a:rPr>
              <a:t>More efficient use of project resources</a:t>
            </a:r>
          </a:p>
        </p:txBody>
      </p:sp>
    </p:spTree>
    <p:extLst>
      <p:ext uri="{BB962C8B-B14F-4D97-AF65-F5344CB8AC3E}">
        <p14:creationId xmlns:p14="http://schemas.microsoft.com/office/powerpoint/2010/main" val="1275486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a:latin typeface="Arial Black" panose="020B0604020202020204" pitchFamily="34" charset="0"/>
              </a:rPr>
              <a:t>8.Build quality into processes and deliverables </a:t>
            </a:r>
            <a:endParaRPr lang="en-US" sz="1600" dirty="0">
              <a:latin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19</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991151"/>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b="1" dirty="0">
                <a:latin typeface="Calibri" panose="020F0502020204030204" pitchFamily="34" charset="0"/>
              </a:rPr>
              <a:t>QUALITY</a:t>
            </a:r>
          </a:p>
          <a:p>
            <a:pPr>
              <a:spcBef>
                <a:spcPts val="0"/>
              </a:spcBef>
            </a:pPr>
            <a:r>
              <a:rPr lang="en-US" sz="1400" dirty="0">
                <a:latin typeface="Calibri" panose="020F0502020204030204" pitchFamily="34" charset="0"/>
              </a:rPr>
              <a:t>Quality is about meeting the acceptance criteria for deliverables. </a:t>
            </a:r>
          </a:p>
          <a:p>
            <a:pPr lvl="1">
              <a:spcBef>
                <a:spcPts val="0"/>
              </a:spcBef>
            </a:pPr>
            <a:r>
              <a:rPr lang="en-US" sz="1400" dirty="0">
                <a:latin typeface="Calibri" panose="020F0502020204030204" pitchFamily="34" charset="0"/>
              </a:rPr>
              <a:t>When gathering requirements for deliverables from the customer, ask them when we finish this project,  what would it take for an acceptance? Does it perform in this method? Does it need to complete this function? Quality is going to be about knowing what those things are and meeting them.</a:t>
            </a:r>
          </a:p>
          <a:p>
            <a:pPr lvl="1">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quality is about satisfying stakeholders’ expectations and fulfilling project and product requirements.</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Stakeholders will have to maintain a focus on quality that produces deliverables that meet project objectives and align to the needs set forth by stakeholders.</a:t>
            </a:r>
          </a:p>
          <a:p>
            <a:pPr>
              <a:spcBef>
                <a:spcPts val="0"/>
              </a:spcBef>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quality ensures processes are appropriate and as effective as possible.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Quality may have several different dimensions, including but not limited to the following:</a:t>
            </a:r>
          </a:p>
          <a:p>
            <a:pPr lvl="1">
              <a:spcBef>
                <a:spcPts val="0"/>
              </a:spcBef>
            </a:pPr>
            <a:r>
              <a:rPr lang="en-US" sz="1400" dirty="0">
                <a:latin typeface="Calibri" panose="020F0502020204030204" pitchFamily="34" charset="0"/>
              </a:rPr>
              <a:t>Performance</a:t>
            </a:r>
          </a:p>
          <a:p>
            <a:pPr lvl="1">
              <a:spcBef>
                <a:spcPts val="0"/>
              </a:spcBef>
            </a:pPr>
            <a:r>
              <a:rPr lang="en-US" sz="1400" dirty="0">
                <a:latin typeface="Calibri" panose="020F0502020204030204" pitchFamily="34" charset="0"/>
              </a:rPr>
              <a:t>Conformity </a:t>
            </a:r>
          </a:p>
          <a:p>
            <a:pPr lvl="1">
              <a:spcBef>
                <a:spcPts val="0"/>
              </a:spcBef>
            </a:pPr>
            <a:r>
              <a:rPr lang="en-US" sz="1400" dirty="0">
                <a:latin typeface="Calibri" panose="020F0502020204030204" pitchFamily="34" charset="0"/>
              </a:rPr>
              <a:t>Reliability </a:t>
            </a:r>
          </a:p>
          <a:p>
            <a:pPr lvl="1">
              <a:spcBef>
                <a:spcPts val="0"/>
              </a:spcBef>
            </a:pPr>
            <a:r>
              <a:rPr lang="en-US" sz="1400" dirty="0">
                <a:latin typeface="Calibri" panose="020F0502020204030204" pitchFamily="34" charset="0"/>
              </a:rPr>
              <a:t>Resilience </a:t>
            </a:r>
          </a:p>
          <a:p>
            <a:pPr lvl="1">
              <a:spcBef>
                <a:spcPts val="0"/>
              </a:spcBef>
            </a:pPr>
            <a:r>
              <a:rPr lang="en-US" sz="1400" dirty="0">
                <a:latin typeface="Calibri" panose="020F0502020204030204" pitchFamily="34" charset="0"/>
              </a:rPr>
              <a:t>Satisfaction </a:t>
            </a:r>
          </a:p>
          <a:p>
            <a:pPr lvl="1">
              <a:spcBef>
                <a:spcPts val="0"/>
              </a:spcBef>
            </a:pPr>
            <a:r>
              <a:rPr lang="en-US" sz="1400" dirty="0">
                <a:latin typeface="Calibri" panose="020F0502020204030204" pitchFamily="34" charset="0"/>
              </a:rPr>
              <a:t>Efficiency </a:t>
            </a:r>
          </a:p>
          <a:p>
            <a:pPr lvl="1">
              <a:spcBef>
                <a:spcPts val="0"/>
              </a:spcBef>
            </a:pPr>
            <a:r>
              <a:rPr lang="en-US" sz="1400" dirty="0">
                <a:latin typeface="Calibri" panose="020F0502020204030204" pitchFamily="34" charset="0"/>
              </a:rPr>
              <a:t>Sustainability </a:t>
            </a:r>
          </a:p>
          <a:p>
            <a:pPr marL="338328" lvl="1" indent="0">
              <a:spcBef>
                <a:spcPts val="0"/>
              </a:spcBef>
              <a:buNone/>
            </a:pPr>
            <a:endParaRPr lang="en-US" sz="1400" dirty="0">
              <a:latin typeface="Calibri" panose="020F0502020204030204" pitchFamily="34" charset="0"/>
            </a:endParaRPr>
          </a:p>
          <a:p>
            <a:pPr>
              <a:spcBef>
                <a:spcPts val="0"/>
              </a:spcBef>
            </a:pPr>
            <a:r>
              <a:rPr lang="en-US" sz="1600" dirty="0">
                <a:latin typeface="Calibri" panose="020F0502020204030204" pitchFamily="34" charset="0"/>
              </a:rPr>
              <a:t>Teams measure quality using metrics and acceptance criteria’s. </a:t>
            </a:r>
          </a:p>
          <a:p>
            <a:pPr marL="0" indent="0">
              <a:spcBef>
                <a:spcPts val="0"/>
              </a:spcBef>
              <a:buNone/>
            </a:pPr>
            <a:endParaRPr lang="en-US" sz="1600" dirty="0">
              <a:latin typeface="Calibri" panose="020F0502020204030204" pitchFamily="34" charset="0"/>
            </a:endParaRPr>
          </a:p>
          <a:p>
            <a:pPr>
              <a:spcBef>
                <a:spcPts val="0"/>
              </a:spcBef>
            </a:pPr>
            <a:r>
              <a:rPr lang="en-US" sz="1600" dirty="0">
                <a:latin typeface="Calibri" panose="020F0502020204030204" pitchFamily="34" charset="0"/>
              </a:rPr>
              <a:t>The objective is to help ensure that what is delivered meets the objectives of the customer and other relevant stakeholders.</a:t>
            </a:r>
          </a:p>
        </p:txBody>
      </p:sp>
    </p:spTree>
    <p:extLst>
      <p:ext uri="{BB962C8B-B14F-4D97-AF65-F5344CB8AC3E}">
        <p14:creationId xmlns:p14="http://schemas.microsoft.com/office/powerpoint/2010/main" val="381033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9.Navigate complexity</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20</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134037"/>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b="1" dirty="0">
                <a:latin typeface="Calibri" panose="020F0502020204030204" pitchFamily="34" charset="0"/>
              </a:rPr>
              <a:t>COMPLEXITY</a:t>
            </a:r>
          </a:p>
          <a:p>
            <a:pPr>
              <a:spcBef>
                <a:spcPts val="0"/>
              </a:spcBef>
            </a:pPr>
            <a:r>
              <a:rPr lang="en-US" sz="1400" dirty="0">
                <a:latin typeface="Calibri" panose="020F0502020204030204" pitchFamily="34" charset="0"/>
              </a:rPr>
              <a:t>Complexity is the outcome of human behavior, system interactions, uncertainty, and ambiguity.</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Complexity can arise at any point during the project.</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Constantly evaluate and navigate project complexity so that approaches and plans enable the project team to successfully navigate the entire project.</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Complexity can be introduced by events or conditions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can stay vigilant in identifying elements of complexity and use a variety of methods to reduce the amount or impact of complexity.</a:t>
            </a:r>
          </a:p>
          <a:p>
            <a:pPr lvl="1">
              <a:spcBef>
                <a:spcPts val="0"/>
              </a:spcBef>
            </a:pPr>
            <a:r>
              <a:rPr lang="en-US" sz="1400" dirty="0">
                <a:latin typeface="Calibri" panose="020F0502020204030204" pitchFamily="34" charset="0"/>
              </a:rPr>
              <a:t>Being vigilant for indications of complexity allows project teams to adapt their approaches and plans to navigate potential disruption to effective project delivery.</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often cannot forecast complexity emerging because it is the result of many conditions and events.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Some of the more common sources of complexity are:</a:t>
            </a:r>
          </a:p>
          <a:p>
            <a:pPr marL="338328" lvl="1" indent="0">
              <a:spcBef>
                <a:spcPts val="0"/>
              </a:spcBef>
              <a:buNone/>
            </a:pPr>
            <a:r>
              <a:rPr lang="en-US" sz="1400" dirty="0">
                <a:latin typeface="Calibri" panose="020F0502020204030204" pitchFamily="34" charset="0"/>
              </a:rPr>
              <a:t>◦ Human behavior </a:t>
            </a:r>
          </a:p>
          <a:p>
            <a:pPr marL="338328" lvl="1" indent="0">
              <a:spcBef>
                <a:spcPts val="0"/>
              </a:spcBef>
              <a:buNone/>
            </a:pPr>
            <a:r>
              <a:rPr lang="en-US" sz="1400" dirty="0">
                <a:latin typeface="Calibri" panose="020F0502020204030204" pitchFamily="34" charset="0"/>
              </a:rPr>
              <a:t>◦ System behavior</a:t>
            </a:r>
          </a:p>
          <a:p>
            <a:pPr marL="338328" lvl="1" indent="0">
              <a:spcBef>
                <a:spcPts val="0"/>
              </a:spcBef>
              <a:buNone/>
            </a:pPr>
            <a:r>
              <a:rPr lang="en-US" sz="1400" dirty="0">
                <a:latin typeface="Calibri" panose="020F0502020204030204" pitchFamily="34" charset="0"/>
              </a:rPr>
              <a:t>◦ Uncertainty and ambiguity </a:t>
            </a:r>
          </a:p>
          <a:p>
            <a:pPr marL="338328" lvl="1" indent="0">
              <a:spcBef>
                <a:spcPts val="0"/>
              </a:spcBef>
              <a:buNone/>
            </a:pPr>
            <a:r>
              <a:rPr lang="en-US" sz="1400" dirty="0">
                <a:latin typeface="Calibri" panose="020F0502020204030204" pitchFamily="34" charset="0"/>
              </a:rPr>
              <a:t>◦ Technological innovation </a:t>
            </a:r>
          </a:p>
          <a:p>
            <a:pPr marL="338328" lvl="1" indent="0">
              <a:spcBef>
                <a:spcPts val="0"/>
              </a:spcBef>
              <a:buNone/>
            </a:pPr>
            <a:endParaRPr lang="en-US" sz="1200" dirty="0">
              <a:latin typeface="Calibri" panose="020F0502020204030204" pitchFamily="34" charset="0"/>
            </a:endParaRPr>
          </a:p>
        </p:txBody>
      </p:sp>
    </p:spTree>
    <p:extLst>
      <p:ext uri="{BB962C8B-B14F-4D97-AF65-F5344CB8AC3E}">
        <p14:creationId xmlns:p14="http://schemas.microsoft.com/office/powerpoint/2010/main" val="3486539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10. Optimize risk responses</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21</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46999"/>
            <a:ext cx="11119104" cy="5134037"/>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b="1" dirty="0">
                <a:latin typeface="Calibri" panose="020F0502020204030204" pitchFamily="34" charset="0"/>
              </a:rPr>
              <a:t>RISK</a:t>
            </a:r>
          </a:p>
          <a:p>
            <a:pPr>
              <a:spcBef>
                <a:spcPts val="0"/>
              </a:spcBef>
            </a:pPr>
            <a:r>
              <a:rPr lang="en-US" sz="1400" dirty="0">
                <a:latin typeface="Calibri" panose="020F0502020204030204" pitchFamily="34" charset="0"/>
              </a:rPr>
              <a:t>A risk is an uncertain event or condition that, if it occurs, can have a positive or negative effect on one or more objectives.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Risks can be positive (opportunities) or negative (threats).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teams seek to maximize positive risks (opportunities) and decrease exposure to negative risks (threats).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Constantly evaluate exposure to risk, both opportunities and threats, to maximize positive impacts and minimize negative impacts to the project and its outcomes.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Risks are addressed continually throughout the project.</a:t>
            </a:r>
          </a:p>
          <a:p>
            <a:pPr lvl="1">
              <a:spcBef>
                <a:spcPts val="0"/>
              </a:spcBef>
            </a:pPr>
            <a:r>
              <a:rPr lang="en-US" sz="1400" dirty="0">
                <a:latin typeface="Calibri" panose="020F0502020204030204" pitchFamily="34" charset="0"/>
              </a:rPr>
              <a:t>Risk responses should be:</a:t>
            </a:r>
          </a:p>
          <a:p>
            <a:pPr lvl="2">
              <a:spcBef>
                <a:spcPts val="0"/>
              </a:spcBef>
            </a:pPr>
            <a:r>
              <a:rPr lang="en-US" sz="1200" dirty="0">
                <a:latin typeface="Calibri" panose="020F0502020204030204" pitchFamily="34" charset="0"/>
              </a:rPr>
              <a:t>Appropriate for the significance of the risk,</a:t>
            </a:r>
          </a:p>
          <a:p>
            <a:pPr lvl="2">
              <a:spcBef>
                <a:spcPts val="0"/>
              </a:spcBef>
            </a:pPr>
            <a:r>
              <a:rPr lang="en-US" sz="1200" dirty="0">
                <a:latin typeface="Calibri" panose="020F0502020204030204" pitchFamily="34" charset="0"/>
              </a:rPr>
              <a:t>Cost effective,</a:t>
            </a:r>
          </a:p>
          <a:p>
            <a:pPr lvl="2">
              <a:spcBef>
                <a:spcPts val="0"/>
              </a:spcBef>
            </a:pPr>
            <a:r>
              <a:rPr lang="en-US" sz="1200" dirty="0">
                <a:latin typeface="Calibri" panose="020F0502020204030204" pitchFamily="34" charset="0"/>
              </a:rPr>
              <a:t>Realistic within the project context,</a:t>
            </a:r>
          </a:p>
          <a:p>
            <a:pPr lvl="2">
              <a:spcBef>
                <a:spcPts val="0"/>
              </a:spcBef>
            </a:pPr>
            <a:r>
              <a:rPr lang="en-US" sz="1200" dirty="0">
                <a:latin typeface="Calibri" panose="020F0502020204030204" pitchFamily="34" charset="0"/>
              </a:rPr>
              <a:t>Agreed to by relevant stakeholders,</a:t>
            </a:r>
          </a:p>
          <a:p>
            <a:pPr lvl="2">
              <a:spcBef>
                <a:spcPts val="0"/>
              </a:spcBef>
            </a:pPr>
            <a:r>
              <a:rPr lang="en-US" sz="1200" dirty="0">
                <a:latin typeface="Calibri" panose="020F0502020204030204" pitchFamily="34" charset="0"/>
              </a:rPr>
              <a:t>Owned by a responsible person.</a:t>
            </a:r>
          </a:p>
          <a:p>
            <a:pPr marL="338328" lvl="1"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 team members engage with relevant stakeholders to understand their risk appetite and risk thresholds.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An organization’s risk attitude, appetite, and threshold influence how risk is addressed</a:t>
            </a:r>
            <a:endParaRPr lang="en-US" sz="1200" dirty="0">
              <a:latin typeface="Calibri" panose="020F0502020204030204" pitchFamily="34" charset="0"/>
            </a:endParaRPr>
          </a:p>
        </p:txBody>
      </p:sp>
    </p:spTree>
    <p:extLst>
      <p:ext uri="{BB962C8B-B14F-4D97-AF65-F5344CB8AC3E}">
        <p14:creationId xmlns:p14="http://schemas.microsoft.com/office/powerpoint/2010/main" val="2681851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11. Embrace adaptability and resiliency</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22</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456193"/>
            <a:ext cx="11119104" cy="6401807"/>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b="1" dirty="0">
                <a:latin typeface="Calibri" panose="020F0502020204030204" pitchFamily="34" charset="0"/>
              </a:rPr>
              <a:t>ADAPTABILITY/RESCILIENCY</a:t>
            </a:r>
          </a:p>
          <a:p>
            <a:pPr>
              <a:spcBef>
                <a:spcPts val="0"/>
              </a:spcBef>
            </a:pPr>
            <a:r>
              <a:rPr lang="en-US" sz="1400" dirty="0">
                <a:latin typeface="Calibri" panose="020F0502020204030204" pitchFamily="34" charset="0"/>
              </a:rPr>
              <a:t>Adaptability is the ability to respond to changing conditions.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Resiliency is the ability to absorb impacts and to recover quickly from a setback or failure.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Build adaptability and resiliency into the organization’s and project team’s approaches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 focus on outcomes rather than outputs facilitates adaptability.</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 project rarely performs exactly as initially planned.</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Projects are influenced by internal and external factors—new requirements, issues, stakeholder influences, among other factors—which exist in a system of interactions.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In a project environment, capabilities that support adaptability and resilience include:</a:t>
            </a:r>
          </a:p>
          <a:p>
            <a:pPr lvl="1">
              <a:spcBef>
                <a:spcPts val="0"/>
              </a:spcBef>
            </a:pPr>
            <a:r>
              <a:rPr lang="en-US" sz="1200" dirty="0">
                <a:latin typeface="Calibri" panose="020F0502020204030204" pitchFamily="34" charset="0"/>
              </a:rPr>
              <a:t>Short feedback loops to adapt quickly;</a:t>
            </a:r>
          </a:p>
          <a:p>
            <a:pPr lvl="1">
              <a:spcBef>
                <a:spcPts val="0"/>
              </a:spcBef>
            </a:pPr>
            <a:r>
              <a:rPr lang="en-US" sz="1400" dirty="0">
                <a:latin typeface="Calibri" panose="020F0502020204030204" pitchFamily="34" charset="0"/>
              </a:rPr>
              <a:t>Continuous learning and improvement;</a:t>
            </a:r>
          </a:p>
          <a:p>
            <a:pPr lvl="1">
              <a:spcBef>
                <a:spcPts val="0"/>
              </a:spcBef>
            </a:pPr>
            <a:r>
              <a:rPr lang="en-US" sz="1400" dirty="0">
                <a:latin typeface="Calibri" panose="020F0502020204030204" pitchFamily="34" charset="0"/>
              </a:rPr>
              <a:t>Regular inspection and adaptation </a:t>
            </a:r>
          </a:p>
          <a:p>
            <a:pPr lvl="1">
              <a:spcBef>
                <a:spcPts val="0"/>
              </a:spcBef>
            </a:pPr>
            <a:r>
              <a:rPr lang="en-US" sz="1400" dirty="0">
                <a:latin typeface="Calibri" panose="020F0502020204030204" pitchFamily="34" charset="0"/>
              </a:rPr>
              <a:t>Open and transparent planning that engages stakeholders</a:t>
            </a:r>
          </a:p>
          <a:p>
            <a:pPr lvl="1">
              <a:spcBef>
                <a:spcPts val="0"/>
              </a:spcBef>
            </a:pPr>
            <a:r>
              <a:rPr lang="en-US" sz="1400" dirty="0">
                <a:latin typeface="Calibri" panose="020F0502020204030204" pitchFamily="34" charset="0"/>
              </a:rPr>
              <a:t>Small-scale prototypes and experiments</a:t>
            </a:r>
          </a:p>
          <a:p>
            <a:pPr lvl="1">
              <a:spcBef>
                <a:spcPts val="0"/>
              </a:spcBef>
            </a:pPr>
            <a:r>
              <a:rPr lang="en-US" sz="1400" dirty="0">
                <a:latin typeface="Calibri" panose="020F0502020204030204" pitchFamily="34" charset="0"/>
              </a:rPr>
              <a:t>Open organizational conversations</a:t>
            </a:r>
          </a:p>
          <a:p>
            <a:pPr lvl="1">
              <a:spcBef>
                <a:spcPts val="0"/>
              </a:spcBef>
            </a:pPr>
            <a:r>
              <a:rPr lang="en-US" sz="1400" dirty="0">
                <a:latin typeface="Calibri" panose="020F0502020204030204" pitchFamily="34" charset="0"/>
              </a:rPr>
              <a:t>Diverse project teams with broad skill sets, cultures, and experience</a:t>
            </a:r>
          </a:p>
          <a:p>
            <a:pPr lvl="1">
              <a:spcBef>
                <a:spcPts val="0"/>
              </a:spcBef>
            </a:pPr>
            <a:r>
              <a:rPr lang="en-US" sz="1400" dirty="0">
                <a:latin typeface="Calibri" panose="020F0502020204030204" pitchFamily="34" charset="0"/>
              </a:rPr>
              <a:t>Understanding from past learning</a:t>
            </a:r>
          </a:p>
          <a:p>
            <a:pPr marL="338328" lvl="1"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Building adaptability and resiliency in a project keeps project teams on track to the desired outcome when internal and external factors change, and it helps them recover from setbacks.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These features also help project teams learn and improve so that they can quickly recover from failures or setbacks and continue making progress toward delivering value.</a:t>
            </a:r>
          </a:p>
        </p:txBody>
      </p:sp>
    </p:spTree>
    <p:extLst>
      <p:ext uri="{BB962C8B-B14F-4D97-AF65-F5344CB8AC3E}">
        <p14:creationId xmlns:p14="http://schemas.microsoft.com/office/powerpoint/2010/main" val="3410853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275327"/>
          </a:xfrm>
        </p:spPr>
        <p:txBody>
          <a:bodyPr/>
          <a:lstStyle/>
          <a:p>
            <a:r>
              <a:rPr lang="en-US" sz="1600" dirty="0">
                <a:latin typeface="Arial Black" panose="020B0604020202020204" pitchFamily="34" charset="0"/>
              </a:rPr>
              <a:t>12. Enable change to achieve the envisioned future state</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23</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1039" y="731520"/>
            <a:ext cx="11119104" cy="5929162"/>
          </a:xfrm>
        </p:spPr>
        <p:txBody>
          <a:bodyPr/>
          <a:lstStyle/>
          <a:p>
            <a:pPr marL="0" indent="0">
              <a:spcBef>
                <a:spcPts val="0"/>
              </a:spcBef>
              <a:buNone/>
            </a:pPr>
            <a:endParaRPr lang="en-US" sz="1400" b="1" dirty="0">
              <a:latin typeface="Calibri" panose="020F0502020204030204" pitchFamily="34" charset="0"/>
            </a:endParaRPr>
          </a:p>
          <a:p>
            <a:pPr>
              <a:spcBef>
                <a:spcPts val="0"/>
              </a:spcBef>
            </a:pPr>
            <a:r>
              <a:rPr lang="en-US" sz="1400" b="1" dirty="0">
                <a:latin typeface="Calibri" panose="020F0502020204030204" pitchFamily="34" charset="0"/>
              </a:rPr>
              <a:t>CHANGE</a:t>
            </a:r>
          </a:p>
          <a:p>
            <a:pPr>
              <a:spcBef>
                <a:spcPts val="0"/>
              </a:spcBef>
            </a:pPr>
            <a:r>
              <a:rPr lang="en-US" sz="1400" dirty="0">
                <a:latin typeface="Calibri" panose="020F0502020204030204" pitchFamily="34" charset="0"/>
              </a:rPr>
              <a:t>Prepare those impacted for the acceptance to go from the current state to the intended future state created by the project output.</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 structured approach will helps individuals, groups, and the organization transition from the current state to a future desired state.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Change can originate from internal influences or external sources.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Enabling change can be challenging as not all stakeholders embrace change.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Attempting too much change in a short time can lead to change fatigue and/or resistance.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Stakeholder engagement and motivational approaches assist in change adoption.</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Remaining relevant in today’s business environment is a fundamental challenge for all organizations.</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Change in an organization can originate from internal sources and external sources. </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Enabling change in an organization can be challenging.</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Effective change management uses a motivational strategy rather than a forceful one.</a:t>
            </a:r>
          </a:p>
          <a:p>
            <a:pPr marL="0" indent="0">
              <a:spcBef>
                <a:spcPts val="0"/>
              </a:spcBef>
              <a:buNone/>
            </a:pPr>
            <a:endParaRPr lang="en-US" sz="1400" dirty="0">
              <a:latin typeface="Calibri" panose="020F0502020204030204" pitchFamily="34" charset="0"/>
            </a:endParaRPr>
          </a:p>
          <a:p>
            <a:pPr>
              <a:spcBef>
                <a:spcPts val="0"/>
              </a:spcBef>
            </a:pPr>
            <a:r>
              <a:rPr lang="en-US" sz="1400" dirty="0">
                <a:latin typeface="Calibri" panose="020F0502020204030204" pitchFamily="34" charset="0"/>
              </a:rPr>
              <a:t>Knowing and addressing the needs of stakeholders to embrace change throughout the project life cycle helps to integrate the resulting change in the project work, making a successful outcome more likely.</a:t>
            </a:r>
          </a:p>
        </p:txBody>
      </p:sp>
    </p:spTree>
    <p:extLst>
      <p:ext uri="{BB962C8B-B14F-4D97-AF65-F5344CB8AC3E}">
        <p14:creationId xmlns:p14="http://schemas.microsoft.com/office/powerpoint/2010/main" val="359063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643930" y="2039951"/>
            <a:ext cx="6400800"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Management Performance Domains</a:t>
            </a:r>
          </a:p>
        </p:txBody>
      </p:sp>
    </p:spTree>
    <p:extLst>
      <p:ext uri="{BB962C8B-B14F-4D97-AF65-F5344CB8AC3E}">
        <p14:creationId xmlns:p14="http://schemas.microsoft.com/office/powerpoint/2010/main" val="1348473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Principles and Performance Domains</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425918" y="1846847"/>
            <a:ext cx="11119104" cy="2879158"/>
          </a:xfrm>
        </p:spPr>
        <p:txBody>
          <a:bodyPr/>
          <a:lstStyle/>
          <a:p>
            <a:pPr marR="0">
              <a:spcBef>
                <a:spcPts val="0"/>
              </a:spcBef>
              <a:spcAft>
                <a:spcPts val="1100"/>
              </a:spcAft>
            </a:pPr>
            <a:r>
              <a:rPr lang="en-US" dirty="0">
                <a:latin typeface="Calibri" panose="020F0502020204030204" pitchFamily="34" charset="0"/>
              </a:rPr>
              <a:t>Domains are a group of related activities that are critical for the effective delivery of project outcomes.</a:t>
            </a:r>
          </a:p>
          <a:p>
            <a:pPr marR="0">
              <a:spcBef>
                <a:spcPts val="0"/>
              </a:spcBef>
              <a:spcAft>
                <a:spcPts val="1100"/>
              </a:spcAft>
            </a:pPr>
            <a:r>
              <a:rPr lang="en-US" dirty="0">
                <a:latin typeface="Calibri" panose="020F0502020204030204" pitchFamily="34" charset="0"/>
              </a:rPr>
              <a:t>They are interactive, interrelated, and interdependent areas of focus that work in unison to achieve desired project outcomes.</a:t>
            </a:r>
          </a:p>
          <a:p>
            <a:pPr marR="0">
              <a:spcBef>
                <a:spcPts val="0"/>
              </a:spcBef>
              <a:spcAft>
                <a:spcPts val="1100"/>
              </a:spcAft>
            </a:pPr>
            <a:r>
              <a:rPr lang="en-US" dirty="0">
                <a:latin typeface="Calibri" panose="020F0502020204030204" pitchFamily="34" charset="0"/>
              </a:rPr>
              <a:t>They operate as an integrated system, with each domain being interdependent of the other domains to enable successful delivery of the project and its intended outcomes.</a:t>
            </a:r>
          </a:p>
          <a:p>
            <a:pPr marR="0">
              <a:spcBef>
                <a:spcPts val="0"/>
              </a:spcBef>
              <a:spcAft>
                <a:spcPts val="1100"/>
              </a:spcAft>
            </a:pPr>
            <a:r>
              <a:rPr lang="en-US" dirty="0">
                <a:latin typeface="Calibri" panose="020F0502020204030204" pitchFamily="34" charset="0"/>
              </a:rPr>
              <a:t>The specific activities undertaken within each of the performance domains are determined by the context of the organization, the project, deliverables, the project team, stakeholders, and other factors.</a:t>
            </a:r>
            <a:endParaRPr lang="en-US" dirty="0">
              <a:solidFill>
                <a:srgbClr val="000000"/>
              </a:solidFill>
              <a:latin typeface="Times New Roman" panose="02020603050405020304" pitchFamily="18" charset="0"/>
            </a:endParaRPr>
          </a:p>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25</a:t>
            </a:fld>
            <a:endParaRPr lang="en-US" dirty="0"/>
          </a:p>
        </p:txBody>
      </p:sp>
    </p:spTree>
    <p:extLst>
      <p:ext uri="{BB962C8B-B14F-4D97-AF65-F5344CB8AC3E}">
        <p14:creationId xmlns:p14="http://schemas.microsoft.com/office/powerpoint/2010/main" val="3366763337"/>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7ACA6F8-898F-A943-12E8-FCEC30EDEC89}"/>
              </a:ext>
            </a:extLst>
          </p:cNvPr>
          <p:cNvPicPr>
            <a:picLocks noGrp="1" noChangeAspect="1"/>
          </p:cNvPicPr>
          <p:nvPr>
            <p:ph sz="half" idx="1"/>
          </p:nvPr>
        </p:nvPicPr>
        <p:blipFill>
          <a:blip r:embed="rId3"/>
          <a:stretch>
            <a:fillRect/>
          </a:stretch>
        </p:blipFill>
        <p:spPr>
          <a:xfrm>
            <a:off x="346510" y="211756"/>
            <a:ext cx="11665818" cy="6325570"/>
          </a:xfrm>
        </p:spPr>
      </p:pic>
      <p:sp>
        <p:nvSpPr>
          <p:cNvPr id="5" name="Slide Number Placeholder 4">
            <a:extLst>
              <a:ext uri="{FF2B5EF4-FFF2-40B4-BE49-F238E27FC236}">
                <a16:creationId xmlns:a16="http://schemas.microsoft.com/office/drawing/2014/main" id="{98E7546B-CDC2-85DE-979D-4F7C7CEB7DC1}"/>
              </a:ext>
            </a:extLst>
          </p:cNvPr>
          <p:cNvSpPr>
            <a:spLocks noGrp="1"/>
          </p:cNvSpPr>
          <p:nvPr>
            <p:ph type="sldNum" sz="quarter" idx="12"/>
          </p:nvPr>
        </p:nvSpPr>
        <p:spPr/>
        <p:txBody>
          <a:bodyPr/>
          <a:lstStyle/>
          <a:p>
            <a:fld id="{48F63A3B-78C7-47BE-AE5E-E10140E04643}" type="slidenum">
              <a:rPr lang="en-US" smtClean="0"/>
              <a:t>26</a:t>
            </a:fld>
            <a:endParaRPr lang="en-US" dirty="0"/>
          </a:p>
        </p:txBody>
      </p:sp>
    </p:spTree>
    <p:extLst>
      <p:ext uri="{BB962C8B-B14F-4D97-AF65-F5344CB8AC3E}">
        <p14:creationId xmlns:p14="http://schemas.microsoft.com/office/powerpoint/2010/main" val="4122634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Stakeholder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R="0">
              <a:spcBef>
                <a:spcPts val="0"/>
              </a:spcBef>
              <a:spcAft>
                <a:spcPts val="1100"/>
              </a:spcAft>
            </a:pPr>
            <a:r>
              <a:rPr lang="en-US" dirty="0">
                <a:latin typeface="Calibri" panose="020F0502020204030204" pitchFamily="34" charset="0"/>
              </a:rPr>
              <a:t>Every single project has stakeholders. You have to identify and analyze them to know what they're doing. You have to meet their requirements as the project is progressing.</a:t>
            </a:r>
          </a:p>
          <a:p>
            <a:pPr marL="338328" lvl="1" indent="0">
              <a:spcBef>
                <a:spcPts val="0"/>
              </a:spcBef>
              <a:spcAft>
                <a:spcPts val="1100"/>
              </a:spcAft>
              <a:buNone/>
            </a:pPr>
            <a:r>
              <a:rPr lang="en-US" dirty="0">
                <a:latin typeface="Calibri" panose="020F0502020204030204" pitchFamily="34" charset="0"/>
              </a:rPr>
              <a:t>• Addresses activities and functions associated with stakeholders.</a:t>
            </a:r>
          </a:p>
          <a:p>
            <a:pPr marL="338328" lvl="1" indent="0">
              <a:spcBef>
                <a:spcPts val="0"/>
              </a:spcBef>
              <a:spcAft>
                <a:spcPts val="1100"/>
              </a:spcAft>
              <a:buNone/>
            </a:pPr>
            <a:r>
              <a:rPr lang="en-US" dirty="0">
                <a:latin typeface="Calibri" panose="020F0502020204030204" pitchFamily="34" charset="0"/>
              </a:rPr>
              <a:t>• A productive working relationship with stakeholders throughout the project.</a:t>
            </a:r>
          </a:p>
          <a:p>
            <a:pPr marL="338328" lvl="1" indent="0">
              <a:spcBef>
                <a:spcPts val="0"/>
              </a:spcBef>
              <a:spcAft>
                <a:spcPts val="1100"/>
              </a:spcAft>
              <a:buNone/>
            </a:pPr>
            <a:r>
              <a:rPr lang="en-US" dirty="0">
                <a:latin typeface="Calibri" panose="020F0502020204030204" pitchFamily="34" charset="0"/>
              </a:rPr>
              <a:t>• Stakeholder agreement with project objectives.</a:t>
            </a:r>
          </a:p>
          <a:p>
            <a:pPr marL="338328" lvl="1" indent="0">
              <a:spcBef>
                <a:spcPts val="0"/>
              </a:spcBef>
              <a:spcAft>
                <a:spcPts val="1100"/>
              </a:spcAft>
              <a:buNone/>
            </a:pPr>
            <a:r>
              <a:rPr lang="en-US" dirty="0">
                <a:latin typeface="Calibri" panose="020F0502020204030204" pitchFamily="34" charset="0"/>
              </a:rPr>
              <a:t>• Stakeholders who are project beneficiaries are supportive and satisfied while stakeholders who may oppose the project or its deliverables do not negatively impact project outcomes.</a:t>
            </a:r>
          </a:p>
          <a:p>
            <a:pPr marR="0">
              <a:spcBef>
                <a:spcPts val="0"/>
              </a:spcBef>
              <a:spcAft>
                <a:spcPts val="1100"/>
              </a:spcAft>
            </a:pPr>
            <a:r>
              <a:rPr lang="en-US" dirty="0">
                <a:latin typeface="Calibri" panose="020F0502020204030204" pitchFamily="34" charset="0"/>
              </a:rPr>
              <a:t>Defining and sharing a clear vision at the start of the project can enable good relationships and alignment throughout the project. </a:t>
            </a:r>
            <a:endParaRPr lang="en-US" dirty="0">
              <a:solidFill>
                <a:srgbClr val="000000"/>
              </a:solidFill>
              <a:latin typeface="Times New Roman" panose="02020603050405020304" pitchFamily="18" charset="0"/>
            </a:endParaRPr>
          </a:p>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27</a:t>
            </a:fld>
            <a:endParaRPr lang="en-US" dirty="0"/>
          </a:p>
        </p:txBody>
      </p:sp>
    </p:spTree>
    <p:extLst>
      <p:ext uri="{BB962C8B-B14F-4D97-AF65-F5344CB8AC3E}">
        <p14:creationId xmlns:p14="http://schemas.microsoft.com/office/powerpoint/2010/main" val="416558335"/>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Stakeholder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432612" y="1914226"/>
            <a:ext cx="6222940" cy="4723241"/>
          </a:xfrm>
        </p:spPr>
        <p:txBody>
          <a:bodyPr/>
          <a:lstStyle/>
          <a:p>
            <a:pPr marR="0">
              <a:spcBef>
                <a:spcPts val="0"/>
              </a:spcBef>
              <a:spcAft>
                <a:spcPts val="1100"/>
              </a:spcAft>
            </a:pPr>
            <a:r>
              <a:rPr lang="en-US" dirty="0">
                <a:latin typeface="Calibri" panose="020F0502020204030204" pitchFamily="34" charset="0"/>
              </a:rPr>
              <a:t>Effective Stakeholder Engagement</a:t>
            </a:r>
          </a:p>
          <a:p>
            <a:pPr lvl="1">
              <a:spcBef>
                <a:spcPts val="0"/>
              </a:spcBef>
              <a:spcAft>
                <a:spcPts val="1100"/>
              </a:spcAft>
            </a:pPr>
            <a:r>
              <a:rPr lang="en-US" b="1" dirty="0">
                <a:latin typeface="Calibri" panose="020F0502020204030204" pitchFamily="34" charset="0"/>
              </a:rPr>
              <a:t>Identify</a:t>
            </a:r>
            <a:r>
              <a:rPr lang="en-US" dirty="0">
                <a:latin typeface="Calibri" panose="020F0502020204030204" pitchFamily="34" charset="0"/>
              </a:rPr>
              <a:t>: Identification is done throughout the project to understand who your stakeholders are, both internal and external.</a:t>
            </a:r>
          </a:p>
          <a:p>
            <a:pPr lvl="1">
              <a:spcBef>
                <a:spcPts val="0"/>
              </a:spcBef>
              <a:spcAft>
                <a:spcPts val="1100"/>
              </a:spcAft>
            </a:pPr>
            <a:r>
              <a:rPr lang="en-US" b="1" dirty="0">
                <a:latin typeface="Calibri" panose="020F0502020204030204" pitchFamily="34" charset="0"/>
              </a:rPr>
              <a:t>Understand</a:t>
            </a:r>
            <a:r>
              <a:rPr lang="en-US" dirty="0">
                <a:latin typeface="Calibri" panose="020F0502020204030204" pitchFamily="34" charset="0"/>
              </a:rPr>
              <a:t> and </a:t>
            </a:r>
            <a:r>
              <a:rPr lang="en-US" b="1" dirty="0">
                <a:latin typeface="Calibri" panose="020F0502020204030204" pitchFamily="34" charset="0"/>
              </a:rPr>
              <a:t>Analyze</a:t>
            </a:r>
            <a:r>
              <a:rPr lang="en-US" dirty="0">
                <a:latin typeface="Calibri" panose="020F0502020204030204" pitchFamily="34" charset="0"/>
              </a:rPr>
              <a:t>: the project manager and project team should seek to understand stakeholders’ feelings, emotions, beliefs, and values.</a:t>
            </a:r>
          </a:p>
          <a:p>
            <a:pPr lvl="1">
              <a:spcBef>
                <a:spcPts val="0"/>
              </a:spcBef>
              <a:spcAft>
                <a:spcPts val="1100"/>
              </a:spcAft>
            </a:pPr>
            <a:r>
              <a:rPr lang="en-US" b="1" dirty="0">
                <a:latin typeface="Calibri" panose="020F0502020204030204" pitchFamily="34" charset="0"/>
              </a:rPr>
              <a:t>Prioritize</a:t>
            </a:r>
            <a:r>
              <a:rPr lang="en-US" dirty="0">
                <a:latin typeface="Calibri" panose="020F0502020204030204" pitchFamily="34" charset="0"/>
              </a:rPr>
              <a:t>: Focus on stakeholders with the most power and interest as one way to prioritize engagement.</a:t>
            </a:r>
          </a:p>
          <a:p>
            <a:pPr lvl="1">
              <a:spcBef>
                <a:spcPts val="0"/>
              </a:spcBef>
              <a:spcAft>
                <a:spcPts val="1100"/>
              </a:spcAft>
            </a:pPr>
            <a:r>
              <a:rPr lang="en-US" b="1" dirty="0">
                <a:latin typeface="Calibri" panose="020F0502020204030204" pitchFamily="34" charset="0"/>
              </a:rPr>
              <a:t>Engage</a:t>
            </a:r>
            <a:r>
              <a:rPr lang="en-US" dirty="0">
                <a:latin typeface="Calibri" panose="020F0502020204030204" pitchFamily="34" charset="0"/>
              </a:rPr>
              <a:t>: Entails working collaboratively with stakeholders to introduce the project, elicit their requirements, manage expectations, resolve issues, negotiate, prioritize, problem solve, and make decisions.</a:t>
            </a:r>
          </a:p>
          <a:p>
            <a:pPr lvl="1">
              <a:spcBef>
                <a:spcPts val="0"/>
              </a:spcBef>
              <a:spcAft>
                <a:spcPts val="1100"/>
              </a:spcAft>
            </a:pPr>
            <a:r>
              <a:rPr lang="en-US" b="1" dirty="0">
                <a:latin typeface="Calibri" panose="020F0502020204030204" pitchFamily="34" charset="0"/>
              </a:rPr>
              <a:t>Monitor</a:t>
            </a:r>
            <a:r>
              <a:rPr lang="en-US" dirty="0">
                <a:latin typeface="Calibri" panose="020F0502020204030204" pitchFamily="34" charset="0"/>
              </a:rPr>
              <a:t>: Throughout the project, stakeholders will change as new stakeholders are identified and others cease to be stakeholders.</a:t>
            </a:r>
          </a:p>
          <a:p>
            <a:pPr marR="0">
              <a:spcBef>
                <a:spcPts val="0"/>
              </a:spcBef>
              <a:spcAft>
                <a:spcPts val="1100"/>
              </a:spcAft>
            </a:pPr>
            <a:endParaRPr lang="en-US" dirty="0">
              <a:solidFill>
                <a:srgbClr val="000000"/>
              </a:solidFill>
              <a:latin typeface="Times New Roman" panose="02020603050405020304" pitchFamily="18" charset="0"/>
            </a:endParaRPr>
          </a:p>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28</a:t>
            </a:fld>
            <a:endParaRPr lang="en-US" dirty="0"/>
          </a:p>
        </p:txBody>
      </p:sp>
      <p:pic>
        <p:nvPicPr>
          <p:cNvPr id="5" name="Picture 4">
            <a:extLst>
              <a:ext uri="{FF2B5EF4-FFF2-40B4-BE49-F238E27FC236}">
                <a16:creationId xmlns:a16="http://schemas.microsoft.com/office/drawing/2014/main" id="{94372E42-D7D0-F749-95E9-63EB1081D3C9}"/>
              </a:ext>
            </a:extLst>
          </p:cNvPr>
          <p:cNvPicPr>
            <a:picLocks noChangeAspect="1"/>
          </p:cNvPicPr>
          <p:nvPr/>
        </p:nvPicPr>
        <p:blipFill>
          <a:blip r:embed="rId4"/>
          <a:stretch>
            <a:fillRect/>
          </a:stretch>
        </p:blipFill>
        <p:spPr>
          <a:xfrm>
            <a:off x="539496" y="2076226"/>
            <a:ext cx="4552381" cy="4432150"/>
          </a:xfrm>
          <a:prstGeom prst="rect">
            <a:avLst/>
          </a:prstGeom>
        </p:spPr>
      </p:pic>
    </p:spTree>
    <p:extLst>
      <p:ext uri="{BB962C8B-B14F-4D97-AF65-F5344CB8AC3E}">
        <p14:creationId xmlns:p14="http://schemas.microsoft.com/office/powerpoint/2010/main" val="334594739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Effective Stakeholder Engagement</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29</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144379" y="1771048"/>
            <a:ext cx="11964202" cy="369332"/>
          </a:xfrm>
          <a:prstGeom prst="rect">
            <a:avLst/>
          </a:prstGeom>
          <a:noFill/>
        </p:spPr>
        <p:txBody>
          <a:bodyPr wrap="square">
            <a:spAutoFit/>
          </a:bodyPr>
          <a:lstStyle/>
          <a:p>
            <a:endParaRPr lang="en-US" dirty="0"/>
          </a:p>
        </p:txBody>
      </p:sp>
      <p:graphicFrame>
        <p:nvGraphicFramePr>
          <p:cNvPr id="11" name="Table 10">
            <a:extLst>
              <a:ext uri="{FF2B5EF4-FFF2-40B4-BE49-F238E27FC236}">
                <a16:creationId xmlns:a16="http://schemas.microsoft.com/office/drawing/2014/main" id="{D6C2622C-EE86-5557-C75F-57E575C2CA29}"/>
              </a:ext>
            </a:extLst>
          </p:cNvPr>
          <p:cNvGraphicFramePr>
            <a:graphicFrameLocks noGrp="1"/>
          </p:cNvGraphicFramePr>
          <p:nvPr>
            <p:extLst>
              <p:ext uri="{D42A27DB-BD31-4B8C-83A1-F6EECF244321}">
                <p14:modId xmlns:p14="http://schemas.microsoft.com/office/powerpoint/2010/main" val="1159265094"/>
              </p:ext>
            </p:extLst>
          </p:nvPr>
        </p:nvGraphicFramePr>
        <p:xfrm>
          <a:off x="399850" y="2687139"/>
          <a:ext cx="11533070" cy="3102524"/>
        </p:xfrm>
        <a:graphic>
          <a:graphicData uri="http://schemas.openxmlformats.org/drawingml/2006/table">
            <a:tbl>
              <a:tblPr/>
              <a:tblGrid>
                <a:gridCol w="5378127">
                  <a:extLst>
                    <a:ext uri="{9D8B030D-6E8A-4147-A177-3AD203B41FA5}">
                      <a16:colId xmlns:a16="http://schemas.microsoft.com/office/drawing/2014/main" val="1527136099"/>
                    </a:ext>
                  </a:extLst>
                </a:gridCol>
                <a:gridCol w="6154943">
                  <a:extLst>
                    <a:ext uri="{9D8B030D-6E8A-4147-A177-3AD203B41FA5}">
                      <a16:colId xmlns:a16="http://schemas.microsoft.com/office/drawing/2014/main" val="3831819783"/>
                    </a:ext>
                  </a:extLst>
                </a:gridCol>
              </a:tblGrid>
              <a:tr h="330412">
                <a:tc>
                  <a:txBody>
                    <a:bodyPr/>
                    <a:lstStyle/>
                    <a:p>
                      <a:pPr marL="0" marR="0" algn="ctr" fontAlgn="t">
                        <a:spcBef>
                          <a:spcPts val="0"/>
                        </a:spcBef>
                        <a:spcAft>
                          <a:spcPts val="0"/>
                        </a:spcAft>
                      </a:pPr>
                      <a:r>
                        <a:rPr lang="en-US" sz="1600" dirty="0">
                          <a:solidFill>
                            <a:srgbClr val="FFFFFF"/>
                          </a:solidFill>
                          <a:effectLst/>
                          <a:latin typeface="Times New Roman" panose="02020603050405020304" pitchFamily="18" charset="0"/>
                        </a:rPr>
                        <a:t>Outcome</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algn="ctr" fontAlgn="t">
                        <a:spcBef>
                          <a:spcPts val="0"/>
                        </a:spcBef>
                        <a:spcAft>
                          <a:spcPts val="0"/>
                        </a:spcAft>
                      </a:pPr>
                      <a:r>
                        <a:rPr lang="en-US" sz="1600">
                          <a:solidFill>
                            <a:srgbClr val="FFFFFF"/>
                          </a:solidFill>
                          <a:effectLst/>
                          <a:latin typeface="Times New Roman" panose="02020603050405020304" pitchFamily="18" charset="0"/>
                        </a:rPr>
                        <a:t>Check</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693093704"/>
                  </a:ext>
                </a:extLst>
              </a:tr>
              <a:tr h="330412">
                <a:tc>
                  <a:txBody>
                    <a:bodyPr/>
                    <a:lstStyle/>
                    <a:p>
                      <a:pPr marL="0" marR="0" algn="ctr" fontAlgn="t">
                        <a:spcBef>
                          <a:spcPts val="0"/>
                        </a:spcBef>
                        <a:spcAft>
                          <a:spcPts val="0"/>
                        </a:spcAft>
                      </a:pPr>
                      <a:r>
                        <a:rPr lang="en-US" sz="1600" dirty="0">
                          <a:solidFill>
                            <a:srgbClr val="E0E0E0"/>
                          </a:solidFill>
                          <a:effectLst/>
                          <a:latin typeface="Times New Roman" panose="02020603050405020304" pitchFamily="18" charset="0"/>
                        </a:rPr>
                        <a:t>A productive working relationship with stakeholders throughout the project</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algn="ctr" fontAlgn="t">
                        <a:spcBef>
                          <a:spcPts val="0"/>
                        </a:spcBef>
                        <a:spcAft>
                          <a:spcPts val="0"/>
                        </a:spcAft>
                      </a:pPr>
                      <a:r>
                        <a:rPr lang="en-US" sz="1600">
                          <a:solidFill>
                            <a:srgbClr val="E0E0E0"/>
                          </a:solidFill>
                          <a:effectLst/>
                          <a:latin typeface="Times New Roman" panose="02020603050405020304" pitchFamily="18" charset="0"/>
                        </a:rPr>
                        <a:t>Productive working relationships with stakeholders can be observed. </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795270115"/>
                  </a:ext>
                </a:extLst>
              </a:tr>
              <a:tr h="539570">
                <a:tc>
                  <a:txBody>
                    <a:bodyPr/>
                    <a:lstStyle/>
                    <a:p>
                      <a:pPr marL="0" marR="0" algn="ctr" fontAlgn="t">
                        <a:spcBef>
                          <a:spcPts val="0"/>
                        </a:spcBef>
                        <a:spcAft>
                          <a:spcPts val="0"/>
                        </a:spcAft>
                      </a:pPr>
                      <a:r>
                        <a:rPr lang="en-US" sz="1600" dirty="0">
                          <a:solidFill>
                            <a:srgbClr val="E0E0E0"/>
                          </a:solidFill>
                          <a:effectLst/>
                          <a:latin typeface="Times New Roman" panose="02020603050405020304" pitchFamily="18" charset="0"/>
                        </a:rPr>
                        <a:t>Stakeholder agreement with project objectives</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algn="ctr" fontAlgn="t">
                        <a:spcBef>
                          <a:spcPts val="0"/>
                        </a:spcBef>
                        <a:spcAft>
                          <a:spcPts val="0"/>
                        </a:spcAft>
                      </a:pPr>
                      <a:r>
                        <a:rPr lang="en-US" sz="1600">
                          <a:solidFill>
                            <a:srgbClr val="E0E0E0"/>
                          </a:solidFill>
                          <a:effectLst/>
                          <a:latin typeface="Times New Roman" panose="02020603050405020304" pitchFamily="18" charset="0"/>
                        </a:rPr>
                        <a:t>A significant number of changes or modifications to the project and product requirements in addition to the scope may indicate stakeholders are not engaged or aligned with the project objectives.</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234686972"/>
                  </a:ext>
                </a:extLst>
              </a:tr>
              <a:tr h="871962">
                <a:tc>
                  <a:txBody>
                    <a:bodyPr/>
                    <a:lstStyle/>
                    <a:p>
                      <a:pPr marL="0" marR="0" algn="ctr" fontAlgn="t">
                        <a:spcBef>
                          <a:spcPts val="0"/>
                        </a:spcBef>
                        <a:spcAft>
                          <a:spcPts val="0"/>
                        </a:spcAft>
                      </a:pPr>
                      <a:r>
                        <a:rPr lang="en-US" sz="1600" dirty="0">
                          <a:solidFill>
                            <a:srgbClr val="E0E0E0"/>
                          </a:solidFill>
                          <a:effectLst/>
                          <a:latin typeface="Times New Roman" panose="02020603050405020304" pitchFamily="18" charset="0"/>
                        </a:rPr>
                        <a:t>Stakeholders who are project recipients are supportive and satisfied; stakeholders who may oppose the project or its deliverables do not negatively impact project results</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algn="ctr" fontAlgn="t">
                        <a:spcBef>
                          <a:spcPts val="0"/>
                        </a:spcBef>
                        <a:spcAft>
                          <a:spcPts val="1300"/>
                        </a:spcAft>
                      </a:pPr>
                      <a:r>
                        <a:rPr lang="en-US" sz="1600" dirty="0">
                          <a:solidFill>
                            <a:srgbClr val="E0E0E0"/>
                          </a:solidFill>
                          <a:effectLst/>
                          <a:latin typeface="Times New Roman" panose="02020603050405020304" pitchFamily="18" charset="0"/>
                        </a:rPr>
                        <a:t>Stakeholder behavior can indicate whether project recipients are satisfied and supportive of the project or whether they oppose it. Surveys, interviews, and focus groups</a:t>
                      </a:r>
                    </a:p>
                    <a:p>
                      <a:pPr marL="0" marR="0" algn="ctr" fontAlgn="t">
                        <a:spcBef>
                          <a:spcPts val="0"/>
                        </a:spcBef>
                        <a:spcAft>
                          <a:spcPts val="0"/>
                        </a:spcAft>
                      </a:pPr>
                      <a:r>
                        <a:rPr lang="en-US" sz="1600" dirty="0">
                          <a:solidFill>
                            <a:srgbClr val="E0E0E0"/>
                          </a:solidFill>
                          <a:effectLst/>
                          <a:latin typeface="Times New Roman" panose="02020603050405020304" pitchFamily="18" charset="0"/>
                        </a:rPr>
                        <a:t>A review of the project issue register and risk register can identify challenges associated with individual stakeholders.</a:t>
                      </a:r>
                    </a:p>
                  </a:txBody>
                  <a:tcPr marL="28102" marR="28102" marT="28102" marB="2810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356261137"/>
                  </a:ext>
                </a:extLst>
              </a:tr>
            </a:tbl>
          </a:graphicData>
        </a:graphic>
      </p:graphicFrame>
      <p:sp>
        <p:nvSpPr>
          <p:cNvPr id="12" name="Rectangle 1">
            <a:extLst>
              <a:ext uri="{FF2B5EF4-FFF2-40B4-BE49-F238E27FC236}">
                <a16:creationId xmlns:a16="http://schemas.microsoft.com/office/drawing/2014/main" id="{6885F65B-4AE2-C463-062C-78E58D340E12}"/>
              </a:ext>
            </a:extLst>
          </p:cNvPr>
          <p:cNvSpPr>
            <a:spLocks noChangeArrowheads="1"/>
          </p:cNvSpPr>
          <p:nvPr/>
        </p:nvSpPr>
        <p:spPr bwMode="auto">
          <a:xfrm>
            <a:off x="758825" y="3798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65F621B6-6AB4-8685-D2E4-9462EACCA43D}"/>
              </a:ext>
            </a:extLst>
          </p:cNvPr>
          <p:cNvSpPr txBox="1"/>
          <p:nvPr/>
        </p:nvSpPr>
        <p:spPr>
          <a:xfrm>
            <a:off x="539496" y="1771048"/>
            <a:ext cx="11393424" cy="584775"/>
          </a:xfrm>
          <a:prstGeom prst="rect">
            <a:avLst/>
          </a:prstGeom>
          <a:noFill/>
        </p:spPr>
        <p:txBody>
          <a:bodyPr wrap="square">
            <a:spAutoFit/>
          </a:bodyPr>
          <a:lstStyle/>
          <a:p>
            <a:pPr indent="-285750" algn="ctr">
              <a:spcBef>
                <a:spcPts val="0"/>
              </a:spcBef>
              <a:spcAft>
                <a:spcPts val="1000"/>
              </a:spcAft>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the people who are responsible for creating project deliverables that realize business outcomes.</a:t>
            </a:r>
          </a:p>
        </p:txBody>
      </p:sp>
    </p:spTree>
    <p:extLst>
      <p:ext uri="{BB962C8B-B14F-4D97-AF65-F5344CB8AC3E}">
        <p14:creationId xmlns:p14="http://schemas.microsoft.com/office/powerpoint/2010/main" val="3431146280"/>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30</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840042" y="1392464"/>
            <a:ext cx="10739149" cy="3785652"/>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Must manage the team appropriately to ensure you have a high performance team. If you don't manage this domain correctly, you have a poor performance team, the delivery of the work will be poor.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 with the people who are responsible for creating project deliverables that realize business outcomes.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This performance domain entails establishing the culture and environment that enables a collection of diverse individuals to evolve into a high-performing project team.</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Terms used in this domain made of:</a:t>
            </a:r>
          </a:p>
          <a:p>
            <a:pPr marL="742950" lvl="1" indent="-285750">
              <a:buFont typeface="Arial" panose="020B0604020202020204" pitchFamily="34" charset="0"/>
              <a:buChar char="•"/>
            </a:pPr>
            <a:r>
              <a:rPr lang="en-US" sz="1600" b="1" dirty="0">
                <a:solidFill>
                  <a:schemeClr val="accent6"/>
                </a:solidFill>
                <a:latin typeface="Calibri" panose="020F0502020204030204" pitchFamily="34" charset="0"/>
              </a:rPr>
              <a:t>Project Manager: </a:t>
            </a:r>
            <a:r>
              <a:rPr lang="en-US" sz="1600" dirty="0">
                <a:solidFill>
                  <a:schemeClr val="accent6"/>
                </a:solidFill>
                <a:latin typeface="Calibri" panose="020F0502020204030204" pitchFamily="34" charset="0"/>
              </a:rPr>
              <a:t>Assign by the business to lead the team and is responsible for accomplishing the project objectives</a:t>
            </a:r>
          </a:p>
          <a:p>
            <a:pPr marL="742950" lvl="1" indent="-285750">
              <a:buFont typeface="Arial" panose="020B0604020202020204" pitchFamily="34" charset="0"/>
              <a:buChar char="•"/>
            </a:pPr>
            <a:r>
              <a:rPr lang="en-US" sz="1600" b="1" dirty="0">
                <a:solidFill>
                  <a:schemeClr val="accent6"/>
                </a:solidFill>
                <a:latin typeface="Calibri" panose="020F0502020204030204" pitchFamily="34" charset="0"/>
              </a:rPr>
              <a:t>Project Management Team: </a:t>
            </a:r>
            <a:r>
              <a:rPr lang="en-US" sz="1600" dirty="0">
                <a:solidFill>
                  <a:schemeClr val="accent6"/>
                </a:solidFill>
                <a:latin typeface="Calibri" panose="020F0502020204030204" pitchFamily="34" charset="0"/>
              </a:rPr>
              <a:t>People who are directly involved in project management activities</a:t>
            </a:r>
          </a:p>
          <a:p>
            <a:pPr marL="742950" lvl="1" indent="-285750">
              <a:buFont typeface="Arial" panose="020B0604020202020204" pitchFamily="34" charset="0"/>
              <a:buChar char="•"/>
            </a:pPr>
            <a:r>
              <a:rPr lang="en-US" sz="1600" b="1" dirty="0">
                <a:solidFill>
                  <a:schemeClr val="accent6"/>
                </a:solidFill>
                <a:latin typeface="Calibri" panose="020F0502020204030204" pitchFamily="34" charset="0"/>
              </a:rPr>
              <a:t>Project Team: </a:t>
            </a:r>
            <a:r>
              <a:rPr lang="en-US" sz="1600" dirty="0">
                <a:solidFill>
                  <a:schemeClr val="accent6"/>
                </a:solidFill>
                <a:latin typeface="Calibri" panose="020F0502020204030204" pitchFamily="34" charset="0"/>
              </a:rPr>
              <a:t>A group of individuals performing the work of the project to achieve its purposes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2806089284"/>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31</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840042" y="1856473"/>
            <a:ext cx="10739149" cy="3293209"/>
          </a:xfrm>
          <a:prstGeom prst="rect">
            <a:avLst/>
          </a:prstGeom>
          <a:noFill/>
        </p:spPr>
        <p:txBody>
          <a:bodyPr wrap="square">
            <a:spAutoFit/>
          </a:bodyPr>
          <a:lstStyle/>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Managers VS Leaders</a:t>
            </a:r>
          </a:p>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Management</a:t>
            </a:r>
            <a:r>
              <a:rPr lang="en-US" sz="1600" dirty="0">
                <a:solidFill>
                  <a:schemeClr val="accent6"/>
                </a:solidFill>
                <a:latin typeface="Calibri" panose="020F0502020204030204" pitchFamily="34" charset="0"/>
              </a:rPr>
              <a:t> activities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Meeting project objectives, </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 Effective processes, planning, coordinating, measuring, and monitoring work, among others.</a:t>
            </a:r>
          </a:p>
          <a:p>
            <a:pPr lvl="2"/>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Leadership</a:t>
            </a:r>
            <a:r>
              <a:rPr lang="en-US" sz="1600" dirty="0">
                <a:solidFill>
                  <a:schemeClr val="accent6"/>
                </a:solidFill>
                <a:latin typeface="Calibri" panose="020F0502020204030204" pitchFamily="34" charset="0"/>
              </a:rPr>
              <a:t> activities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Influencing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Motivating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Listening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Enabling</a:t>
            </a:r>
          </a:p>
          <a:p>
            <a:pPr lvl="1"/>
            <a:endParaRPr lang="en-US" sz="1600" dirty="0">
              <a:solidFill>
                <a:schemeClr val="accent6"/>
              </a:solidFill>
              <a:latin typeface="Calibri" panose="020F0502020204030204" pitchFamily="34" charset="0"/>
            </a:endParaRP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4086228461"/>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32</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832583" y="1224289"/>
            <a:ext cx="10739149" cy="3785652"/>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Leadership can be centralized and distributed.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Centralized: Accountability (being answerable for an outcome), is usually assigned to one individual,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Distributed: Shared among a project management team, and project team members</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Servant leadership </a:t>
            </a:r>
            <a:r>
              <a:rPr lang="en-US" sz="1600" dirty="0">
                <a:solidFill>
                  <a:schemeClr val="accent6"/>
                </a:solidFill>
                <a:latin typeface="Calibri" panose="020F0502020204030204" pitchFamily="34" charset="0"/>
              </a:rPr>
              <a:t>is a method of leadership that is based on the understanding and addressing the needs and development of project team members.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Servant leaders place emphasis on developing project team by focusing on addressing questions, such as: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Are project team members growing as individuals?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Are project team members becoming healthier, wiser, freer, and more autonomous?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Are project team members more likely to become servant leaders?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Servant leadership behaviors include: </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Obstacle removal.</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Diversion shield.</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Encouragement and development opportunities.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259213133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33</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832583" y="964407"/>
            <a:ext cx="11198996" cy="5755422"/>
          </a:xfrm>
          <a:prstGeom prst="rect">
            <a:avLst/>
          </a:prstGeom>
          <a:noFill/>
        </p:spPr>
        <p:txBody>
          <a:bodyPr wrap="square">
            <a:spAutoFit/>
          </a:bodyPr>
          <a:lstStyle/>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Common Aspects of Team Development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Vision and objectives: Everyone is aware of the project vision and objectives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Roles and responsibilities: members understand and fulfill their roles and responsibilities.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Project team operations: Facilitating project team communication, problem solving, and the process of coming to consensus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Guidance: ensure everyone is headed in the right direction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Growth: Identifying where the project team is carrying out well and pointing out areas where the project team can improve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Project team culture: each project team develops its own team culture. </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 project manager is important in establishing and maintaining a safe, respectful, nonjudgmental environment that allows the project team to communicate openly. </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This is accomplished by modeling behaviors such as: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Transparency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Integrity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Respect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Positive discourse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Support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Courage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Celebrating success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4086914677"/>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34</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760476" y="457200"/>
            <a:ext cx="11198996" cy="6924973"/>
          </a:xfrm>
          <a:prstGeom prst="rect">
            <a:avLst/>
          </a:prstGeom>
          <a:noFill/>
        </p:spPr>
        <p:txBody>
          <a:bodyPr wrap="square">
            <a:spAutoFit/>
          </a:bodyPr>
          <a:lstStyle/>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HIGH-PERFORMING PROJECT TEAMS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Factors that contribute to high-performing project teams:</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Open communication. </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Shared understanding </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Shared ownership. </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Trust. </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Collaboration</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Adaptability</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Resilience. </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Empowerment</a:t>
            </a:r>
          </a:p>
          <a:p>
            <a:pPr marL="1200150" lvl="2" indent="-285750">
              <a:buFont typeface="Arial" panose="020B0604020202020204" pitchFamily="34" charset="0"/>
              <a:buChar char="•"/>
            </a:pPr>
            <a:r>
              <a:rPr lang="en-US" sz="1400" dirty="0">
                <a:solidFill>
                  <a:schemeClr val="accent6"/>
                </a:solidFill>
                <a:latin typeface="Calibri" panose="020F0502020204030204" pitchFamily="34" charset="0"/>
              </a:rPr>
              <a:t>Recognition</a:t>
            </a:r>
          </a:p>
          <a:p>
            <a:pPr lvl="2"/>
            <a:endParaRPr lang="en-US" sz="14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Leadership skills are valuable for all project team members whether the project team is operating. This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Establishing and Maintaining Vision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Critical Thinking</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Motivation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Interpersonal Skills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Emotional intelligence. Being able to be self aware, self-manage and have social awareness and social skills.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Decision making.</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Conflict management</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Leadership methods are also tailored to meet the needs of the project, the environment, and the stakeholders. D</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Experience with the type of project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Maturity of the project team members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Organizational governance structures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Distributed project teams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1073902445"/>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9081"/>
            <a:ext cx="10671048" cy="768096"/>
          </a:xfrm>
        </p:spPr>
        <p:txBody>
          <a:bodyPr/>
          <a:lstStyle/>
          <a:p>
            <a:r>
              <a:rPr lang="en-US" dirty="0">
                <a:latin typeface="Arial Black" panose="020B0604020202020204" pitchFamily="34" charset="0"/>
                <a:cs typeface="Arial Black" panose="020B0604020202020204" pitchFamily="34" charset="0"/>
              </a:rPr>
              <a:t>Team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35</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144379" y="1771048"/>
            <a:ext cx="11964202" cy="369332"/>
          </a:xfrm>
          <a:prstGeom prst="rect">
            <a:avLst/>
          </a:prstGeom>
          <a:noFill/>
        </p:spPr>
        <p:txBody>
          <a:bodyPr wrap="square">
            <a:spAutoFit/>
          </a:bodyPr>
          <a:lstStyle/>
          <a:p>
            <a:endParaRPr lang="en-US" dirty="0"/>
          </a:p>
        </p:txBody>
      </p:sp>
      <p:sp>
        <p:nvSpPr>
          <p:cNvPr id="12" name="Rectangle 1">
            <a:extLst>
              <a:ext uri="{FF2B5EF4-FFF2-40B4-BE49-F238E27FC236}">
                <a16:creationId xmlns:a16="http://schemas.microsoft.com/office/drawing/2014/main" id="{6885F65B-4AE2-C463-062C-78E58D340E12}"/>
              </a:ext>
            </a:extLst>
          </p:cNvPr>
          <p:cNvSpPr>
            <a:spLocks noChangeArrowheads="1"/>
          </p:cNvSpPr>
          <p:nvPr/>
        </p:nvSpPr>
        <p:spPr bwMode="auto">
          <a:xfrm>
            <a:off x="758825" y="3798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85AC831B-C6E2-2EF2-6F10-61D819DBD3E8}"/>
              </a:ext>
            </a:extLst>
          </p:cNvPr>
          <p:cNvGraphicFramePr>
            <a:graphicFrameLocks noGrp="1"/>
          </p:cNvGraphicFramePr>
          <p:nvPr>
            <p:extLst>
              <p:ext uri="{D42A27DB-BD31-4B8C-83A1-F6EECF244321}">
                <p14:modId xmlns:p14="http://schemas.microsoft.com/office/powerpoint/2010/main" val="343351065"/>
              </p:ext>
            </p:extLst>
          </p:nvPr>
        </p:nvGraphicFramePr>
        <p:xfrm>
          <a:off x="77003" y="2266706"/>
          <a:ext cx="12047620" cy="2691902"/>
        </p:xfrm>
        <a:graphic>
          <a:graphicData uri="http://schemas.openxmlformats.org/drawingml/2006/table">
            <a:tbl>
              <a:tblPr/>
              <a:tblGrid>
                <a:gridCol w="6157836">
                  <a:extLst>
                    <a:ext uri="{9D8B030D-6E8A-4147-A177-3AD203B41FA5}">
                      <a16:colId xmlns:a16="http://schemas.microsoft.com/office/drawing/2014/main" val="1028003335"/>
                    </a:ext>
                  </a:extLst>
                </a:gridCol>
                <a:gridCol w="5889784">
                  <a:extLst>
                    <a:ext uri="{9D8B030D-6E8A-4147-A177-3AD203B41FA5}">
                      <a16:colId xmlns:a16="http://schemas.microsoft.com/office/drawing/2014/main" val="4183608352"/>
                    </a:ext>
                  </a:extLst>
                </a:gridCol>
              </a:tblGrid>
              <a:tr h="403975">
                <a:tc>
                  <a:txBody>
                    <a:bodyPr/>
                    <a:lstStyle/>
                    <a:p>
                      <a:pPr marL="0" marR="0" fontAlgn="t">
                        <a:spcBef>
                          <a:spcPts val="0"/>
                        </a:spcBef>
                        <a:spcAft>
                          <a:spcPts val="0"/>
                        </a:spcAft>
                      </a:pPr>
                      <a:r>
                        <a:rPr lang="en-US" sz="1600">
                          <a:solidFill>
                            <a:srgbClr val="FFFFFF"/>
                          </a:solidFill>
                          <a:effectLst/>
                          <a:latin typeface="Times New Roman" panose="02020603050405020304" pitchFamily="18" charset="0"/>
                        </a:rPr>
                        <a:t>Outcome</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FFFFFF"/>
                          </a:solidFill>
                          <a:effectLst/>
                          <a:latin typeface="Times New Roman" panose="02020603050405020304" pitchFamily="18" charset="0"/>
                        </a:rPr>
                        <a:t>Check</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566381765"/>
                  </a:ext>
                </a:extLst>
              </a:tr>
              <a:tr h="403975">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Shared ownership</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All team members know the vision and objectives. </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616049993"/>
                  </a:ext>
                </a:extLst>
              </a:tr>
              <a:tr h="992332">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A high-performing team</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The team trusts each other and collaborates. </a:t>
                      </a:r>
                    </a:p>
                    <a:p>
                      <a:pPr marL="0" marR="0" fontAlgn="t">
                        <a:spcBef>
                          <a:spcPts val="0"/>
                        </a:spcBef>
                        <a:spcAft>
                          <a:spcPts val="0"/>
                        </a:spcAft>
                      </a:pPr>
                      <a:r>
                        <a:rPr lang="en-US" sz="1600" dirty="0">
                          <a:solidFill>
                            <a:srgbClr val="E0E0E0"/>
                          </a:solidFill>
                          <a:effectLst/>
                          <a:latin typeface="Times New Roman" panose="02020603050405020304" pitchFamily="18" charset="0"/>
                        </a:rPr>
                        <a:t>The team adapts to changing situations and is resilient in the face of challenges. </a:t>
                      </a:r>
                    </a:p>
                    <a:p>
                      <a:pPr marL="0" marR="0" fontAlgn="t">
                        <a:spcBef>
                          <a:spcPts val="0"/>
                        </a:spcBef>
                        <a:spcAft>
                          <a:spcPts val="0"/>
                        </a:spcAft>
                      </a:pPr>
                      <a:r>
                        <a:rPr lang="en-US" sz="1600" dirty="0">
                          <a:solidFill>
                            <a:srgbClr val="E0E0E0"/>
                          </a:solidFill>
                          <a:effectLst/>
                          <a:latin typeface="Times New Roman" panose="02020603050405020304" pitchFamily="18" charset="0"/>
                        </a:rPr>
                        <a:t>The project team feels empowered and empowers</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742137481"/>
                  </a:ext>
                </a:extLst>
              </a:tr>
              <a:tr h="764894">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Appropriate leadership and other interpersonal skills are demonstrated by all team members</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Team members apply critical thinking and interpersonal skills. </a:t>
                      </a:r>
                    </a:p>
                    <a:p>
                      <a:pPr marL="0" marR="0" fontAlgn="t">
                        <a:spcBef>
                          <a:spcPts val="0"/>
                        </a:spcBef>
                        <a:spcAft>
                          <a:spcPts val="0"/>
                        </a:spcAft>
                      </a:pPr>
                      <a:r>
                        <a:rPr lang="en-US" sz="1600" dirty="0">
                          <a:solidFill>
                            <a:srgbClr val="E0E0E0"/>
                          </a:solidFill>
                          <a:effectLst/>
                          <a:latin typeface="Times New Roman" panose="02020603050405020304" pitchFamily="18" charset="0"/>
                        </a:rPr>
                        <a:t>Team members leadership styles are appropriate to the project context and environment.</a:t>
                      </a:r>
                    </a:p>
                  </a:txBody>
                  <a:tcPr marL="44268" marR="44268" marT="44268" marB="4426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444769954"/>
                  </a:ext>
                </a:extLst>
              </a:tr>
            </a:tbl>
          </a:graphicData>
        </a:graphic>
      </p:graphicFrame>
    </p:spTree>
    <p:extLst>
      <p:ext uri="{BB962C8B-B14F-4D97-AF65-F5344CB8AC3E}">
        <p14:creationId xmlns:p14="http://schemas.microsoft.com/office/powerpoint/2010/main" val="1562240024"/>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2000" dirty="0">
                <a:latin typeface="Arial Black" panose="020B0604020202020204" pitchFamily="34" charset="0"/>
                <a:cs typeface="Arial Black" panose="020B0604020202020204" pitchFamily="34" charset="0"/>
              </a:rPr>
              <a:t>Development Approach and Life Cycle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36</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363192" y="854455"/>
            <a:ext cx="10837325" cy="4801314"/>
          </a:xfrm>
          <a:prstGeom prst="rect">
            <a:avLst/>
          </a:prstGeom>
          <a:noFill/>
        </p:spPr>
        <p:txBody>
          <a:bodyPr wrap="square">
            <a:spAutoFit/>
          </a:bodyPr>
          <a:lstStyle/>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the development approach, cadence, and life cycle phases of the project.</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Outcomes include: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Correct development approaches.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 project lifecycle that connect the delivery of business and stakeholder value from the beginning to the end of a project.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 project lifecycle consisting of phases that facilitate the delivery cadence and development approach required to produce the project deliverables.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Delivery cadence refers to the timing and frequency of the project deliverables.</a:t>
            </a:r>
          </a:p>
          <a:p>
            <a:pPr marL="1200150" lvl="2"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There are different development approaches. Three common approaches include: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Predictive Approach</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Adaptive Approach, including both iterative and incremental</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Hybrid Approach.</a:t>
            </a:r>
          </a:p>
          <a:p>
            <a:pPr lvl="1"/>
            <a:endParaRPr lang="en-US" sz="1600" dirty="0">
              <a:solidFill>
                <a:schemeClr val="accent6"/>
              </a:solidFill>
              <a:latin typeface="Calibri" panose="020F0502020204030204" pitchFamily="34" charset="0"/>
            </a:endParaRPr>
          </a:p>
          <a:p>
            <a:pPr lvl="1"/>
            <a:endParaRPr lang="en-US" dirty="0">
              <a:solidFill>
                <a:srgbClr val="404040"/>
              </a:solidFill>
              <a:effectLst/>
              <a:latin typeface="Times New Roman" panose="02020603050405020304" pitchFamily="18"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2190409454"/>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Development Approach and Life Cycle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37</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363192" y="228813"/>
            <a:ext cx="10837325" cy="6001643"/>
          </a:xfrm>
          <a:prstGeom prst="rect">
            <a:avLst/>
          </a:prstGeom>
          <a:noFill/>
        </p:spPr>
        <p:txBody>
          <a:bodyPr wrap="square">
            <a:spAutoFit/>
          </a:bodyPr>
          <a:lstStyle/>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There are several factors that influence the selection of a development approach:</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Product, Service, or Result</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Degree of innovation</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Requirements certainty</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Scope stability </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Ease of change</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Delivery options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Risk</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Safety requirements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Regulations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The Project</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Stakeholders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Schedule constraints</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Funding availability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Organization</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Organizational structure</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Culture</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Organizational capacity</a:t>
            </a:r>
          </a:p>
          <a:p>
            <a:pPr marL="1200150" lvl="2" indent="-285750">
              <a:buFont typeface="Arial" panose="020B0604020202020204" pitchFamily="34" charset="0"/>
              <a:buChar char="•"/>
            </a:pPr>
            <a:r>
              <a:rPr lang="en-US" sz="1600" dirty="0">
                <a:solidFill>
                  <a:schemeClr val="accent6"/>
                </a:solidFill>
                <a:latin typeface="Calibri" panose="020F0502020204030204" pitchFamily="34" charset="0"/>
              </a:rPr>
              <a:t>Project team size and location</a:t>
            </a:r>
          </a:p>
          <a:p>
            <a:pPr lvl="1"/>
            <a:endParaRPr lang="en-US" sz="1600" dirty="0">
              <a:solidFill>
                <a:schemeClr val="accent6"/>
              </a:solidFill>
              <a:latin typeface="Calibri" panose="020F0502020204030204" pitchFamily="34" charset="0"/>
            </a:endParaRPr>
          </a:p>
          <a:p>
            <a:pPr marL="1200150" lvl="2" indent="-285750">
              <a:buFont typeface="Arial" panose="020B0604020202020204" pitchFamily="34" charset="0"/>
              <a:buChar char="•"/>
            </a:pPr>
            <a:r>
              <a:rPr lang="en-US" sz="1600" dirty="0">
                <a:solidFill>
                  <a:schemeClr val="accent6"/>
                </a:solidFill>
                <a:effectLst/>
                <a:latin typeface="Calibri" panose="020F0502020204030204" pitchFamily="34" charset="0"/>
              </a:rPr>
              <a:t>The type and number of project phases in a project lifecycle rest on upon many things.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pic>
        <p:nvPicPr>
          <p:cNvPr id="8" name="Picture 7">
            <a:extLst>
              <a:ext uri="{FF2B5EF4-FFF2-40B4-BE49-F238E27FC236}">
                <a16:creationId xmlns:a16="http://schemas.microsoft.com/office/drawing/2014/main" id="{58F28591-2EC2-F83F-23AC-49EEC6729BBA}"/>
              </a:ext>
            </a:extLst>
          </p:cNvPr>
          <p:cNvPicPr>
            <a:picLocks noChangeAspect="1"/>
          </p:cNvPicPr>
          <p:nvPr/>
        </p:nvPicPr>
        <p:blipFill>
          <a:blip r:embed="rId4"/>
          <a:stretch>
            <a:fillRect/>
          </a:stretch>
        </p:blipFill>
        <p:spPr>
          <a:xfrm>
            <a:off x="3718920" y="1078693"/>
            <a:ext cx="8109887" cy="2879157"/>
          </a:xfrm>
          <a:prstGeom prst="rect">
            <a:avLst/>
          </a:prstGeom>
        </p:spPr>
      </p:pic>
    </p:spTree>
    <p:extLst>
      <p:ext uri="{BB962C8B-B14F-4D97-AF65-F5344CB8AC3E}">
        <p14:creationId xmlns:p14="http://schemas.microsoft.com/office/powerpoint/2010/main" val="2104602781"/>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Development Approach and Life Cycle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38</a:t>
            </a:fld>
            <a:endParaRPr lang="en-US" dirty="0"/>
          </a:p>
        </p:txBody>
      </p:sp>
      <p:pic>
        <p:nvPicPr>
          <p:cNvPr id="5" name="Picture 4">
            <a:extLst>
              <a:ext uri="{FF2B5EF4-FFF2-40B4-BE49-F238E27FC236}">
                <a16:creationId xmlns:a16="http://schemas.microsoft.com/office/drawing/2014/main" id="{E3579FAA-CF4D-A4AF-0211-8F795FB08289}"/>
              </a:ext>
            </a:extLst>
          </p:cNvPr>
          <p:cNvPicPr>
            <a:picLocks noChangeAspect="1"/>
          </p:cNvPicPr>
          <p:nvPr/>
        </p:nvPicPr>
        <p:blipFill>
          <a:blip r:embed="rId4"/>
          <a:stretch>
            <a:fillRect/>
          </a:stretch>
        </p:blipFill>
        <p:spPr>
          <a:xfrm>
            <a:off x="2015587" y="812806"/>
            <a:ext cx="7838095" cy="4285714"/>
          </a:xfrm>
          <a:prstGeom prst="rect">
            <a:avLst/>
          </a:prstGeom>
        </p:spPr>
      </p:pic>
    </p:spTree>
    <p:extLst>
      <p:ext uri="{BB962C8B-B14F-4D97-AF65-F5344CB8AC3E}">
        <p14:creationId xmlns:p14="http://schemas.microsoft.com/office/powerpoint/2010/main" val="2414000958"/>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9081"/>
            <a:ext cx="10671048" cy="768096"/>
          </a:xfrm>
        </p:spPr>
        <p:txBody>
          <a:bodyPr/>
          <a:lstStyle/>
          <a:p>
            <a:r>
              <a:rPr lang="en-US" sz="2000" dirty="0">
                <a:latin typeface="Arial Black" panose="020B0604020202020204" pitchFamily="34" charset="0"/>
                <a:cs typeface="Arial Black" panose="020B0604020202020204" pitchFamily="34" charset="0"/>
              </a:rPr>
              <a:t>Development Approach and Life Cycle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39</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144379" y="1771048"/>
            <a:ext cx="11964202" cy="369332"/>
          </a:xfrm>
          <a:prstGeom prst="rect">
            <a:avLst/>
          </a:prstGeom>
          <a:noFill/>
        </p:spPr>
        <p:txBody>
          <a:bodyPr wrap="square">
            <a:spAutoFit/>
          </a:bodyPr>
          <a:lstStyle/>
          <a:p>
            <a:endParaRPr lang="en-US" dirty="0"/>
          </a:p>
        </p:txBody>
      </p:sp>
      <p:sp>
        <p:nvSpPr>
          <p:cNvPr id="12" name="Rectangle 1">
            <a:extLst>
              <a:ext uri="{FF2B5EF4-FFF2-40B4-BE49-F238E27FC236}">
                <a16:creationId xmlns:a16="http://schemas.microsoft.com/office/drawing/2014/main" id="{6885F65B-4AE2-C463-062C-78E58D340E12}"/>
              </a:ext>
            </a:extLst>
          </p:cNvPr>
          <p:cNvSpPr>
            <a:spLocks noChangeArrowheads="1"/>
          </p:cNvSpPr>
          <p:nvPr/>
        </p:nvSpPr>
        <p:spPr bwMode="auto">
          <a:xfrm>
            <a:off x="758825" y="3798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6D4971B8-EA4D-315A-2E53-5A1DC0233FE5}"/>
              </a:ext>
            </a:extLst>
          </p:cNvPr>
          <p:cNvGraphicFramePr>
            <a:graphicFrameLocks noGrp="1"/>
          </p:cNvGraphicFramePr>
          <p:nvPr>
            <p:extLst>
              <p:ext uri="{D42A27DB-BD31-4B8C-83A1-F6EECF244321}">
                <p14:modId xmlns:p14="http://schemas.microsoft.com/office/powerpoint/2010/main" val="2338216340"/>
              </p:ext>
            </p:extLst>
          </p:nvPr>
        </p:nvGraphicFramePr>
        <p:xfrm>
          <a:off x="331735" y="1551681"/>
          <a:ext cx="11715885" cy="2319907"/>
        </p:xfrm>
        <a:graphic>
          <a:graphicData uri="http://schemas.openxmlformats.org/drawingml/2006/table">
            <a:tbl>
              <a:tblPr/>
              <a:tblGrid>
                <a:gridCol w="5404922">
                  <a:extLst>
                    <a:ext uri="{9D8B030D-6E8A-4147-A177-3AD203B41FA5}">
                      <a16:colId xmlns:a16="http://schemas.microsoft.com/office/drawing/2014/main" val="1525348668"/>
                    </a:ext>
                  </a:extLst>
                </a:gridCol>
                <a:gridCol w="6310963">
                  <a:extLst>
                    <a:ext uri="{9D8B030D-6E8A-4147-A177-3AD203B41FA5}">
                      <a16:colId xmlns:a16="http://schemas.microsoft.com/office/drawing/2014/main" val="1382052936"/>
                    </a:ext>
                  </a:extLst>
                </a:gridCol>
              </a:tblGrid>
              <a:tr h="444955">
                <a:tc>
                  <a:txBody>
                    <a:bodyPr/>
                    <a:lstStyle/>
                    <a:p>
                      <a:pPr marL="0" marR="0" fontAlgn="t">
                        <a:spcBef>
                          <a:spcPts val="0"/>
                        </a:spcBef>
                        <a:spcAft>
                          <a:spcPts val="0"/>
                        </a:spcAft>
                      </a:pPr>
                      <a:r>
                        <a:rPr lang="en-US" sz="1600" dirty="0">
                          <a:solidFill>
                            <a:srgbClr val="FFFFFF"/>
                          </a:solidFill>
                          <a:effectLst/>
                          <a:latin typeface="Times New Roman" panose="02020603050405020304" pitchFamily="18" charset="0"/>
                        </a:rPr>
                        <a:t>Outcome</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FFFFFF"/>
                          </a:solidFill>
                          <a:effectLst/>
                          <a:latin typeface="Times New Roman" panose="02020603050405020304" pitchFamily="18" charset="0"/>
                        </a:rPr>
                        <a:t>Check</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924883674"/>
                  </a:ext>
                </a:extLst>
              </a:tr>
              <a:tr h="444955">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Development approaches are reliable with project deliverables</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The development approach for deliverables (predictive, hybrid, or adaptive) reflects the product variables and is suitable for  the project and the organization.</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805747968"/>
                  </a:ext>
                </a:extLst>
              </a:tr>
              <a:tr h="444955">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A project life cycle entailing phases that connect the business and stakeholders to value from the beginning to the end of the project</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Project work from start to end is represented in the project phases. </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870321416"/>
                  </a:ext>
                </a:extLst>
              </a:tr>
              <a:tr h="444955">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Project life cycle phases that facilitate the delivery cadence and development approach required to create the deliverable.</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The cadence for development, testing, and deploying is represented in the life cycle phases. </a:t>
                      </a:r>
                    </a:p>
                  </a:txBody>
                  <a:tcPr marL="28012" marR="28012" marT="28012" marB="28012">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957367521"/>
                  </a:ext>
                </a:extLst>
              </a:tr>
            </a:tbl>
          </a:graphicData>
        </a:graphic>
      </p:graphicFrame>
      <p:sp>
        <p:nvSpPr>
          <p:cNvPr id="5" name="Rectangle 1">
            <a:extLst>
              <a:ext uri="{FF2B5EF4-FFF2-40B4-BE49-F238E27FC236}">
                <a16:creationId xmlns:a16="http://schemas.microsoft.com/office/drawing/2014/main" id="{F49804FA-A910-6A2A-B522-60B50B44D64E}"/>
              </a:ext>
            </a:extLst>
          </p:cNvPr>
          <p:cNvSpPr>
            <a:spLocks noChangeArrowheads="1"/>
          </p:cNvSpPr>
          <p:nvPr/>
        </p:nvSpPr>
        <p:spPr bwMode="auto">
          <a:xfrm>
            <a:off x="331736" y="3474384"/>
            <a:ext cx="12987489"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5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3004700"/>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3600" dirty="0">
                <a:latin typeface="Arial Black" panose="020B0604020202020204" pitchFamily="34" charset="0"/>
                <a:cs typeface="Arial Black" panose="020B0604020202020204" pitchFamily="34" charset="0"/>
              </a:rPr>
              <a:t>Planning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40</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677337" y="1041938"/>
            <a:ext cx="10837325" cy="1569660"/>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the initial, ongoing, and evolving organization and coordination necessary for delivering project deliverables and outcomes.</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 purpose of planning is to proactively develop an approach to create the project deliverables.</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1687574778"/>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Planning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41</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324638"/>
            <a:ext cx="11359256" cy="6740307"/>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Because each project is unique, the volume, timing, and frequency of planning varies.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Variables include, but are not limited to:</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Development approach</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Project deliverables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Organizational requirements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Market conditions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Legal or regulatory restrictions</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When planning things to consider will be: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Delivery – What is the scope being delivered by the project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Estimating – Scope, schedule, budget of resources both people and physical</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Schedules - Models used to determine when work has to be done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Budget- How much work will cost</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Planning for how the team will be made begins with identifying the skill sets required to accomplish the project work.</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Communication planning overlaps with stakeholder identification, analysis, prioritization, and engagement</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Physical resources apply to any resource that is not a person. </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Procurements can happen at any time during a project.</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There will be changes throughout the project. </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Some changes are a result of a risk event and others are due to customer requests or other reasons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11961487"/>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950887"/>
            <a:ext cx="10671048" cy="491806"/>
          </a:xfrm>
        </p:spPr>
        <p:txBody>
          <a:bodyPr/>
          <a:lstStyle/>
          <a:p>
            <a:r>
              <a:rPr lang="en-US" sz="2000" dirty="0">
                <a:latin typeface="Arial Black" panose="020B0604020202020204" pitchFamily="34" charset="0"/>
                <a:cs typeface="Arial Black" panose="020B0604020202020204" pitchFamily="34" charset="0"/>
              </a:rPr>
              <a:t>Planning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42</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144379" y="1771048"/>
            <a:ext cx="11964202" cy="369332"/>
          </a:xfrm>
          <a:prstGeom prst="rect">
            <a:avLst/>
          </a:prstGeom>
          <a:noFill/>
        </p:spPr>
        <p:txBody>
          <a:bodyPr wrap="square">
            <a:spAutoFit/>
          </a:bodyPr>
          <a:lstStyle/>
          <a:p>
            <a:endParaRPr lang="en-US" dirty="0"/>
          </a:p>
        </p:txBody>
      </p:sp>
      <p:sp>
        <p:nvSpPr>
          <p:cNvPr id="12" name="Rectangle 1">
            <a:extLst>
              <a:ext uri="{FF2B5EF4-FFF2-40B4-BE49-F238E27FC236}">
                <a16:creationId xmlns:a16="http://schemas.microsoft.com/office/drawing/2014/main" id="{6885F65B-4AE2-C463-062C-78E58D340E12}"/>
              </a:ext>
            </a:extLst>
          </p:cNvPr>
          <p:cNvSpPr>
            <a:spLocks noChangeArrowheads="1"/>
          </p:cNvSpPr>
          <p:nvPr/>
        </p:nvSpPr>
        <p:spPr bwMode="auto">
          <a:xfrm>
            <a:off x="758825" y="3798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F49804FA-A910-6A2A-B522-60B50B44D64E}"/>
              </a:ext>
            </a:extLst>
          </p:cNvPr>
          <p:cNvSpPr>
            <a:spLocks noChangeArrowheads="1"/>
          </p:cNvSpPr>
          <p:nvPr/>
        </p:nvSpPr>
        <p:spPr bwMode="auto">
          <a:xfrm>
            <a:off x="331736" y="3474384"/>
            <a:ext cx="12987489"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5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170E5159-0BD2-417C-BD0C-7D6FBB289975}"/>
              </a:ext>
            </a:extLst>
          </p:cNvPr>
          <p:cNvGraphicFramePr>
            <a:graphicFrameLocks noGrp="1"/>
          </p:cNvGraphicFramePr>
          <p:nvPr>
            <p:extLst>
              <p:ext uri="{D42A27DB-BD31-4B8C-83A1-F6EECF244321}">
                <p14:modId xmlns:p14="http://schemas.microsoft.com/office/powerpoint/2010/main" val="400708746"/>
              </p:ext>
            </p:extLst>
          </p:nvPr>
        </p:nvGraphicFramePr>
        <p:xfrm>
          <a:off x="691448" y="1908154"/>
          <a:ext cx="11087821" cy="2891904"/>
        </p:xfrm>
        <a:graphic>
          <a:graphicData uri="http://schemas.openxmlformats.org/drawingml/2006/table">
            <a:tbl>
              <a:tblPr/>
              <a:tblGrid>
                <a:gridCol w="3879368">
                  <a:extLst>
                    <a:ext uri="{9D8B030D-6E8A-4147-A177-3AD203B41FA5}">
                      <a16:colId xmlns:a16="http://schemas.microsoft.com/office/drawing/2014/main" val="2989355651"/>
                    </a:ext>
                  </a:extLst>
                </a:gridCol>
                <a:gridCol w="7208453">
                  <a:extLst>
                    <a:ext uri="{9D8B030D-6E8A-4147-A177-3AD203B41FA5}">
                      <a16:colId xmlns:a16="http://schemas.microsoft.com/office/drawing/2014/main" val="1395148696"/>
                    </a:ext>
                  </a:extLst>
                </a:gridCol>
              </a:tblGrid>
              <a:tr h="302762">
                <a:tc>
                  <a:txBody>
                    <a:bodyPr/>
                    <a:lstStyle/>
                    <a:p>
                      <a:pPr marL="0" marR="0" fontAlgn="t">
                        <a:spcBef>
                          <a:spcPts val="0"/>
                        </a:spcBef>
                        <a:spcAft>
                          <a:spcPts val="0"/>
                        </a:spcAft>
                      </a:pPr>
                      <a:r>
                        <a:rPr lang="en-US" sz="1200">
                          <a:solidFill>
                            <a:srgbClr val="FFFFFF"/>
                          </a:solidFill>
                          <a:effectLst/>
                          <a:latin typeface="Times New Roman" panose="02020603050405020304" pitchFamily="18" charset="0"/>
                        </a:rPr>
                        <a:t>Outcome</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a:solidFill>
                            <a:srgbClr val="FFFFFF"/>
                          </a:solidFill>
                          <a:effectLst/>
                          <a:latin typeface="Times New Roman" panose="02020603050405020304" pitchFamily="18" charset="0"/>
                        </a:rPr>
                        <a:t>Check</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107981764"/>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The project moves in an organized, coordinated, and deliberate manner.</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A performance review of project results against the project baselines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463601160"/>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There is a holistic approach to delivering the project outcomes.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The delivery schedule, funding, resource availability and procurements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120885200"/>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Evolving information is elaborated to produce the deliverables and outcomes.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Initial information about deliverables and requirements compared to current information can demonstrate appropriate elaboration.</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582346172"/>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Time spent planning is appropriate for the project.</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dirty="0">
                          <a:solidFill>
                            <a:srgbClr val="E0E0E0"/>
                          </a:solidFill>
                          <a:effectLst/>
                          <a:latin typeface="Times New Roman" panose="02020603050405020304" pitchFamily="18" charset="0"/>
                        </a:rPr>
                        <a:t>Project plans and documents demonstrate the correct level of planning</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1133966689"/>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Planning information is sufficient to manage stakeholder expectations.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The communications management plan and stakeholder analysis indicate that the communications are sufficient to manage stakeholder expectations.</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007821551"/>
                  </a:ext>
                </a:extLst>
              </a:tr>
              <a:tr h="302762">
                <a:tc>
                  <a:txBody>
                    <a:bodyPr/>
                    <a:lstStyle/>
                    <a:p>
                      <a:pPr marL="0" marR="0" fontAlgn="t">
                        <a:spcBef>
                          <a:spcPts val="0"/>
                        </a:spcBef>
                        <a:spcAft>
                          <a:spcPts val="0"/>
                        </a:spcAft>
                      </a:pPr>
                      <a:r>
                        <a:rPr lang="en-US" sz="1200">
                          <a:solidFill>
                            <a:srgbClr val="E0E0E0"/>
                          </a:solidFill>
                          <a:effectLst/>
                          <a:latin typeface="Times New Roman" panose="02020603050405020304" pitchFamily="18" charset="0"/>
                        </a:rPr>
                        <a:t>There is a process for the adaptation of plans throughout the project.</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200" dirty="0">
                          <a:solidFill>
                            <a:srgbClr val="E0E0E0"/>
                          </a:solidFill>
                          <a:effectLst/>
                          <a:latin typeface="Times New Roman" panose="02020603050405020304" pitchFamily="18" charset="0"/>
                        </a:rPr>
                        <a:t>Projects using a backlog show the adaptation of plans throughout the project. Projects using a change control process have change</a:t>
                      </a:r>
                    </a:p>
                  </a:txBody>
                  <a:tcPr marL="45758" marR="45758" marT="45758" marB="45758">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489046690"/>
                  </a:ext>
                </a:extLst>
              </a:tr>
            </a:tbl>
          </a:graphicData>
        </a:graphic>
      </p:graphicFrame>
    </p:spTree>
    <p:extLst>
      <p:ext uri="{BB962C8B-B14F-4D97-AF65-F5344CB8AC3E}">
        <p14:creationId xmlns:p14="http://schemas.microsoft.com/office/powerpoint/2010/main" val="1217585280"/>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616517"/>
            <a:ext cx="10671048" cy="409501"/>
          </a:xfrm>
        </p:spPr>
        <p:txBody>
          <a:bodyPr/>
          <a:lstStyle/>
          <a:p>
            <a:r>
              <a:rPr lang="en-US" sz="3600" dirty="0">
                <a:latin typeface="Arial Black" panose="020B0604020202020204" pitchFamily="34" charset="0"/>
                <a:cs typeface="Arial Black" panose="020B0604020202020204" pitchFamily="34" charset="0"/>
              </a:rPr>
              <a:t>PROJECT Work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43</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1705087"/>
            <a:ext cx="10837325" cy="4031873"/>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establishing project processes, managing physical resources, and fostering a learning environment.</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Project work is connected with establishing the processes and performing the work done by the project team to deliver the expected deliverables and outcomes.</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Project work keeps the project team dedicated and project activities running correctly. This includes but is not limited to:</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Managing the flow of existing, new and change work.</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Keeping the project team focused</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Establishing an efficient project systems and processes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Communicating with stakeholders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Managing physical resources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Working external vendors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Monitoring changes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Enabling project learning and knowledge transfer.</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189318320"/>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3600" dirty="0">
                <a:latin typeface="Arial Black" panose="020B0604020202020204" pitchFamily="34" charset="0"/>
                <a:cs typeface="Arial Black" panose="020B0604020202020204" pitchFamily="34" charset="0"/>
              </a:rPr>
              <a:t>PROJECT Work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44</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536448" y="866701"/>
            <a:ext cx="10837325" cy="5262979"/>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 project manager and the project team establish and periodically review the processes the project team is using to conduct the work.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This can take the form of reviewing task boards such as using Kanban. </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Process tailoring can be used to optimize the process for the needs of the project</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Balancing constraints can take the form of fixed delivery dates, compliance to regulatory codes, a predetermined budget, and quality.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Project managers have a responsibility for assessing and balancing the project team focus and attention.</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Much of the project work is associated with communication and engagement.</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Some projects require materials and supplies from third parties.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Planning, ordering, transporting, storing, tracking, and controlling these physical resources can take a large amount of time and effort.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Working on procurements which can involve hiring and managing vendors throughout the project. This includes managing bids and contracts. </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Monitoring new work and changes.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From time to time, the project team may meet to determine what they can do better in the future (lessons learned) and how they can improve and challenge the process in upcoming iterations (retrospectives).</a:t>
            </a:r>
          </a:p>
        </p:txBody>
      </p:sp>
    </p:spTree>
    <p:extLst>
      <p:ext uri="{BB962C8B-B14F-4D97-AF65-F5344CB8AC3E}">
        <p14:creationId xmlns:p14="http://schemas.microsoft.com/office/powerpoint/2010/main" val="148007012"/>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950887"/>
            <a:ext cx="10671048" cy="491806"/>
          </a:xfrm>
        </p:spPr>
        <p:txBody>
          <a:bodyPr/>
          <a:lstStyle/>
          <a:p>
            <a:r>
              <a:rPr lang="en-US" sz="2000" dirty="0">
                <a:latin typeface="Arial Black" panose="020B0604020202020204" pitchFamily="34" charset="0"/>
                <a:cs typeface="Arial Black" panose="020B0604020202020204" pitchFamily="34" charset="0"/>
              </a:rPr>
              <a:t>Work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45</a:t>
            </a:fld>
            <a:endParaRPr lang="en-US" dirty="0"/>
          </a:p>
        </p:txBody>
      </p:sp>
      <p:sp>
        <p:nvSpPr>
          <p:cNvPr id="8" name="TextBox 7">
            <a:extLst>
              <a:ext uri="{FF2B5EF4-FFF2-40B4-BE49-F238E27FC236}">
                <a16:creationId xmlns:a16="http://schemas.microsoft.com/office/drawing/2014/main" id="{A1EFF730-B12A-E473-7AB3-7F3CA3330846}"/>
              </a:ext>
            </a:extLst>
          </p:cNvPr>
          <p:cNvSpPr txBox="1"/>
          <p:nvPr/>
        </p:nvSpPr>
        <p:spPr>
          <a:xfrm>
            <a:off x="144379" y="1771048"/>
            <a:ext cx="11964202" cy="369332"/>
          </a:xfrm>
          <a:prstGeom prst="rect">
            <a:avLst/>
          </a:prstGeom>
          <a:noFill/>
        </p:spPr>
        <p:txBody>
          <a:bodyPr wrap="square">
            <a:spAutoFit/>
          </a:bodyPr>
          <a:lstStyle/>
          <a:p>
            <a:endParaRPr lang="en-US" dirty="0"/>
          </a:p>
        </p:txBody>
      </p:sp>
      <p:sp>
        <p:nvSpPr>
          <p:cNvPr id="12" name="Rectangle 1">
            <a:extLst>
              <a:ext uri="{FF2B5EF4-FFF2-40B4-BE49-F238E27FC236}">
                <a16:creationId xmlns:a16="http://schemas.microsoft.com/office/drawing/2014/main" id="{6885F65B-4AE2-C463-062C-78E58D340E12}"/>
              </a:ext>
            </a:extLst>
          </p:cNvPr>
          <p:cNvSpPr>
            <a:spLocks noChangeArrowheads="1"/>
          </p:cNvSpPr>
          <p:nvPr/>
        </p:nvSpPr>
        <p:spPr bwMode="auto">
          <a:xfrm>
            <a:off x="758825" y="3798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F49804FA-A910-6A2A-B522-60B50B44D64E}"/>
              </a:ext>
            </a:extLst>
          </p:cNvPr>
          <p:cNvSpPr>
            <a:spLocks noChangeArrowheads="1"/>
          </p:cNvSpPr>
          <p:nvPr/>
        </p:nvSpPr>
        <p:spPr bwMode="auto">
          <a:xfrm>
            <a:off x="331736" y="3474384"/>
            <a:ext cx="12987489"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500" b="0" i="0" u="none" strike="noStrike" cap="none" normalizeH="0" baseline="0">
                <a:ln>
                  <a:noFill/>
                </a:ln>
                <a:solidFill>
                  <a:srgbClr val="40404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E044A56-D529-631C-4CD1-8BB7BEBC06C5}"/>
              </a:ext>
            </a:extLst>
          </p:cNvPr>
          <p:cNvGraphicFramePr>
            <a:graphicFrameLocks noGrp="1"/>
          </p:cNvGraphicFramePr>
          <p:nvPr>
            <p:extLst>
              <p:ext uri="{D42A27DB-BD31-4B8C-83A1-F6EECF244321}">
                <p14:modId xmlns:p14="http://schemas.microsoft.com/office/powerpoint/2010/main" val="667725411"/>
              </p:ext>
            </p:extLst>
          </p:nvPr>
        </p:nvGraphicFramePr>
        <p:xfrm>
          <a:off x="539497" y="2140381"/>
          <a:ext cx="10890504" cy="3839737"/>
        </p:xfrm>
        <a:graphic>
          <a:graphicData uri="http://schemas.openxmlformats.org/drawingml/2006/table">
            <a:tbl>
              <a:tblPr/>
              <a:tblGrid>
                <a:gridCol w="3528301">
                  <a:extLst>
                    <a:ext uri="{9D8B030D-6E8A-4147-A177-3AD203B41FA5}">
                      <a16:colId xmlns:a16="http://schemas.microsoft.com/office/drawing/2014/main" val="635922166"/>
                    </a:ext>
                  </a:extLst>
                </a:gridCol>
                <a:gridCol w="7362203">
                  <a:extLst>
                    <a:ext uri="{9D8B030D-6E8A-4147-A177-3AD203B41FA5}">
                      <a16:colId xmlns:a16="http://schemas.microsoft.com/office/drawing/2014/main" val="3510573775"/>
                    </a:ext>
                  </a:extLst>
                </a:gridCol>
              </a:tblGrid>
              <a:tr h="311363">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Outcome</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Check</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9501996"/>
                  </a:ext>
                </a:extLst>
              </a:tr>
              <a:tr h="347874">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Efficient and effective project performance</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Status reports show that project work.</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4261228170"/>
                  </a:ext>
                </a:extLst>
              </a:tr>
              <a:tr h="347874">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Project processes that are appropriate for the project and the environment</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Evidence shows that the project processes have been tailored to meet the needs of the project and the environment. </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713112635"/>
                  </a:ext>
                </a:extLst>
              </a:tr>
              <a:tr h="558886">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Appropriate communication and engagement with stakeholders</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The project communications management plan and communication artifacts demonstrate that the planned communications are being delivered to stakeholders. </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435229555"/>
                  </a:ext>
                </a:extLst>
              </a:tr>
              <a:tr h="347874">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Efficient management of physical resources</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The amount of material used, scrap discarded, and amount of rework indicate that resources are being used efficiently.</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871212903"/>
                  </a:ext>
                </a:extLst>
              </a:tr>
              <a:tr h="347874">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Effective management of procurements</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A procurement audit demonstrates that appropriate processes utilized were sufficient for the procurement and that the contractor is performing to plan.</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111743260"/>
                  </a:ext>
                </a:extLst>
              </a:tr>
              <a:tr h="347874">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Effective handling of change</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Projects using a predictive approach have a change log and Projects using an adaptive approach have a backlog that shows the rate of accomplishing</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1197935493"/>
                  </a:ext>
                </a:extLst>
              </a:tr>
              <a:tr h="558886">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Improved capability due to continuous learning and process improvement</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Team status reports show fewer errors and rework with an increase in velocity.</a:t>
                      </a:r>
                    </a:p>
                  </a:txBody>
                  <a:tcPr marL="44481" marR="44481" marT="44481" marB="4448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929595418"/>
                  </a:ext>
                </a:extLst>
              </a:tr>
            </a:tbl>
          </a:graphicData>
        </a:graphic>
      </p:graphicFrame>
    </p:spTree>
    <p:extLst>
      <p:ext uri="{BB962C8B-B14F-4D97-AF65-F5344CB8AC3E}">
        <p14:creationId xmlns:p14="http://schemas.microsoft.com/office/powerpoint/2010/main" val="345594659"/>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3200" dirty="0">
                <a:latin typeface="Arial Black" panose="020B0604020202020204" pitchFamily="34" charset="0"/>
                <a:cs typeface="Arial Black" panose="020B0604020202020204" pitchFamily="34" charset="0"/>
              </a:rPr>
              <a:t>Project Delivery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46</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818227" y="724587"/>
            <a:ext cx="10837325" cy="6001643"/>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delivering the scope and quality that the project was undertaken to achieve.</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	Project delivery is about meeting requirements, scope, and quality expectations to produce the expected deliverable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Some project deliver value throughout and others deliver the bulk at the end. </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 project manager will need to understand how the deliverable is able to deliver value to the stakeholders. This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Requirements gathering.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 Evolving and discovering requirements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Managing requirements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Define and decompose the scope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Completion of deliverables</a:t>
            </a:r>
          </a:p>
          <a:p>
            <a:pPr marL="742950" lvl="1"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Quality requirements can be reflected in the completion criteria, definition of done, statement of work, or requirements documentation. </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The project manager must consider the following of quality: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Cost of Quality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Prevention.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Appraisal.</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Internal Failure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External Failure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Cost of Change</a:t>
            </a:r>
          </a:p>
          <a:p>
            <a:pPr marL="742950" lvl="1" indent="-285750">
              <a:buFont typeface="Arial" panose="020B0604020202020204" pitchFamily="34" charset="0"/>
              <a:buChar char="•"/>
            </a:pPr>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3920219870"/>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2800" dirty="0">
                <a:latin typeface="Arial Black" panose="020B0604020202020204" pitchFamily="34" charset="0"/>
                <a:cs typeface="Arial Black" panose="020B0604020202020204" pitchFamily="34" charset="0"/>
              </a:rPr>
              <a:t>Project Delivery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47</a:t>
            </a:fld>
            <a:endParaRPr lang="en-US" dirty="0"/>
          </a:p>
        </p:txBody>
      </p:sp>
      <p:graphicFrame>
        <p:nvGraphicFramePr>
          <p:cNvPr id="6" name="Table 5">
            <a:extLst>
              <a:ext uri="{FF2B5EF4-FFF2-40B4-BE49-F238E27FC236}">
                <a16:creationId xmlns:a16="http://schemas.microsoft.com/office/drawing/2014/main" id="{22704A80-F7FD-DAA1-5656-D71BCCB31AF8}"/>
              </a:ext>
            </a:extLst>
          </p:cNvPr>
          <p:cNvGraphicFramePr>
            <a:graphicFrameLocks noGrp="1"/>
          </p:cNvGraphicFramePr>
          <p:nvPr>
            <p:extLst>
              <p:ext uri="{D42A27DB-BD31-4B8C-83A1-F6EECF244321}">
                <p14:modId xmlns:p14="http://schemas.microsoft.com/office/powerpoint/2010/main" val="4230504505"/>
              </p:ext>
            </p:extLst>
          </p:nvPr>
        </p:nvGraphicFramePr>
        <p:xfrm>
          <a:off x="796753" y="1231347"/>
          <a:ext cx="10634771" cy="3867725"/>
        </p:xfrm>
        <a:graphic>
          <a:graphicData uri="http://schemas.openxmlformats.org/drawingml/2006/table">
            <a:tbl>
              <a:tblPr/>
              <a:tblGrid>
                <a:gridCol w="3724779">
                  <a:extLst>
                    <a:ext uri="{9D8B030D-6E8A-4147-A177-3AD203B41FA5}">
                      <a16:colId xmlns:a16="http://schemas.microsoft.com/office/drawing/2014/main" val="783459273"/>
                    </a:ext>
                  </a:extLst>
                </a:gridCol>
                <a:gridCol w="6909992">
                  <a:extLst>
                    <a:ext uri="{9D8B030D-6E8A-4147-A177-3AD203B41FA5}">
                      <a16:colId xmlns:a16="http://schemas.microsoft.com/office/drawing/2014/main" val="4256523133"/>
                    </a:ext>
                  </a:extLst>
                </a:gridCol>
              </a:tblGrid>
              <a:tr h="379619">
                <a:tc>
                  <a:txBody>
                    <a:bodyPr/>
                    <a:lstStyle/>
                    <a:p>
                      <a:pPr marL="0" marR="0" fontAlgn="t">
                        <a:spcBef>
                          <a:spcPts val="0"/>
                        </a:spcBef>
                        <a:spcAft>
                          <a:spcPts val="0"/>
                        </a:spcAft>
                      </a:pPr>
                      <a:r>
                        <a:rPr lang="en-US" sz="1600">
                          <a:solidFill>
                            <a:srgbClr val="FFFFFF"/>
                          </a:solidFill>
                          <a:effectLst/>
                          <a:latin typeface="Times New Roman" panose="02020603050405020304" pitchFamily="18" charset="0"/>
                        </a:rPr>
                        <a:t>Outcome</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FFFFFF"/>
                          </a:solidFill>
                          <a:effectLst/>
                          <a:latin typeface="Times New Roman" panose="02020603050405020304" pitchFamily="18" charset="0"/>
                        </a:rPr>
                        <a:t>Check</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58533117"/>
                  </a:ext>
                </a:extLst>
              </a:tr>
              <a:tr h="634596">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Projects contribute to business objectives and advancement of strategy</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The organization plans and the project demonstrate that the project deliverables and business objectives are aligned.</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193075936"/>
                  </a:ext>
                </a:extLst>
              </a:tr>
              <a:tr h="379619">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Projects realize the outcomes they were initiated to deliver</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The business case and underlying data indicate the project is still on track to realize the intended outcomes.</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119779596"/>
                  </a:ext>
                </a:extLst>
              </a:tr>
              <a:tr h="379619">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Project benefits are realized in the time frame as planned</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The project deliveries are being achieved as planned.</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578797891"/>
                  </a:ext>
                </a:extLst>
              </a:tr>
              <a:tr h="889573">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The project team has a clear understanding of requirements</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In predictive development, small change in the initial requirements reflects understanding. </a:t>
                      </a:r>
                    </a:p>
                    <a:p>
                      <a:pPr marL="0" marR="0" fontAlgn="t">
                        <a:spcBef>
                          <a:spcPts val="0"/>
                        </a:spcBef>
                        <a:spcAft>
                          <a:spcPts val="0"/>
                        </a:spcAft>
                      </a:pPr>
                      <a:r>
                        <a:rPr lang="en-US" sz="1600">
                          <a:solidFill>
                            <a:srgbClr val="E0E0E0"/>
                          </a:solidFill>
                          <a:effectLst/>
                          <a:latin typeface="Times New Roman" panose="02020603050405020304" pitchFamily="18" charset="0"/>
                        </a:rPr>
                        <a:t>In projects where requirements are developing, a clear understanding of requirements may not take place until well into the project.</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341557166"/>
                  </a:ext>
                </a:extLst>
              </a:tr>
              <a:tr h="634596">
                <a:tc>
                  <a:txBody>
                    <a:bodyPr/>
                    <a:lstStyle/>
                    <a:p>
                      <a:pPr marL="0" marR="0" fontAlgn="t">
                        <a:spcBef>
                          <a:spcPts val="0"/>
                        </a:spcBef>
                        <a:spcAft>
                          <a:spcPts val="0"/>
                        </a:spcAft>
                      </a:pPr>
                      <a:r>
                        <a:rPr lang="en-US" sz="1600">
                          <a:solidFill>
                            <a:srgbClr val="E0E0E0"/>
                          </a:solidFill>
                          <a:effectLst/>
                          <a:latin typeface="Times New Roman" panose="02020603050405020304" pitchFamily="18" charset="0"/>
                        </a:rPr>
                        <a:t>Stakeholders accept and are satisfied with project deliverables</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600" dirty="0">
                          <a:solidFill>
                            <a:srgbClr val="E0E0E0"/>
                          </a:solidFill>
                          <a:effectLst/>
                          <a:latin typeface="Times New Roman" panose="02020603050405020304" pitchFamily="18" charset="0"/>
                        </a:rPr>
                        <a:t>Interviews, observation, and end user feedback indicate stakeholder satisfaction.</a:t>
                      </a:r>
                    </a:p>
                  </a:txBody>
                  <a:tcPr marL="44699" marR="44699" marT="44699" marB="446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850300980"/>
                  </a:ext>
                </a:extLst>
              </a:tr>
            </a:tbl>
          </a:graphicData>
        </a:graphic>
      </p:graphicFrame>
    </p:spTree>
    <p:extLst>
      <p:ext uri="{BB962C8B-B14F-4D97-AF65-F5344CB8AC3E}">
        <p14:creationId xmlns:p14="http://schemas.microsoft.com/office/powerpoint/2010/main" val="3080677237"/>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Measurement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48</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457200"/>
            <a:ext cx="10837325" cy="3785652"/>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assessing project performance and taking appropriate actions to maintain acceptable performance.</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Involves measuring project performance and implementing appropriate responses to keep the project on track.</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This domain evaluates the amount to which the work done in the Delivery Performance Domain is meeting the metrics identified in the Planning Performance Domain.</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Measures are used for multiple reasons, including:</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Evaluating performance compared to plan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Tracking the utilization of resources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Demonstrating accountability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Providing information to stakeholders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Assessing whether project deliverables are on track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Ensuring the project deliverables will meet customer acceptance criteria.</a:t>
            </a:r>
          </a:p>
        </p:txBody>
      </p:sp>
    </p:spTree>
    <p:extLst>
      <p:ext uri="{BB962C8B-B14F-4D97-AF65-F5344CB8AC3E}">
        <p14:creationId xmlns:p14="http://schemas.microsoft.com/office/powerpoint/2010/main" val="3392761975"/>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Measurement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49</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457200"/>
            <a:ext cx="10837325" cy="6740307"/>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Creating effective measurements helps to ensure the right things are measured. </a:t>
            </a:r>
          </a:p>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Ways</a:t>
            </a:r>
            <a:r>
              <a:rPr lang="en-US" sz="1600" dirty="0">
                <a:solidFill>
                  <a:schemeClr val="accent6"/>
                </a:solidFill>
                <a:latin typeface="Calibri" panose="020F0502020204030204" pitchFamily="34" charset="0"/>
              </a:rPr>
              <a:t> to measure performance include: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Key Performance Indicators (KPI) - two types of KPIs: leading indicators and lagging indicators.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Leading indicators predict changes or trends in the project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Lagging indicators measure project deliverables or events. They provide information after the fact.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Effective Metrics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Use of SMART (Specific, Meaningful, Achievable, Relevant, Timely) criteria.</a:t>
            </a:r>
          </a:p>
          <a:p>
            <a:pPr marL="285750" indent="-285750">
              <a:buFont typeface="Arial" panose="020B0604020202020204" pitchFamily="34" charset="0"/>
              <a:buChar char="•"/>
            </a:pPr>
            <a:r>
              <a:rPr lang="en-US" sz="1600" b="1" dirty="0">
                <a:solidFill>
                  <a:schemeClr val="accent6"/>
                </a:solidFill>
                <a:latin typeface="Calibri" panose="020F0502020204030204" pitchFamily="34" charset="0"/>
              </a:rPr>
              <a:t>What</a:t>
            </a:r>
            <a:r>
              <a:rPr lang="en-US" sz="1600" dirty="0">
                <a:solidFill>
                  <a:schemeClr val="accent6"/>
                </a:solidFill>
                <a:latin typeface="Calibri" panose="020F0502020204030204" pitchFamily="34" charset="0"/>
              </a:rPr>
              <a:t> to measure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Deliverable Metrics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Information on errors or defects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Measures of performance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Delivery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Work in progress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Lead time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Cycle time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Process efficiency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Baseline Performance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Start and finish dates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Actual cost compared to planned cost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Resources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Planned resource utilization compared to actual resource utilization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Business Value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Cost-benefit ratio</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Stakeholders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Mood chart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Forecasts</a:t>
            </a:r>
          </a:p>
        </p:txBody>
      </p:sp>
    </p:spTree>
    <p:extLst>
      <p:ext uri="{BB962C8B-B14F-4D97-AF65-F5344CB8AC3E}">
        <p14:creationId xmlns:p14="http://schemas.microsoft.com/office/powerpoint/2010/main" val="244325253"/>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Measurement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50</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457200"/>
            <a:ext cx="10837325" cy="4031873"/>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Metrics can be presented using: </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Dashboards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Information Radiators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Visual Controls</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Pitfalls associated with measurement includes: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Hawthorne effect</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Vanity metric</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Demoralization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Misusing the metrics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Confirmation bias</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A portion of measurement is having agreed to plans for measures that are outside the threshold ranges.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Thresholds can be established for an assortment of metrics such as schedule, budget, velocity, and other project-specific measures</a:t>
            </a:r>
          </a:p>
        </p:txBody>
      </p:sp>
      <p:graphicFrame>
        <p:nvGraphicFramePr>
          <p:cNvPr id="3" name="Table 2">
            <a:extLst>
              <a:ext uri="{FF2B5EF4-FFF2-40B4-BE49-F238E27FC236}">
                <a16:creationId xmlns:a16="http://schemas.microsoft.com/office/drawing/2014/main" id="{A08CAA53-AC2C-3583-4762-D12571574C3F}"/>
              </a:ext>
            </a:extLst>
          </p:cNvPr>
          <p:cNvGraphicFramePr>
            <a:graphicFrameLocks noGrp="1"/>
          </p:cNvGraphicFramePr>
          <p:nvPr>
            <p:extLst>
              <p:ext uri="{D42A27DB-BD31-4B8C-83A1-F6EECF244321}">
                <p14:modId xmlns:p14="http://schemas.microsoft.com/office/powerpoint/2010/main" val="1349409767"/>
              </p:ext>
            </p:extLst>
          </p:nvPr>
        </p:nvGraphicFramePr>
        <p:xfrm>
          <a:off x="760350" y="4501105"/>
          <a:ext cx="10671174" cy="2136790"/>
        </p:xfrm>
        <a:graphic>
          <a:graphicData uri="http://schemas.openxmlformats.org/drawingml/2006/table">
            <a:tbl>
              <a:tblPr/>
              <a:tblGrid>
                <a:gridCol w="6018109">
                  <a:extLst>
                    <a:ext uri="{9D8B030D-6E8A-4147-A177-3AD203B41FA5}">
                      <a16:colId xmlns:a16="http://schemas.microsoft.com/office/drawing/2014/main" val="1073583388"/>
                    </a:ext>
                  </a:extLst>
                </a:gridCol>
                <a:gridCol w="4653065">
                  <a:extLst>
                    <a:ext uri="{9D8B030D-6E8A-4147-A177-3AD203B41FA5}">
                      <a16:colId xmlns:a16="http://schemas.microsoft.com/office/drawing/2014/main" val="3240873920"/>
                    </a:ext>
                  </a:extLst>
                </a:gridCol>
              </a:tblGrid>
              <a:tr h="253646">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Outcome</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Check</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4262238380"/>
                  </a:ext>
                </a:extLst>
              </a:tr>
              <a:tr h="279440">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A reliable understanding of the status of the project</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Review measurements and reports demonstrate if data is reliable.</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793948389"/>
                  </a:ext>
                </a:extLst>
              </a:tr>
              <a:tr h="279440">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Actionable data to facilitate decision making</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Measurements indicate whether the project is performing as expected.</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430557112"/>
                  </a:ext>
                </a:extLst>
              </a:tr>
              <a:tr h="279440">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Timely and appropriate actions to keep project on track</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Measurements provide indicators and/or current status</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330793807"/>
                  </a:ext>
                </a:extLst>
              </a:tr>
              <a:tr h="279440">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Achieving targets and generating business value by making informed and timely decisions</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Comparing the actual performance to the planned performance</a:t>
                      </a:r>
                    </a:p>
                  </a:txBody>
                  <a:tcPr marL="42991" marR="42991" marT="42991" marB="4299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1399815207"/>
                  </a:ext>
                </a:extLst>
              </a:tr>
            </a:tbl>
          </a:graphicData>
        </a:graphic>
      </p:graphicFrame>
    </p:spTree>
    <p:extLst>
      <p:ext uri="{BB962C8B-B14F-4D97-AF65-F5344CB8AC3E}">
        <p14:creationId xmlns:p14="http://schemas.microsoft.com/office/powerpoint/2010/main" val="2703586326"/>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Uncertainty Performance Domain</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536448" y="1885349"/>
            <a:ext cx="11119104" cy="2879158"/>
          </a:xfrm>
        </p:spPr>
        <p:txBody>
          <a:bodyPr/>
          <a:lstStyle/>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51</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457200"/>
            <a:ext cx="10837325" cy="4278094"/>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Deals with activities and functions associated with risk and uncertainty.</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Projects happen in environments with varying degrees of uncertainty.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Uncertainty in the broadest sense is a state of not knowing or unpredictability. </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Uncertainty presents threats and opportunities that project teams explore, assess, and decide how to handle.</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There are many shades to uncertainty, such as: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Risk associated with not knowing future events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Ambiguity associated with not being aware of current or future conditions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Complexity associated with dynamic systems having unpredictable outcomes.</a:t>
            </a:r>
          </a:p>
          <a:p>
            <a:pPr lvl="1"/>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Options for responding to uncertainty:</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Gather information</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Prepare for multiple outcomes</a:t>
            </a:r>
          </a:p>
          <a:p>
            <a:pPr marL="742950" lvl="1" indent="-285750">
              <a:buFont typeface="Arial" panose="020B0604020202020204" pitchFamily="34" charset="0"/>
              <a:buChar char="•"/>
            </a:pPr>
            <a:r>
              <a:rPr lang="en-US" sz="1600" dirty="0">
                <a:solidFill>
                  <a:schemeClr val="accent6"/>
                </a:solidFill>
                <a:latin typeface="Calibri" panose="020F0502020204030204" pitchFamily="34" charset="0"/>
              </a:rPr>
              <a:t>Build in resilience</a:t>
            </a:r>
          </a:p>
          <a:p>
            <a:endParaRPr lang="en-US" sz="1600"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3241389047"/>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60476" y="119888"/>
            <a:ext cx="10671048" cy="409501"/>
          </a:xfrm>
        </p:spPr>
        <p:txBody>
          <a:bodyPr/>
          <a:lstStyle/>
          <a:p>
            <a:r>
              <a:rPr lang="en-US" sz="1600" dirty="0">
                <a:latin typeface="Arial Black" panose="020B0604020202020204" pitchFamily="34" charset="0"/>
                <a:cs typeface="Arial Black" panose="020B0604020202020204" pitchFamily="34" charset="0"/>
              </a:rPr>
              <a:t>Uncertainty Performance Domain</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52</a:t>
            </a:fld>
            <a:endParaRPr lang="en-US" dirty="0"/>
          </a:p>
        </p:txBody>
      </p:sp>
      <p:sp>
        <p:nvSpPr>
          <p:cNvPr id="15" name="TextBox 14">
            <a:extLst>
              <a:ext uri="{FF2B5EF4-FFF2-40B4-BE49-F238E27FC236}">
                <a16:creationId xmlns:a16="http://schemas.microsoft.com/office/drawing/2014/main" id="{10EACE72-8200-6C65-B1AC-F61FC5BBEC4E}"/>
              </a:ext>
            </a:extLst>
          </p:cNvPr>
          <p:cNvSpPr txBox="1"/>
          <p:nvPr/>
        </p:nvSpPr>
        <p:spPr>
          <a:xfrm>
            <a:off x="479818" y="457200"/>
            <a:ext cx="10837325" cy="1323439"/>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6"/>
                </a:solidFill>
                <a:latin typeface="Calibri" panose="020F0502020204030204" pitchFamily="34" charset="0"/>
              </a:rPr>
              <a:t>Volatility exists in an environment that is subject to rapid and unpredictable change.</a:t>
            </a:r>
          </a:p>
          <a:p>
            <a:pPr marL="285750" indent="-285750">
              <a:buFont typeface="Arial" panose="020B0604020202020204" pitchFamily="34" charset="0"/>
              <a:buChar char="•"/>
            </a:pPr>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Volatility can occur when there are ongoing fluctuations in available skill sets or materials.</a:t>
            </a:r>
          </a:p>
          <a:p>
            <a:endParaRPr lang="en-US" sz="1600" dirty="0">
              <a:solidFill>
                <a:schemeClr val="accent6"/>
              </a:solidFill>
              <a:latin typeface="Calibri" panose="020F0502020204030204" pitchFamily="34" charset="0"/>
            </a:endParaRPr>
          </a:p>
          <a:p>
            <a:pPr marL="285750" indent="-285750">
              <a:buFont typeface="Arial" panose="020B0604020202020204" pitchFamily="34" charset="0"/>
              <a:buChar char="•"/>
            </a:pPr>
            <a:r>
              <a:rPr lang="en-US" sz="1600" dirty="0">
                <a:solidFill>
                  <a:schemeClr val="accent6"/>
                </a:solidFill>
                <a:latin typeface="Calibri" panose="020F0502020204030204" pitchFamily="34" charset="0"/>
              </a:rPr>
              <a:t>Risks are an aspect of uncertainty.</a:t>
            </a:r>
          </a:p>
        </p:txBody>
      </p:sp>
      <p:graphicFrame>
        <p:nvGraphicFramePr>
          <p:cNvPr id="6" name="Table 5">
            <a:extLst>
              <a:ext uri="{FF2B5EF4-FFF2-40B4-BE49-F238E27FC236}">
                <a16:creationId xmlns:a16="http://schemas.microsoft.com/office/drawing/2014/main" id="{1B710399-49DC-8F18-5C84-97B1DFB1437E}"/>
              </a:ext>
            </a:extLst>
          </p:cNvPr>
          <p:cNvGraphicFramePr>
            <a:graphicFrameLocks noGrp="1"/>
          </p:cNvGraphicFramePr>
          <p:nvPr>
            <p:extLst>
              <p:ext uri="{D42A27DB-BD31-4B8C-83A1-F6EECF244321}">
                <p14:modId xmlns:p14="http://schemas.microsoft.com/office/powerpoint/2010/main" val="2732772195"/>
              </p:ext>
            </p:extLst>
          </p:nvPr>
        </p:nvGraphicFramePr>
        <p:xfrm>
          <a:off x="645968" y="2651257"/>
          <a:ext cx="10671175" cy="3307088"/>
        </p:xfrm>
        <a:graphic>
          <a:graphicData uri="http://schemas.openxmlformats.org/drawingml/2006/table">
            <a:tbl>
              <a:tblPr/>
              <a:tblGrid>
                <a:gridCol w="4992819">
                  <a:extLst>
                    <a:ext uri="{9D8B030D-6E8A-4147-A177-3AD203B41FA5}">
                      <a16:colId xmlns:a16="http://schemas.microsoft.com/office/drawing/2014/main" val="1056966619"/>
                    </a:ext>
                  </a:extLst>
                </a:gridCol>
                <a:gridCol w="5678356">
                  <a:extLst>
                    <a:ext uri="{9D8B030D-6E8A-4147-A177-3AD203B41FA5}">
                      <a16:colId xmlns:a16="http://schemas.microsoft.com/office/drawing/2014/main" val="1119668795"/>
                    </a:ext>
                  </a:extLst>
                </a:gridCol>
              </a:tblGrid>
              <a:tr h="254369">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Outcome</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FFFFFF"/>
                          </a:solidFill>
                          <a:effectLst/>
                          <a:latin typeface="Times New Roman" panose="02020603050405020304" pitchFamily="18" charset="0"/>
                        </a:rPr>
                        <a:t>Check</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033260417"/>
                  </a:ext>
                </a:extLst>
              </a:tr>
              <a:tr h="254369">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An awareness of the environment in which projects occur.</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The team incorporates environmental considerations when evaluating uncertainty, risks, and responses.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188354253"/>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Proactively exploring and responding to uncertainty</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Risk responses are aligned with the project constraints.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3208270818"/>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An awareness of the multiple variables on the project</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Actions to address complexity, ambiguity, and volatility.</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171481646"/>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The capacity to anticipate threats and opportunities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Systems for identifying, capturing, and responding to risk are appropriately.</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017867979"/>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Project delivery with little or no negative impact from unforeseen events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Scheduled delivery dates are met, and the budget performance is within the Variance.</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010840921"/>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Realized opportunities to improve project performance and outcomes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Teams use established mechanisms to identify and leverage opportunities.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1892615536"/>
                  </a:ext>
                </a:extLst>
              </a:tr>
              <a:tr h="254369">
                <a:tc>
                  <a:txBody>
                    <a:bodyPr/>
                    <a:lstStyle/>
                    <a:p>
                      <a:pPr marL="0" marR="0" fontAlgn="t">
                        <a:spcBef>
                          <a:spcPts val="0"/>
                        </a:spcBef>
                        <a:spcAft>
                          <a:spcPts val="0"/>
                        </a:spcAft>
                      </a:pPr>
                      <a:r>
                        <a:rPr lang="en-US" sz="1400">
                          <a:solidFill>
                            <a:srgbClr val="E0E0E0"/>
                          </a:solidFill>
                          <a:effectLst/>
                          <a:latin typeface="Times New Roman" panose="02020603050405020304" pitchFamily="18" charset="0"/>
                        </a:rPr>
                        <a:t>Cost and schedule reserves used effectively to maintain alignment with project objectives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tc>
                  <a:txBody>
                    <a:bodyPr/>
                    <a:lstStyle/>
                    <a:p>
                      <a:pPr marL="0" marR="0" fontAlgn="t">
                        <a:spcBef>
                          <a:spcPts val="0"/>
                        </a:spcBef>
                        <a:spcAft>
                          <a:spcPts val="0"/>
                        </a:spcAft>
                      </a:pPr>
                      <a:r>
                        <a:rPr lang="en-US" sz="1400" dirty="0">
                          <a:solidFill>
                            <a:srgbClr val="E0E0E0"/>
                          </a:solidFill>
                          <a:effectLst/>
                          <a:latin typeface="Times New Roman" panose="02020603050405020304" pitchFamily="18" charset="0"/>
                        </a:rPr>
                        <a:t>Teams take steps to proactively prevent threats.</a:t>
                      </a:r>
                    </a:p>
                  </a:txBody>
                  <a:tcPr marL="46673" marR="46673" marT="46673" marB="46673">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A66AC"/>
                    </a:solidFill>
                  </a:tcPr>
                </a:tc>
                <a:extLst>
                  <a:ext uri="{0D108BD9-81ED-4DB2-BD59-A6C34878D82A}">
                    <a16:rowId xmlns:a16="http://schemas.microsoft.com/office/drawing/2014/main" val="2349975509"/>
                  </a:ext>
                </a:extLst>
              </a:tr>
            </a:tbl>
          </a:graphicData>
        </a:graphic>
      </p:graphicFrame>
    </p:spTree>
    <p:extLst>
      <p:ext uri="{BB962C8B-B14F-4D97-AF65-F5344CB8AC3E}">
        <p14:creationId xmlns:p14="http://schemas.microsoft.com/office/powerpoint/2010/main" val="2565564713"/>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704675" y="1717394"/>
            <a:ext cx="11242645" cy="768096"/>
          </a:xfrm>
        </p:spPr>
        <p:txBody>
          <a:bodyPr/>
          <a:lstStyle/>
          <a:p>
            <a:pPr algn="ctr"/>
            <a:r>
              <a:rPr lang="en-US" dirty="0">
                <a:latin typeface="Arial Black" panose="020B0604020202020204" pitchFamily="34" charset="0"/>
                <a:ea typeface="Arial Regular" pitchFamily="34" charset="-122"/>
                <a:cs typeface="Arial Black" panose="020B0604020202020204" pitchFamily="34" charset="0"/>
              </a:rPr>
              <a:t>Concepts covered next Session</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111586" y="3213446"/>
            <a:ext cx="10621610" cy="1952370"/>
          </a:xfrm>
        </p:spPr>
        <p:txBody>
          <a:bodyPr/>
          <a:lstStyle/>
          <a:p>
            <a:pPr algn="ctr"/>
            <a:r>
              <a:rPr lang="en-US" dirty="0"/>
              <a:t>Common Inputs, Tools, and Techniques, and Outputs- </a:t>
            </a:r>
            <a:r>
              <a:rPr lang="en-US" sz="1600" dirty="0"/>
              <a:t>(Udemy Course Section 7)</a:t>
            </a:r>
          </a:p>
          <a:p>
            <a:pPr algn="ctr"/>
            <a:r>
              <a:rPr lang="en-US" dirty="0"/>
              <a:t>Process Groups </a:t>
            </a:r>
            <a:r>
              <a:rPr lang="en-US" sz="1600" dirty="0"/>
              <a:t>(Udemy Course Section 8)</a:t>
            </a:r>
          </a:p>
        </p:txBody>
      </p:sp>
    </p:spTree>
    <p:extLst>
      <p:ext uri="{BB962C8B-B14F-4D97-AF65-F5344CB8AC3E}">
        <p14:creationId xmlns:p14="http://schemas.microsoft.com/office/powerpoint/2010/main" val="18038803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p:txBody>
          <a:bodyPr/>
          <a:lstStyle/>
          <a:p>
            <a:r>
              <a:rPr lang="en-US" dirty="0"/>
              <a:t>Please leave feedback on what worked well and what I can improve on in the Discord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3.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4.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5.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6.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7.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8.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9.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0.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2.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3.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4.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5.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6.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7.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8.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9.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0.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2.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3.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4.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5.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6.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7.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docMetadata/LabelInfo.xml><?xml version="1.0" encoding="utf-8"?>
<clbl:labelList xmlns:clbl="http://schemas.microsoft.com/office/2020/mipLabelMetadata">
  <clbl:label id="{ce68f836-c221-45ef-866b-38cda86b3d5e}" enabled="0" method="" siteId="{ce68f836-c221-45ef-866b-38cda86b3d5e}" removed="1"/>
</clbl:labelList>
</file>

<file path=docProps/app.xml><?xml version="1.0" encoding="utf-8"?>
<Properties xmlns="http://schemas.openxmlformats.org/officeDocument/2006/extended-properties" xmlns:vt="http://schemas.openxmlformats.org/officeDocument/2006/docPropsVTypes">
  <Template/>
  <TotalTime>9403</TotalTime>
  <Words>8755</Words>
  <Application>Microsoft Office PowerPoint</Application>
  <PresentationFormat>Widescreen</PresentationFormat>
  <Paragraphs>972</Paragraphs>
  <Slides>54</Slides>
  <Notes>43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Arial Black</vt:lpstr>
      <vt:lpstr>Calibri</vt:lpstr>
      <vt:lpstr>Courier New</vt:lpstr>
      <vt:lpstr>Sabon Next LT</vt:lpstr>
      <vt:lpstr>Times New Roman</vt:lpstr>
      <vt:lpstr>Office Theme</vt:lpstr>
      <vt:lpstr>Pmp study group</vt:lpstr>
      <vt:lpstr>Study Group Session Plan Wednesdays @ 6:30 PM- Hosted on discord</vt:lpstr>
      <vt:lpstr>Study Group White Board</vt:lpstr>
      <vt:lpstr>Concepts</vt:lpstr>
      <vt:lpstr>Project Management  Principles</vt:lpstr>
      <vt:lpstr>Principles</vt:lpstr>
      <vt:lpstr>PMI Code of ethics and professional conduct</vt:lpstr>
      <vt:lpstr>Principles of Project Management</vt:lpstr>
      <vt:lpstr>1. Be a diligent, respectful, and caring steward</vt:lpstr>
      <vt:lpstr>2. Create a collaborative project team environment </vt:lpstr>
      <vt:lpstr>2. Create a collaborative project team environment </vt:lpstr>
      <vt:lpstr>3. Effectively engage with stakeholders </vt:lpstr>
      <vt:lpstr>3. Effectively engage with stakeholders </vt:lpstr>
      <vt:lpstr>4. Focus on value</vt:lpstr>
      <vt:lpstr>5. Recognize, evaluate, and respond to system interactions </vt:lpstr>
      <vt:lpstr>6. Demonstrate leadership behaviors </vt:lpstr>
      <vt:lpstr>6. Demonstrate leadership behaviors </vt:lpstr>
      <vt:lpstr>7. Tailor based on context </vt:lpstr>
      <vt:lpstr>8.Build quality into processes and deliverables </vt:lpstr>
      <vt:lpstr>9.Navigate complexity</vt:lpstr>
      <vt:lpstr>10. Optimize risk responses</vt:lpstr>
      <vt:lpstr>11. Embrace adaptability and resiliency</vt:lpstr>
      <vt:lpstr>12. Enable change to achieve the envisioned future state</vt:lpstr>
      <vt:lpstr>Project Management Performance Domains</vt:lpstr>
      <vt:lpstr>Principles and Performance Domains</vt:lpstr>
      <vt:lpstr>PowerPoint Presentation</vt:lpstr>
      <vt:lpstr>Stakeholder performance domain</vt:lpstr>
      <vt:lpstr>Stakeholder performance domain</vt:lpstr>
      <vt:lpstr>Effective Stakeholder Engagement</vt:lpstr>
      <vt:lpstr>Team performance domain</vt:lpstr>
      <vt:lpstr>Team performance domain</vt:lpstr>
      <vt:lpstr>Team performance domain</vt:lpstr>
      <vt:lpstr>Team performance domain</vt:lpstr>
      <vt:lpstr>Team performance domain</vt:lpstr>
      <vt:lpstr>Team performance domain</vt:lpstr>
      <vt:lpstr>Development Approach and Life Cycle Performance Domain</vt:lpstr>
      <vt:lpstr>Development Approach and Life Cycle Performance Domain</vt:lpstr>
      <vt:lpstr>Development Approach and Life Cycle Performance Domain</vt:lpstr>
      <vt:lpstr>Development Approach and Life Cycle Performance Domain</vt:lpstr>
      <vt:lpstr>Planning Performance Domain</vt:lpstr>
      <vt:lpstr>Planning Performance Domain</vt:lpstr>
      <vt:lpstr>Planning Performance Domain</vt:lpstr>
      <vt:lpstr>PROJECT Work Performance Domain</vt:lpstr>
      <vt:lpstr>PROJECT Work Performance Domain</vt:lpstr>
      <vt:lpstr>Work Performance Domain</vt:lpstr>
      <vt:lpstr>Project Delivery Performance Domain</vt:lpstr>
      <vt:lpstr>Project Delivery Performance Domain</vt:lpstr>
      <vt:lpstr>Measurement Performance Domain</vt:lpstr>
      <vt:lpstr>Measurement Performance Domain</vt:lpstr>
      <vt:lpstr>Measurement Performance Domain</vt:lpstr>
      <vt:lpstr>Uncertainty Performance Domain</vt:lpstr>
      <vt:lpstr>Uncertainty Performance Domain</vt:lpstr>
      <vt:lpstr>Concepts covered next Session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 study group</dc:title>
  <dc:subject/>
  <dc:creator>Nikki Masani</dc:creator>
  <cp:lastModifiedBy>Nikki Masani</cp:lastModifiedBy>
  <cp:revision>3</cp:revision>
  <dcterms:created xsi:type="dcterms:W3CDTF">2023-03-01T19:28:23Z</dcterms:created>
  <dcterms:modified xsi:type="dcterms:W3CDTF">2023-03-09T03:00:18Z</dcterms:modified>
</cp:coreProperties>
</file>